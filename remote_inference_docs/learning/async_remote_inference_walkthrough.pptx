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4ae1e4ba3804115" /><Relationship Type="http://schemas.openxmlformats.org/officeDocument/2006/relationships/extended-properties" Target="/docProps/app.xml" Id="R11a11d27b9e14f8f" /><Relationship Type="http://schemas.openxmlformats.org/officeDocument/2006/relationships/officeDocument" Target="/ppt/presentation.xml" Id="R723d3b09412447ab" /></Relationships>
</file>

<file path=ppt/presentation.xml><?xml version="1.0" encoding="utf-8"?>
<p:presentation xmlns:p="http://schemas.openxmlformats.org/presentationml/2006/main">
  <p:sldMasterIdLst>
    <p:sldMasterId xmlns:r="http://schemas.openxmlformats.org/officeDocument/2006/relationships" id="2147483648" r:id="Rca3600ecd0a9456f"/>
  </p:sldMasterIdLst>
  <p:notesMasterIdLst>
    <p:notesMasterId xmlns:r="http://schemas.openxmlformats.org/officeDocument/2006/relationships" r:id="Ra3523a8c732748a2"/>
  </p:notesMasterIdLst>
  <p:sldIdLst>
    <p:sldId xmlns:r="http://schemas.openxmlformats.org/officeDocument/2006/relationships" id="256" r:id="R1de9c0c3365c4092"/>
    <p:sldId xmlns:r="http://schemas.openxmlformats.org/officeDocument/2006/relationships" id="257" r:id="Rf476887ae2f247b0"/>
    <p:sldId xmlns:r="http://schemas.openxmlformats.org/officeDocument/2006/relationships" id="258" r:id="Re10bee84606b4b9b"/>
    <p:sldId xmlns:r="http://schemas.openxmlformats.org/officeDocument/2006/relationships" id="259" r:id="Re74614bb52c34da0"/>
    <p:sldId xmlns:r="http://schemas.openxmlformats.org/officeDocument/2006/relationships" id="260" r:id="R37d9786466e14d56"/>
    <p:sldId xmlns:r="http://schemas.openxmlformats.org/officeDocument/2006/relationships" id="261" r:id="Rd473f9960cc64e08"/>
    <p:sldId xmlns:r="http://schemas.openxmlformats.org/officeDocument/2006/relationships" id="262" r:id="R9cb0c82bf50b4680"/>
    <p:sldId xmlns:r="http://schemas.openxmlformats.org/officeDocument/2006/relationships" id="263" r:id="R04d704f140294815"/>
    <p:sldId xmlns:r="http://schemas.openxmlformats.org/officeDocument/2006/relationships" id="264" r:id="Rf9c91c760dc54198"/>
    <p:sldId xmlns:r="http://schemas.openxmlformats.org/officeDocument/2006/relationships" id="265" r:id="Ra0e96ca7ce9e4312"/>
    <p:sldId xmlns:r="http://schemas.openxmlformats.org/officeDocument/2006/relationships" id="266" r:id="R914af168a8414ccb"/>
    <p:sldId xmlns:r="http://schemas.openxmlformats.org/officeDocument/2006/relationships" id="267" r:id="R2774b787591a43f2"/>
    <p:sldId xmlns:r="http://schemas.openxmlformats.org/officeDocument/2006/relationships" id="268" r:id="R745e2751138b4c33"/>
    <p:sldId xmlns:r="http://schemas.openxmlformats.org/officeDocument/2006/relationships" id="269" r:id="R1e34759c3a2b4f80"/>
    <p:sldId xmlns:r="http://schemas.openxmlformats.org/officeDocument/2006/relationships" id="270" r:id="R99127b00f80c4c3a"/>
    <p:sldId xmlns:r="http://schemas.openxmlformats.org/officeDocument/2006/relationships" id="271" r:id="Rf33fdeb3fc0a4dd8"/>
    <p:sldId xmlns:r="http://schemas.openxmlformats.org/officeDocument/2006/relationships" id="272" r:id="R01424cffc3c34726"/>
    <p:sldId xmlns:r="http://schemas.openxmlformats.org/officeDocument/2006/relationships" id="273" r:id="R6349ba50a4c34db4"/>
    <p:sldId xmlns:r="http://schemas.openxmlformats.org/officeDocument/2006/relationships" id="274" r:id="Re36f345191144fbc"/>
    <p:sldId xmlns:r="http://schemas.openxmlformats.org/officeDocument/2006/relationships" id="275" r:id="R63923d20e24542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04b36fdcaa4fbc" /><Relationship Type="http://schemas.openxmlformats.org/officeDocument/2006/relationships/slideMaster" Target="/ppt/slideMasters/slideMaster1.xml" Id="Rca3600ecd0a9456f" /><Relationship Type="http://schemas.openxmlformats.org/officeDocument/2006/relationships/notesMaster" Target="/ppt/notesMasters/notesMaster1.xml" Id="Ra3523a8c732748a2" /><Relationship Type="http://schemas.openxmlformats.org/officeDocument/2006/relationships/presProps" Target="/ppt/presProps.xml" Id="Rce86f45700e1499e" /><Relationship Type="http://schemas.openxmlformats.org/officeDocument/2006/relationships/tableStyles" Target="/ppt/tableStyles.xml" Id="R5f074ed19a6c4306" /><Relationship Type="http://schemas.openxmlformats.org/officeDocument/2006/relationships/slide" Target="/ppt/slides/slide1.xml" Id="R1de9c0c3365c4092" /><Relationship Type="http://schemas.openxmlformats.org/officeDocument/2006/relationships/slide" Target="/ppt/slides/slide2.xml" Id="Rf476887ae2f247b0" /><Relationship Type="http://schemas.openxmlformats.org/officeDocument/2006/relationships/slide" Target="/ppt/slides/slide3.xml" Id="Re10bee84606b4b9b" /><Relationship Type="http://schemas.openxmlformats.org/officeDocument/2006/relationships/slide" Target="/ppt/slides/slide4.xml" Id="Re74614bb52c34da0" /><Relationship Type="http://schemas.openxmlformats.org/officeDocument/2006/relationships/slide" Target="/ppt/slides/slide5.xml" Id="R37d9786466e14d56" /><Relationship Type="http://schemas.openxmlformats.org/officeDocument/2006/relationships/slide" Target="/ppt/slides/slide6.xml" Id="Rd473f9960cc64e08" /><Relationship Type="http://schemas.openxmlformats.org/officeDocument/2006/relationships/slide" Target="/ppt/slides/slide7.xml" Id="R9cb0c82bf50b4680" /><Relationship Type="http://schemas.openxmlformats.org/officeDocument/2006/relationships/slide" Target="/ppt/slides/slide8.xml" Id="R04d704f140294815" /><Relationship Type="http://schemas.openxmlformats.org/officeDocument/2006/relationships/slide" Target="/ppt/slides/slide9.xml" Id="Rf9c91c760dc54198" /><Relationship Type="http://schemas.openxmlformats.org/officeDocument/2006/relationships/slide" Target="/ppt/slides/slide10.xml" Id="Ra0e96ca7ce9e4312" /><Relationship Type="http://schemas.openxmlformats.org/officeDocument/2006/relationships/slide" Target="/ppt/slides/slide11.xml" Id="R914af168a8414ccb" /><Relationship Type="http://schemas.openxmlformats.org/officeDocument/2006/relationships/slide" Target="/ppt/slides/slide12.xml" Id="R2774b787591a43f2" /><Relationship Type="http://schemas.openxmlformats.org/officeDocument/2006/relationships/slide" Target="/ppt/slides/slide13.xml" Id="R745e2751138b4c33" /><Relationship Type="http://schemas.openxmlformats.org/officeDocument/2006/relationships/slide" Target="/ppt/slides/slide14.xml" Id="R1e34759c3a2b4f80" /><Relationship Type="http://schemas.openxmlformats.org/officeDocument/2006/relationships/slide" Target="/ppt/slides/slide15.xml" Id="R99127b00f80c4c3a" /><Relationship Type="http://schemas.openxmlformats.org/officeDocument/2006/relationships/slide" Target="/ppt/slides/slide16.xml" Id="Rf33fdeb3fc0a4dd8" /><Relationship Type="http://schemas.openxmlformats.org/officeDocument/2006/relationships/slide" Target="/ppt/slides/slide17.xml" Id="R01424cffc3c34726" /><Relationship Type="http://schemas.openxmlformats.org/officeDocument/2006/relationships/slide" Target="/ppt/slides/slide18.xml" Id="R6349ba50a4c34db4" /><Relationship Type="http://schemas.openxmlformats.org/officeDocument/2006/relationships/slide" Target="/ppt/slides/slide19.xml" Id="Re36f345191144fbc" /><Relationship Type="http://schemas.openxmlformats.org/officeDocument/2006/relationships/slide" Target="/ppt/slides/slide20.xml" Id="R63923d20e24542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a19d6622294d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6d8c63f62c49ed" /><Relationship Type="http://schemas.openxmlformats.org/officeDocument/2006/relationships/notesMaster" Target="/ppt/notesMasters/notesMaster1.xml" Id="R57fbd45bd1ca4a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cd738e3a0f42c0" /><Relationship Type="http://schemas.openxmlformats.org/officeDocument/2006/relationships/notesMaster" Target="/ppt/notesMasters/notesMaster1.xml" Id="Rab1acecc79164b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6f39a9938b4ff7" /><Relationship Type="http://schemas.openxmlformats.org/officeDocument/2006/relationships/notesMaster" Target="/ppt/notesMasters/notesMaster1.xml" Id="Rd61f3ab0b7f744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f3df7ed4fa4e32" /><Relationship Type="http://schemas.openxmlformats.org/officeDocument/2006/relationships/notesMaster" Target="/ppt/notesMasters/notesMaster1.xml" Id="Rc8af7611ac9147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a60bfec1494e81" /><Relationship Type="http://schemas.openxmlformats.org/officeDocument/2006/relationships/notesMaster" Target="/ppt/notesMasters/notesMaster1.xml" Id="Rb05e9f4edf3748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94eea491d54755" /><Relationship Type="http://schemas.openxmlformats.org/officeDocument/2006/relationships/notesMaster" Target="/ppt/notesMasters/notesMaster1.xml" Id="R7b2ba77593e74f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262dc3762143b0" /><Relationship Type="http://schemas.openxmlformats.org/officeDocument/2006/relationships/notesMaster" Target="/ppt/notesMasters/notesMaster1.xml" Id="R16606bf8307740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d57981ac124920" /><Relationship Type="http://schemas.openxmlformats.org/officeDocument/2006/relationships/notesMaster" Target="/ppt/notesMasters/notesMaster1.xml" Id="Rad5f737d436241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49a29041734304" /><Relationship Type="http://schemas.openxmlformats.org/officeDocument/2006/relationships/notesMaster" Target="/ppt/notesMasters/notesMaster1.xml" Id="R1cfcb5d2c0914b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056058d7484513" /><Relationship Type="http://schemas.openxmlformats.org/officeDocument/2006/relationships/notesMaster" Target="/ppt/notesMasters/notesMaster1.xml" Id="R340ee32d8fd54c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81056995094cf9" /><Relationship Type="http://schemas.openxmlformats.org/officeDocument/2006/relationships/notesMaster" Target="/ppt/notesMasters/notesMaster1.xml" Id="R5504291f5b724b4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52a4d6951f49e1" /><Relationship Type="http://schemas.openxmlformats.org/officeDocument/2006/relationships/notesMaster" Target="/ppt/notesMasters/notesMaster1.xml" Id="R06ace68d45e44f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516682f8584f5b" /><Relationship Type="http://schemas.openxmlformats.org/officeDocument/2006/relationships/notesMaster" Target="/ppt/notesMasters/notesMaster1.xml" Id="R2611476695de4b4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9fb11d5a864630" /><Relationship Type="http://schemas.openxmlformats.org/officeDocument/2006/relationships/notesMaster" Target="/ppt/notesMasters/notesMaster1.xml" Id="Rd5e5176da1b24c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def98ee9c0543b1" /><Relationship Type="http://schemas.openxmlformats.org/officeDocument/2006/relationships/notesMaster" Target="/ppt/notesMasters/notesMaster1.xml" Id="Rcc5993ac7def47b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67a3692e1d84b15" /><Relationship Type="http://schemas.openxmlformats.org/officeDocument/2006/relationships/notesMaster" Target="/ppt/notesMasters/notesMaster1.xml" Id="R9f7fc08e29d34c8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ce9e18b3d94634" /><Relationship Type="http://schemas.openxmlformats.org/officeDocument/2006/relationships/notesMaster" Target="/ppt/notesMasters/notesMaster1.xml" Id="Rfa7429a6e2e642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fa8ca917c10443c" /><Relationship Type="http://schemas.openxmlformats.org/officeDocument/2006/relationships/notesMaster" Target="/ppt/notesMasters/notesMaster1.xml" Id="R143f095e26b24db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c2b0d4b253a406d" /><Relationship Type="http://schemas.openxmlformats.org/officeDocument/2006/relationships/notesMaster" Target="/ppt/notesMasters/notesMaster1.xml" Id="Ra3aaa7bbb284409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249290a71054f79" /><Relationship Type="http://schemas.openxmlformats.org/officeDocument/2006/relationships/notesMaster" Target="/ppt/notesMasters/notesMaster1.xml" Id="R78336eb548bb4d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walkthrough explains the implementation in this checkout on 2026-09-29. Read it in three passes: the operator experience, chunk behavior, then code. The recent refill correction is a design decision only and has not been implemented. The photograph comes from your successful ACT baseline video. The browser version offers optional notes, source links and short questions. PowerPoint retains editable diagrams and speaker notes.</a:t>
            </a:r>
          </a:p>
          <a:p xmlns:a="http://schemas.openxmlformats.org/drawingml/2006/main">
            <a:r>
              <a:t/>
            </a:r>
          </a:p>
          <a:p xmlns:a="http://schemas.openxmlformats.org/drawingml/2006/main">
            <a:r>
              <a:t>Sources in repository (snapshot 2026-09-29):</a:t>
            </a:r>
          </a:p>
          <a:p xmlns:a="http://schemas.openxmlformats.org/drawingml/2006/main">
            <a:r>
              <a:t>remote_inference_docs/async_proposal.md</a:t>
            </a:r>
          </a:p>
          <a:p xmlns:a="http://schemas.openxmlformats.org/drawingml/2006/main">
            <a:r>
              <a:t>remote_inference_docs/implementation_progress.md</a:t>
            </a:r>
          </a:p>
          <a:p xmlns:a="http://schemas.openxmlformats.org/drawingml/2006/main">
            <a:r>
              <a:t>test1-client.mp4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robot host owns cameras, motor access, operator interaction and rollout recording. The server owns one preloaded policy, its policy processors and GPU computation. The client does not load model weights. The current deployment admits one active robot session. Both processes can also run on the same host. Separating them keeps model execution out of the motor control loop, but network and inference delays still need a usable action buffer.</a:t>
            </a:r>
          </a:p>
          <a:p xmlns:a="http://schemas.openxmlformats.org/drawingml/2006/main">
            <a:r>
              <a:t/>
            </a:r>
          </a:p>
          <a:p xmlns:a="http://schemas.openxmlformats.org/drawingml/2006/main">
            <a:r>
              <a:t>Sources in repository (snapshot 2026-09-29):</a:t>
            </a:r>
          </a:p>
          <a:p xmlns:a="http://schemas.openxmlformats.org/drawingml/2006/main">
            <a:r>
              <a:t>src/lerobot/rollout/remote_context.py:50</a:t>
            </a:r>
          </a:p>
          <a:p xmlns:a="http://schemas.openxmlformats.org/drawingml/2006/main">
            <a:r>
              <a:t>src/lerobot/scripts/lerobot_policy_server.py:65</a:t>
            </a:r>
          </a:p>
          <a:p xmlns:a="http://schemas.openxmlformats.org/drawingml/2006/main">
            <a:r>
              <a:t>src/lerobot/remote_inference/server.py:77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the server and wait for its deployment to warm and become ready. A client discovers the descriptor and checks feature/action contracts, execution support and position-hold capability before policy motion. Hardware can connect during setup, so admission is a before-policy-motion guarantee rather than a promise of no hardware connection. Non-interactive base rollout begins after startup. Interactive rollout waits for /start. Normal completion may return to the initial pose according to rollout configuration. A terminal inference fault instead holds and suppresses normal homing. A dead client cannot execute a software hold.</a:t>
            </a:r>
          </a:p>
          <a:p xmlns:a="http://schemas.openxmlformats.org/drawingml/2006/main">
            <a:r>
              <a:t/>
            </a:r>
          </a:p>
          <a:p xmlns:a="http://schemas.openxmlformats.org/drawingml/2006/main">
            <a:r>
              <a:t>Sources in repository (snapshot 2026-09-29):</a:t>
            </a:r>
          </a:p>
          <a:p xmlns:a="http://schemas.openxmlformats.org/drawingml/2006/main">
            <a:r>
              <a:t>src/lerobot/scripts/lerobot_policy_server.py:140</a:t>
            </a:r>
          </a:p>
          <a:p xmlns:a="http://schemas.openxmlformats.org/drawingml/2006/main">
            <a:r>
              <a:t>src/lerobot/rollout/remote_context.py:50</a:t>
            </a:r>
          </a:p>
          <a:p xmlns:a="http://schemas.openxmlformats.org/drawingml/2006/main">
            <a:r>
              <a:t>src/lerobot/rollout/strategies/core.py:222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configuration excerpts, not complete hardware commands. On the server use uv run --no-sync lerobot-policy-server --config_path=examples/remote_inference/omx_act_lan.yaml --model.repo_or_path=maximellerbach/omx_pickandplace_act. The preset already binds tcp/172.18.131.152:7447, uses deployment omx-act, CUDA, chunk mode, action_fps 30 and a 30-second absence grace. On the robot host use lerobot-rollout with inference.type=remote, endpoint, deployment, mode, semantics and hold_mode. Add the actual robot, camera, task, fps and duration settings from your validated setup. Do not pass a local policy.path or device to remote rollout. The latest logs used camera indices 1 and 4, so the workbook camera indices should not be copied blindly. Rename mapping applies once on the client.</a:t>
            </a:r>
          </a:p>
          <a:p xmlns:a="http://schemas.openxmlformats.org/drawingml/2006/main">
            <a:r>
              <a:t/>
            </a:r>
          </a:p>
          <a:p xmlns:a="http://schemas.openxmlformats.org/drawingml/2006/main">
            <a:r>
              <a:t>Sources in repository (snapshot 2026-09-29):</a:t>
            </a:r>
          </a:p>
          <a:p xmlns:a="http://schemas.openxmlformats.org/drawingml/2006/main">
            <a:r>
              <a:t>examples/remote_inference/omx_act_lan.yaml</a:t>
            </a:r>
          </a:p>
          <a:p xmlns:a="http://schemas.openxmlformats.org/drawingml/2006/main">
            <a:r>
              <a:t>remote_inference_docs/hardware_experiment_workbook.md</a:t>
            </a:r>
          </a:p>
          <a:p xmlns:a="http://schemas.openxmlformats.org/drawingml/2006/main">
            <a:r>
              <a:t>src/lerobot/rollout/remote_context.py:60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 loop samples the robot, updates the latest observation and dispatches eligible targets without waiting for a network round trip. At a policy boundary the engine anchors the observation before the next endpoint pop. A background worker requests inference and merges a result. One outstanding action request is allowed. The next motor tick may consume an old eligible target while a newer prediction is in flight. The action buffer bridges timing differences, but active exhaustion is a fault after motion has begun. Thirty actions at a 30-Hz policy rate cover one second. Interpolation adds motor targets between policy endpoints without extending this policy horizon.</a:t>
            </a:r>
          </a:p>
          <a:p xmlns:a="http://schemas.openxmlformats.org/drawingml/2006/main">
            <a:r>
              <a:t/>
            </a:r>
          </a:p>
          <a:p xmlns:a="http://schemas.openxmlformats.org/drawingml/2006/main">
            <a:r>
              <a:t>Sources in repository (snapshot 2026-09-29):</a:t>
            </a:r>
          </a:p>
          <a:p xmlns:a="http://schemas.openxmlformats.org/drawingml/2006/main">
            <a:r>
              <a:t>src/lerobot/rollout/strategies/base.py:61</a:t>
            </a:r>
          </a:p>
          <a:p xmlns:a="http://schemas.openxmlformats.org/drawingml/2006/main">
            <a:r>
              <a:t>src/lerobot/rollout/strategies/core.py:166</a:t>
            </a:r>
          </a:p>
          <a:p xmlns:a="http://schemas.openxmlformats.org/drawingml/2006/main">
            <a:r>
              <a:t>src/lerobot/rollout/inference/remote.py:338</a:t>
            </a:r>
          </a:p>
          <a:p xmlns:a="http://schemas.openxmlformats.org/drawingml/2006/main">
            <a:r>
              <a:t>src/lerobot/inference/execution.py:436</a:t>
            </a:r>
          </a:p>
          <a:p xmlns:a="http://schemas.openxmlformats.org/drawingml/2006/main">
            <a:r>
              <a:t/>
            </a:r>
          </a:p>
          <a:p xmlns:a="http://schemas.openxmlformats.org/drawingml/2006/main">
            <a:r>
              <a:t>Check your understanding: If inference takes 90 ms, must the motor loop stop for those 90 ms?</a:t>
            </a:r>
          </a:p>
          <a:p xmlns:a="http://schemas.openxmlformats.org/drawingml/2006/main">
            <a:r>
              <a:t>Answer: No, while eligible actions remain. It continues dispatching locally. If active playback runs out, the client faults and 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Scheduling chooses when to request. Alignment maps an incoming chunk to the client action cursor and removes already committed steps. Blending combines eligible predictions for the same future step. RTC conditions inference on the continuation that will execute during inference. Our first aligned extension coupled alignment to frequent requests. The planned correction separates those concepts using the existing refill setting. Plain alignment/blending is not RTC and is not ACT native temporal ensembling. RTC guided/trained requires explicit supported policy and deployment modes.</a:t>
            </a:r>
          </a:p>
          <a:p xmlns:a="http://schemas.openxmlformats.org/drawingml/2006/main">
            <a:r>
              <a:t/>
            </a:r>
          </a:p>
          <a:p xmlns:a="http://schemas.openxmlformats.org/drawingml/2006/main">
            <a:r>
              <a:t>Sources in repository (snapshot 2026-09-29):</a:t>
            </a:r>
          </a:p>
          <a:p xmlns:a="http://schemas.openxmlformats.org/drawingml/2006/main">
            <a:r>
              <a:t>src/lerobot/inference/execution.py:191</a:t>
            </a:r>
          </a:p>
          <a:p xmlns:a="http://schemas.openxmlformats.org/drawingml/2006/main">
            <a:r>
              <a:t>src/lerobot/inference/execution.py:377</a:t>
            </a:r>
          </a:p>
          <a:p xmlns:a="http://schemas.openxmlformats.org/drawingml/2006/main">
            <a:r>
              <a:t>src/lerobot/inference/policy_runner.py:217</a:t>
            </a:r>
          </a:p>
          <a:p xmlns:a="http://schemas.openxmlformats.org/drawingml/2006/main">
            <a:r>
              <a:t>remote_inference_docs/async_proposal.md:242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queue diagram. O means a remaining old target and N means a target from the incoming prediction. Append retains old uncommitted actions and puts the new execution slice after them. It does not trim the plain incoming chunk to the current action cursor. Inference can overlap playback, but the new prediction waits behind the old remainder. Early prefetch can therefore produce a seam when a prediction based on an earlier observation starts later. Append limits accepted successors so old predictions do not accumulate into a long chain. The baseline ACT task worked with this behavior and refill 0.1.</a:t>
            </a:r>
          </a:p>
          <a:p xmlns:a="http://schemas.openxmlformats.org/drawingml/2006/main">
            <a:r>
              <a:t/>
            </a:r>
          </a:p>
          <a:p xmlns:a="http://schemas.openxmlformats.org/drawingml/2006/main">
            <a:r>
              <a:t>Sources in repository (snapshot 2026-09-29):</a:t>
            </a:r>
          </a:p>
          <a:p xmlns:a="http://schemas.openxmlformats.org/drawingml/2006/main">
            <a:r>
              <a:t>src/lerobot/inference/execution.py:191</a:t>
            </a:r>
          </a:p>
          <a:p xmlns:a="http://schemas.openxmlformats.org/drawingml/2006/main">
            <a:r>
              <a:t>src/lerobot/inference/execution.py:254</a:t>
            </a:r>
          </a:p>
          <a:p xmlns:a="http://schemas.openxmlformats.org/drawingml/2006/main">
            <a:r>
              <a:t>src/lerobot/policies/rtc/action_queue.py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human-numbered endpoints. At capture the client has committed 100 actions, so the new prediction starts at endpoint 101. By acceptance, it has committed endpoints 101–103. The incoming prefix for those three endpoints is no longer eligible. The runtime keeps incoming endpoints 104–108 and replaces the uncommitted future. Actual cursor progress drives trimming, including progress between sampling and submission. Request IDs and sequence numbers serve different purposes. No server/client clock comparison is needed. A popped endpoint counts as committed even if interpolation or the hardware has not reached it yet. Physical-state agreement is not guaranteed by index alignment.</a:t>
            </a:r>
          </a:p>
          <a:p xmlns:a="http://schemas.openxmlformats.org/drawingml/2006/main">
            <a:r>
              <a:t/>
            </a:r>
          </a:p>
          <a:p xmlns:a="http://schemas.openxmlformats.org/drawingml/2006/main">
            <a:r>
              <a:t>Sources in repository (snapshot 2026-09-29):</a:t>
            </a:r>
          </a:p>
          <a:p xmlns:a="http://schemas.openxmlformats.org/drawingml/2006/main">
            <a:r>
              <a:t>src/lerobot/inference/execution.py:143</a:t>
            </a:r>
          </a:p>
          <a:p xmlns:a="http://schemas.openxmlformats.org/drawingml/2006/main">
            <a:r>
              <a:t>src/lerobot/inference/execution.py:377</a:t>
            </a:r>
          </a:p>
          <a:p xmlns:a="http://schemas.openxmlformats.org/drawingml/2006/main">
            <a:r>
              <a:t/>
            </a:r>
          </a:p>
          <a:p xmlns:a="http://schemas.openxmlformats.org/drawingml/2006/main">
            <a:r>
              <a:t>Check your understanding: If capture anchors the next action at 101 and the client commits through 103, where does the usable prediction start?</a:t>
            </a:r>
          </a:p>
          <a:p xmlns:a="http://schemas.openxmlformats.org/drawingml/2006/main">
            <a:r>
              <a:t>Answer: At 104. The client trims 101–103 using its own cursor. That does not prove the robot physically reached endpoint 103.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scalar values in a declared canonical coordinate. For one eligible future step, old=40, incoming=50 and incoming weight=0.5 give a target of 45. The runtime applies this only to explicit permitted continuous components and up to blend_steps matching future steps. Outside that window it uses the incoming prediction. Non-blended components, including the excluded gripper in our test, also follow the incoming prediction. Context and freshness must match. Provenance conservatively keeps the oldest contributing capture time. Repeated overlap can accumulate contributors and change responsiveness. The blend does not change when another request is made.</a:t>
            </a:r>
          </a:p>
          <a:p xmlns:a="http://schemas.openxmlformats.org/drawingml/2006/main">
            <a:r>
              <a:t/>
            </a:r>
          </a:p>
          <a:p xmlns:a="http://schemas.openxmlformats.org/drawingml/2006/main">
            <a:r>
              <a:t>Sources in repository (snapshot 2026-09-29):</a:t>
            </a:r>
          </a:p>
          <a:p xmlns:a="http://schemas.openxmlformats.org/drawingml/2006/main">
            <a:r>
              <a:t>src/lerobot/inference/execution.py:344</a:t>
            </a:r>
          </a:p>
          <a:p xmlns:a="http://schemas.openxmlformats.org/drawingml/2006/main">
            <a:r>
              <a:t>src/lerobot/inference/execution.py:377</a:t>
            </a:r>
          </a:p>
          <a:p xmlns:a="http://schemas.openxmlformats.org/drawingml/2006/main">
            <a:r>
              <a:t>src/lerobot/remote_inference/chunk_contract.py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queue contains seconds of future policy playback. Append and RTC use effective_refill=max(configured refill, recent maximum steady-state turnaround + one policy interval). The current aligned implementation bypasses this trigger; the documented correction will apply it to aligned mode too. A larger threshold typically makes requests earlier with more old motion remaining. A smaller threshold lets the plan run longer but offers less turnaround headroom. Interpolation does not extend playback coverage. A threshold near the usable horizon can still request frequently. Increasing action_timeout cannot manufacture actions when a buffer is empty.</a:t>
            </a:r>
          </a:p>
          <a:p xmlns:a="http://schemas.openxmlformats.org/drawingml/2006/main">
            <a:r>
              <a:t/>
            </a:r>
          </a:p>
          <a:p xmlns:a="http://schemas.openxmlformats.org/drawingml/2006/main">
            <a:r>
              <a:t>Sources in repository (snapshot 2026-09-29):</a:t>
            </a:r>
          </a:p>
          <a:p xmlns:a="http://schemas.openxmlformats.org/drawingml/2006/main">
            <a:r>
              <a:t>src/lerobot/inference/execution.py:134</a:t>
            </a:r>
          </a:p>
          <a:p xmlns:a="http://schemas.openxmlformats.org/drawingml/2006/main">
            <a:r>
              <a:t>src/lerobot/inference/execution.py:191</a:t>
            </a:r>
          </a:p>
          <a:p xmlns:a="http://schemas.openxmlformats.org/drawingml/2006/main">
            <a:r>
              <a:t>remote_inference_docs/async_proposal.md:228</a:t>
            </a:r>
          </a:p>
          <a:p xmlns:a="http://schemas.openxmlformats.org/drawingml/2006/main">
            <a:r>
              <a:t/>
            </a:r>
          </a:p>
          <a:p xmlns:a="http://schemas.openxmlformats.org/drawingml/2006/main">
            <a:r>
              <a:t>Check your understanding: Today, will changing refill_seconds slow down aligned requests?</a:t>
            </a:r>
          </a:p>
          <a:p xmlns:a="http://schemas.openxmlformats.org/drawingml/2006/main">
            <a:r>
              <a:t>Answer: No. The current aligned scheduler ignores the playback trigger. Applying the existing refill mechanism to aligned mode is the next planned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RemoteInferenceConfig defaults: mode chunk, chunk_merge append, refill_seconds 0.5, blend_steps 0, blend_weight 0.5, max_observation_age_s 2, handshake_timeout_s 10, action_timeout_s 5, language_timeout_s 60 and startup_timeout_s 10. The experiment explicitly used max_observation_age_s 3 and append refill 0.1. These are bounds and configuration defaults, not universal tuning optima. action_fps is deployment-owned and the client fps must match the negotiated policy interval. interpolation_multiplier inserts motor targets between policy endpoints without adding policy coverage. Raw encoding is the default; JPEG is available but quality/latency validation remains separate. Semantics, component names and position hold are correctness contracts rather than tuning knobs.</a:t>
            </a:r>
          </a:p>
          <a:p xmlns:a="http://schemas.openxmlformats.org/drawingml/2006/main">
            <a:r>
              <a:t/>
            </a:r>
          </a:p>
          <a:p xmlns:a="http://schemas.openxmlformats.org/drawingml/2006/main">
            <a:r>
              <a:t>Sources in repository (snapshot 2026-09-29):</a:t>
            </a:r>
          </a:p>
          <a:p xmlns:a="http://schemas.openxmlformats.org/drawingml/2006/main">
            <a:r>
              <a:t>src/lerobot/rollout/inference/factory.py:86</a:t>
            </a:r>
          </a:p>
          <a:p xmlns:a="http://schemas.openxmlformats.org/drawingml/2006/main">
            <a:r>
              <a:t>examples/remote_inference/omx_act_lan.yaml</a:t>
            </a:r>
          </a:p>
          <a:p xmlns:a="http://schemas.openxmlformats.org/drawingml/2006/main">
            <a:r>
              <a:t>src/lerobot/rollout/remote_context.py:127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from the supplied client logs, grouped by session. Median actions between chunk first-dispatch events: append 30, alignment 1, alignment+blending 1. Median request spacing: 1.009 seconds, 0.036 seconds and 0.036 seconds. All recorded results were accepted, with no reported exhaustion/freshness fault. The retained alignment client log is the second attempt. The first is a separate server-only session, not duplicated requests. Baseline completed the task with bumps. Both aligned modes performed significantly worse. Frequent replacement harming trajectory follow-through is a hypothesis supported by the cadence change, not a proven root cause. This chart summarizes chunk switching, not every individual motor command.</a:t>
            </a:r>
          </a:p>
          <a:p xmlns:a="http://schemas.openxmlformats.org/drawingml/2006/main">
            <a:r>
              <a:t/>
            </a:r>
          </a:p>
          <a:p xmlns:a="http://schemas.openxmlformats.org/drawingml/2006/main">
            <a:r>
              <a:t>Sources in repository (snapshot 2026-09-29):</a:t>
            </a:r>
          </a:p>
          <a:p xmlns:a="http://schemas.openxmlformats.org/drawingml/2006/main">
            <a:r>
              <a:t>test1-client.log</a:t>
            </a:r>
          </a:p>
          <a:p xmlns:a="http://schemas.openxmlformats.org/drawingml/2006/main">
            <a:r>
              <a:t>test2-client.log</a:t>
            </a:r>
          </a:p>
          <a:p xmlns:a="http://schemas.openxmlformats.org/drawingml/2006/main">
            <a:r>
              <a:t>test3-client.log</a:t>
            </a:r>
          </a:p>
          <a:p xmlns:a="http://schemas.openxmlformats.org/drawingml/2006/main">
            <a:r>
              <a:t>server.log</a:t>
            </a:r>
          </a:p>
          <a:p xmlns:a="http://schemas.openxmlformats.org/drawingml/2006/main">
            <a:r>
              <a:t>remote_inference_docs/implementation_progress.md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implementation allows aligned inference whenever the worker is free and a fresh advanced observation exists. The revised proposal adds the existing effective-refill playback threshold, with startup/task/control exceptions. It preserves the same alignment and blending rules. No additional minimum-step parameter, automatic tuning or protocol capability is planned solely for this local scheduling change. First proposed hardware check: same ACT checkpoint, blend disabled, refill 0.5 for the logged one-second horizon. This is an initial test point, not a new default or validated optimum. A blend comparison follows only if task performance recovers. Append, RTC and synchronous behavior remain unchanged.</a:t>
            </a:r>
          </a:p>
          <a:p xmlns:a="http://schemas.openxmlformats.org/drawingml/2006/main">
            <a:r>
              <a:t/>
            </a:r>
          </a:p>
          <a:p xmlns:a="http://schemas.openxmlformats.org/drawingml/2006/main">
            <a:r>
              <a:t>Sources in repository (snapshot 2026-09-29):</a:t>
            </a:r>
          </a:p>
          <a:p xmlns:a="http://schemas.openxmlformats.org/drawingml/2006/main">
            <a:r>
              <a:t>src/lerobot/inference/execution.py:191</a:t>
            </a:r>
          </a:p>
          <a:p xmlns:a="http://schemas.openxmlformats.org/drawingml/2006/main">
            <a:r>
              <a:t>remote_inference_docs/async_proposal.md:608</a:t>
            </a:r>
          </a:p>
          <a:p xmlns:a="http://schemas.openxmlformats.org/drawingml/2006/main">
            <a:r>
              <a:t>remote_inference_docs/implementation_progress.md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Robot-side rollout strategies call the inference engine and dispatch through robot processors/interpolation. RemoteInferenceEngine owns the latest observation, background request loop, planned holds and event reporting. ChunkRuntime owns scheduling, acceptance, cursor-driven merges and dispatch eligibility. RemoteClient owns contract admission and request/reply exchange. Zenoh transport and the bounded codec carry messages. PolicyServer routes them to a serialized SessionWorker. PolicyRunner applies policy preprocessing, predict_action_chunk and canonical postprocessing. The server process owns model loading, warmup and reset. This separation makes it possible to improve scheduling without rewriting transport or policy integration.</a:t>
            </a:r>
          </a:p>
          <a:p xmlns:a="http://schemas.openxmlformats.org/drawingml/2006/main">
            <a:r>
              <a:t/>
            </a:r>
          </a:p>
          <a:p xmlns:a="http://schemas.openxmlformats.org/drawingml/2006/main">
            <a:r>
              <a:t>Sources in repository (snapshot 2026-09-29):</a:t>
            </a:r>
          </a:p>
          <a:p xmlns:a="http://schemas.openxmlformats.org/drawingml/2006/main">
            <a:r>
              <a:t>src/lerobot/rollout/strategies/core.py</a:t>
            </a:r>
          </a:p>
          <a:p xmlns:a="http://schemas.openxmlformats.org/drawingml/2006/main">
            <a:r>
              <a:t>src/lerobot/rollout/inference/remote.py</a:t>
            </a:r>
          </a:p>
          <a:p xmlns:a="http://schemas.openxmlformats.org/drawingml/2006/main">
            <a:r>
              <a:t>src/lerobot/inference/execution.py</a:t>
            </a:r>
          </a:p>
          <a:p xmlns:a="http://schemas.openxmlformats.org/drawingml/2006/main">
            <a:r>
              <a:t>src/lerobot/remote_inference/client.py</a:t>
            </a:r>
          </a:p>
          <a:p xmlns:a="http://schemas.openxmlformats.org/drawingml/2006/main">
            <a:r>
              <a:t>src/lerobot/remote_inference/server.py</a:t>
            </a:r>
          </a:p>
          <a:p xmlns:a="http://schemas.openxmlformats.org/drawingml/2006/main">
            <a:r>
              <a:t>src/lerobot/inference/policy_runner.py</a:t>
            </a:r>
          </a:p>
          <a:p xmlns:a="http://schemas.openxmlformats.org/drawingml/2006/main">
            <a:r>
              <a:t>src/lerobot/transport/zenoh.py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BaseStrategy.run reads the robot and _process_observation_and_notify forwards a policy-boundary sample. 2. RemoteInferenceEngine.notify_observation builds the feature frame, maps names once and anchors aligned observations. 3. The worker calls ChunkRuntime.begin and RemoteClient.infer. 4. SessionWorker._execute invokes PolicyRunner.predict: preprocess, predict_action_chunk, postprocess. 5. RemoteClient validates the response and the engine calls runtime.accept under the task-version lock. 6. The control thread calls engine.get_action, which pops an eligible endpoint. send_next_action applies interpolation and robot action processing, checking dispatch permission before sending. Network work never runs inside the motor-dispatch call.</a:t>
            </a:r>
          </a:p>
          <a:p xmlns:a="http://schemas.openxmlformats.org/drawingml/2006/main">
            <a:r>
              <a:t/>
            </a:r>
          </a:p>
          <a:p xmlns:a="http://schemas.openxmlformats.org/drawingml/2006/main">
            <a:r>
              <a:t>Sources in repository (snapshot 2026-09-29):</a:t>
            </a:r>
          </a:p>
          <a:p xmlns:a="http://schemas.openxmlformats.org/drawingml/2006/main">
            <a:r>
              <a:t>src/lerobot/rollout/strategies/base.py:61</a:t>
            </a:r>
          </a:p>
          <a:p xmlns:a="http://schemas.openxmlformats.org/drawingml/2006/main">
            <a:r>
              <a:t>src/lerobot/rollout/inference/remote.py:209</a:t>
            </a:r>
          </a:p>
          <a:p xmlns:a="http://schemas.openxmlformats.org/drawingml/2006/main">
            <a:r>
              <a:t>src/lerobot/rollout/inference/remote.py:338</a:t>
            </a:r>
          </a:p>
          <a:p xmlns:a="http://schemas.openxmlformats.org/drawingml/2006/main">
            <a:r>
              <a:t>src/lerobot/remote_inference/client.py:370</a:t>
            </a:r>
          </a:p>
          <a:p xmlns:a="http://schemas.openxmlformats.org/drawingml/2006/main">
            <a:r>
              <a:t>src/lerobot/remote_inference/server.py:421</a:t>
            </a:r>
          </a:p>
          <a:p xmlns:a="http://schemas.openxmlformats.org/drawingml/2006/main">
            <a:r>
              <a:t>src/lerobot/inference/policy_runner.py:217</a:t>
            </a:r>
          </a:p>
          <a:p xmlns:a="http://schemas.openxmlformats.org/drawingml/2006/main">
            <a:r>
              <a:t>src/lerobot/inference/execution.py:254</a:t>
            </a:r>
          </a:p>
          <a:p xmlns:a="http://schemas.openxmlformats.org/drawingml/2006/main">
            <a:r>
              <a:t>src/lerobot/rollout/strategies/core.py:403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reply carries and is checked against deployment artifact, server instance, session, generation and request context. A task version can make an otherwise well-formed in-flight result obsolete. Data sequence numbers protect ordering and duplicate handling. The action cursor counts committed endpoints and supports alignment; it is distinct from request sequence. The client uses local monotonic observation capture time for age checks. Servers report durations, not authoritative remote clock instants for action alignment. The age is the client acquisition timestamp and does not independently establish camera exposure freshness. Build version/revision logs aid diagnosis, while protocol and required execution capabilities enforce compatibility rather than exact package-version equality.</a:t>
            </a:r>
          </a:p>
          <a:p xmlns:a="http://schemas.openxmlformats.org/drawingml/2006/main">
            <a:r>
              <a:t/>
            </a:r>
          </a:p>
          <a:p xmlns:a="http://schemas.openxmlformats.org/drawingml/2006/main">
            <a:r>
              <a:t>Sources in repository (snapshot 2026-09-29):</a:t>
            </a:r>
          </a:p>
          <a:p xmlns:a="http://schemas.openxmlformats.org/drawingml/2006/main">
            <a:r>
              <a:t>src/lerobot/remote_inference/protocol.py</a:t>
            </a:r>
          </a:p>
          <a:p xmlns:a="http://schemas.openxmlformats.org/drawingml/2006/main">
            <a:r>
              <a:t>src/lerobot/remote_inference/client.py:170</a:t>
            </a:r>
          </a:p>
          <a:p xmlns:a="http://schemas.openxmlformats.org/drawingml/2006/main">
            <a:r>
              <a:t>src/lerobot/remote_inference/client.py:437</a:t>
            </a:r>
          </a:p>
          <a:p xmlns:a="http://schemas.openxmlformats.org/drawingml/2006/main">
            <a:r>
              <a:t>src/lerobot/inference/execution.py:254</a:t>
            </a:r>
          </a:p>
          <a:p xmlns:a="http://schemas.openxmlformats.org/drawingml/2006/main">
            <a:r>
              <a:t>src/lerobot/remote_inference/build_info.py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active playback exhausts, a request deadline expires or an action source becomes too old, ChunkRuntime latches a fault and invalidates motion. The remote engine requests shutdown, and supported position hold is applied through the local control path. Fault teardown suppresses the normal return-to-initial-position behavior. Software hold requires the client process to remain alive. Separately, SessionWorker releases cleanly closed sessions after ordered worker cleanup. An absent client starts a 30-second grace from detected absence, then cleanup proceeds behind unfinished work. A present paused client keeps ownership. A hung worker does not permit another session to take over. A replacement client opens a new session; none of this automatically resumes a faulted rollout. The supplied logs demonstrate clean reuse, not completion of the hardware crash/server-loss tests.</a:t>
            </a:r>
          </a:p>
          <a:p xmlns:a="http://schemas.openxmlformats.org/drawingml/2006/main">
            <a:r>
              <a:t/>
            </a:r>
          </a:p>
          <a:p xmlns:a="http://schemas.openxmlformats.org/drawingml/2006/main">
            <a:r>
              <a:t>Sources in repository (snapshot 2026-09-29):</a:t>
            </a:r>
          </a:p>
          <a:p xmlns:a="http://schemas.openxmlformats.org/drawingml/2006/main">
            <a:r>
              <a:t>src/lerobot/inference/execution.py:172</a:t>
            </a:r>
          </a:p>
          <a:p xmlns:a="http://schemas.openxmlformats.org/drawingml/2006/main">
            <a:r>
              <a:t>src/lerobot/rollout/inference/remote.py:123</a:t>
            </a:r>
          </a:p>
          <a:p xmlns:a="http://schemas.openxmlformats.org/drawingml/2006/main">
            <a:r>
              <a:t>src/lerobot/rollout/strategies/core.py:222</a:t>
            </a:r>
          </a:p>
          <a:p xmlns:a="http://schemas.openxmlformats.org/drawingml/2006/main">
            <a:r>
              <a:t>src/lerobot/remote_inference/server.py:593</a:t>
            </a:r>
          </a:p>
          <a:p xmlns:a="http://schemas.openxmlformats.org/drawingml/2006/main">
            <a:r>
              <a:t/>
            </a:r>
          </a:p>
          <a:p xmlns:a="http://schemas.openxmlformats.org/drawingml/2006/main">
            <a:r>
              <a:t>Check your understanding: Does restarting the server automatically make a faulted robot resume?</a:t>
            </a:r>
          </a:p>
          <a:p xmlns:a="http://schemas.openxmlformats.org/drawingml/2006/main">
            <a:r>
              <a:t>Answer: No. A fault revokes motion permission. A later connection establishes a new session and requires a new operator-authorized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text-capable policy and enabled deployment are required. When a query or autosteering request is queued, the engine invalidates old motion and requests a planned hold. The control thread acknowledges hold before the worker serves the query using a fresh held observation and appropriate isolated language processors. After a valid result, a healthy active run requests a fresh post-query action observation and resumes with a usable chunk. Pause, reset, task changes and cancellation must invalidate obsolete results. Autosteering waits for actual action dispatch after a subtask before advancing again. This path has automated coverage but real text-capable checkpoint acceptance remains open. ACT in this demonstration is action-only.</a:t>
            </a:r>
          </a:p>
          <a:p xmlns:a="http://schemas.openxmlformats.org/drawingml/2006/main">
            <a:r>
              <a:t/>
            </a:r>
          </a:p>
          <a:p xmlns:a="http://schemas.openxmlformats.org/drawingml/2006/main">
            <a:r>
              <a:t>Sources in repository (snapshot 2026-09-29):</a:t>
            </a:r>
          </a:p>
          <a:p xmlns:a="http://schemas.openxmlformats.org/drawingml/2006/main">
            <a:r>
              <a:t>src/lerobot/rollout/inference/remote.py:182</a:t>
            </a:r>
          </a:p>
          <a:p xmlns:a="http://schemas.openxmlformats.org/drawingml/2006/main">
            <a:r>
              <a:t>src/lerobot/rollout/inference/remote.py:246</a:t>
            </a:r>
          </a:p>
          <a:p xmlns:a="http://schemas.openxmlformats.org/drawingml/2006/main">
            <a:r>
              <a:t>src/lerobot/rollout/inference/remote.py:338</a:t>
            </a:r>
          </a:p>
          <a:p xmlns:a="http://schemas.openxmlformats.org/drawingml/2006/main">
            <a:r>
              <a:t>src/lerobot/inference/policy_runner.py:322</a:t>
            </a:r>
          </a:p>
          <a:p xmlns:a="http://schemas.openxmlformats.org/drawingml/2006/main">
            <a:r>
              <a:t>remote_inference_docs/implementation_progress.md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in this order with the relevant slides open. Start at rollout/inference/factory.py for RemoteInferenceConfig. Then read inference/execution.py: should_request, begin, accept, _accept_aligned, pop. Then rollout/inference/remote.py: notify_observation and _loop. Follow remote_inference/client.py infer to remote_inference/server.py SessionWorker._execute and inference/policy_runner.py predict. Finally inspect rollout/strategies/core.py send_next_action. Contracts live in inference/contracts.py. Protocol, codec and Zenoh transport explain boundaries when needed. The authoritative proposal describes the planned timing correction, while the current execution code still implements the old trigger. implementation_progress.md records what was actually tested.</a:t>
            </a:r>
          </a:p>
          <a:p xmlns:a="http://schemas.openxmlformats.org/drawingml/2006/main">
            <a:r>
              <a:t/>
            </a:r>
          </a:p>
          <a:p xmlns:a="http://schemas.openxmlformats.org/drawingml/2006/main">
            <a:r>
              <a:t>Sources in repository (snapshot 2026-09-29):</a:t>
            </a:r>
          </a:p>
          <a:p xmlns:a="http://schemas.openxmlformats.org/drawingml/2006/main">
            <a:r>
              <a:t>src/lerobot/rollout/inference/factory.py:86</a:t>
            </a:r>
          </a:p>
          <a:p xmlns:a="http://schemas.openxmlformats.org/drawingml/2006/main">
            <a:r>
              <a:t>src/lerobot/inference/execution.py:191</a:t>
            </a:r>
          </a:p>
          <a:p xmlns:a="http://schemas.openxmlformats.org/drawingml/2006/main">
            <a:r>
              <a:t>src/lerobot/rollout/inference/remote.py:338</a:t>
            </a:r>
          </a:p>
          <a:p xmlns:a="http://schemas.openxmlformats.org/drawingml/2006/main">
            <a:r>
              <a:t>src/lerobot/remote_inference/client.py:370</a:t>
            </a:r>
          </a:p>
          <a:p xmlns:a="http://schemas.openxmlformats.org/drawingml/2006/main">
            <a:r>
              <a:t>src/lerobot/remote_inference/server.py:421</a:t>
            </a:r>
          </a:p>
          <a:p xmlns:a="http://schemas.openxmlformats.org/drawingml/2006/main">
            <a:r>
              <a:t>src/lerobot/inference/policy_runner.py:217</a:t>
            </a:r>
          </a:p>
          <a:p xmlns:a="http://schemas.openxmlformats.org/drawingml/2006/main">
            <a:r>
              <a:t>src/lerobot/rollout/strategies/core.py:403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1. The client owns motion permission through the runtime and control loop. A correctly delivered server response still needs validation and eligibility checks. 2. Alignment decides which future indices remain valid. Rapidly replacing plans can change the learned behavior, and actual hardware state can differ from the predicted trajectory. 3. The next change adds the existing playback/refill gate to aligned requests. It leaves alignment, blending and fault guarantees intact and does not add a new cadence knob. Read the proposal for intent and the progress document for implemented/tested status. The remaining real language/lifecycle gates remain open.</a:t>
            </a:r>
          </a:p>
          <a:p xmlns:a="http://schemas.openxmlformats.org/drawingml/2006/main">
            <a:r>
              <a:t/>
            </a:r>
          </a:p>
          <a:p xmlns:a="http://schemas.openxmlformats.org/drawingml/2006/main">
            <a:r>
              <a:t>Sources in repository (snapshot 2026-09-29):</a:t>
            </a:r>
          </a:p>
          <a:p xmlns:a="http://schemas.openxmlformats.org/drawingml/2006/main">
            <a:r>
              <a:t>remote_inference_docs/async_proposal.md</a:t>
            </a:r>
          </a:p>
          <a:p xmlns:a="http://schemas.openxmlformats.org/drawingml/2006/main">
            <a:r>
              <a:t>remote_inference_docs/implementation_progress.md</a:t>
            </a:r>
          </a:p>
          <a:p xmlns:a="http://schemas.openxmlformats.org/drawingml/2006/main">
            <a:r>
              <a:t/>
            </a:r>
          </a:p>
          <a:p xmlns:a="http://schemas.openxmlformats.org/drawingml/2006/main">
            <a:r>
              <a:t>Check your understanding: Who permits motion, why can correct alignment hurt a task, and what changes next?</a:t>
            </a:r>
          </a:p>
          <a:p xmlns:a="http://schemas.openxmlformats.org/drawingml/2006/main">
            <a:r>
              <a:t>Answer: The client permits motion. Correct temporal alignment can still replace a useful trajectory too frequently. The planned change adds buffer-driven request timing to aligned mode, while keeping its merge and fault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ad3eb8c9f94a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ede5d8b9f54814" /><Relationship Type="http://schemas.openxmlformats.org/officeDocument/2006/relationships/slideLayout" Target="/ppt/slideLayouts/slideLayout1.xml" Id="R883a4ad4a18343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3a4ad4a18343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223db108fe4f2e" /><Relationship Type="http://schemas.openxmlformats.org/officeDocument/2006/relationships/image" Target="/ppt/media/image.jpeg" Id="Rf5f280182e4c4be5" /><Relationship Type="http://schemas.openxmlformats.org/officeDocument/2006/relationships/notesSlide" Target="/ppt/notesSlides/notesSlide1.xml" Id="R45830fd373574e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a8aa0d53c54b7f" /><Relationship Type="http://schemas.openxmlformats.org/officeDocument/2006/relationships/notesSlide" Target="/ppt/notesSlides/notesSlide2.xml" Id="R16d319bf32af4f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fb878d7a97450a" /><Relationship Type="http://schemas.openxmlformats.org/officeDocument/2006/relationships/notesSlide" Target="/ppt/notesSlides/notesSlide3.xml" Id="Ra0f5edcb4c5845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2c47307a9d4425" /><Relationship Type="http://schemas.openxmlformats.org/officeDocument/2006/relationships/notesSlide" Target="/ppt/notesSlides/notesSlide4.xml" Id="R6d08aa4e66e747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9d8e54bdf94281" /><Relationship Type="http://schemas.openxmlformats.org/officeDocument/2006/relationships/notesSlide" Target="/ppt/notesSlides/notesSlide5.xml" Id="R4e71803a184b45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84051848b064432" /><Relationship Type="http://schemas.openxmlformats.org/officeDocument/2006/relationships/notesSlide" Target="/ppt/notesSlides/notesSlide6.xml" Id="R66db1bcfe32446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038509575a44c5" /><Relationship Type="http://schemas.openxmlformats.org/officeDocument/2006/relationships/notesSlide" Target="/ppt/notesSlides/notesSlide7.xml" Id="Rfa524eb63e6a4c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6c6b5f62994093" /><Relationship Type="http://schemas.openxmlformats.org/officeDocument/2006/relationships/notesSlide" Target="/ppt/notesSlides/notesSlide8.xml" Id="R07d0013986e340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eac1db29d9452b" /><Relationship Type="http://schemas.openxmlformats.org/officeDocument/2006/relationships/notesSlide" Target="/ppt/notesSlides/notesSlide9.xml" Id="Rfac59717c4df4f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225db07a0864498" /><Relationship Type="http://schemas.openxmlformats.org/officeDocument/2006/relationships/notesSlide" Target="/ppt/notesSlides/notesSlide10.xml" Id="Re77a05d415b047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b7ee02ec43438c" /><Relationship Type="http://schemas.openxmlformats.org/officeDocument/2006/relationships/notesSlide" Target="/ppt/notesSlides/notesSlide11.xml" Id="Rd30e2d7dbdd145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5d0f95d8956406b" /><Relationship Type="http://schemas.openxmlformats.org/officeDocument/2006/relationships/chart" Target="/ppt/slides/charts/chart1.xml" Id="Raaaf2b6dd77a48d7" /><Relationship Type="http://schemas.openxmlformats.org/officeDocument/2006/relationships/notesSlide" Target="/ppt/notesSlides/notesSlide12.xml" Id="R666104a598604e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96945dd28b4a13" /><Relationship Type="http://schemas.openxmlformats.org/officeDocument/2006/relationships/notesSlide" Target="/ppt/notesSlides/notesSlide13.xml" Id="Rcb49d390c21649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c208398f4834f1a" /><Relationship Type="http://schemas.openxmlformats.org/officeDocument/2006/relationships/notesSlide" Target="/ppt/notesSlides/notesSlide14.xml" Id="Reaa16e17403a4f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31eca676f2f4856" /><Relationship Type="http://schemas.openxmlformats.org/officeDocument/2006/relationships/notesSlide" Target="/ppt/notesSlides/notesSlide15.xml" Id="R22d4cad6233e4a0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27b14a88276451b" /><Relationship Type="http://schemas.openxmlformats.org/officeDocument/2006/relationships/notesSlide" Target="/ppt/notesSlides/notesSlide16.xml" Id="Rdf20b1c1df42480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fad528e131d4912" /><Relationship Type="http://schemas.openxmlformats.org/officeDocument/2006/relationships/notesSlide" Target="/ppt/notesSlides/notesSlide17.xml" Id="R8494f2b243e24a7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75c92eee2994b4a" /><Relationship Type="http://schemas.openxmlformats.org/officeDocument/2006/relationships/notesSlide" Target="/ppt/notesSlides/notesSlide18.xml" Id="R8823f50cd60b4be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f31b2b7ec4c4196" /><Relationship Type="http://schemas.openxmlformats.org/officeDocument/2006/relationships/notesSlide" Target="/ppt/notesSlides/notesSlide19.xml" Id="Rd50140f5a35c494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074c60a991643f5" /><Relationship Type="http://schemas.openxmlformats.org/officeDocument/2006/relationships/notesSlide" Target="/ppt/notesSlides/notesSlide20.xml" Id="R843826f7e53f40b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Actions</c:v>
          </c:tx>
          <c:spPr>
            <a:solidFill xmlns:a="http://schemas.openxmlformats.org/drawingml/2006/main">
              <a:srgbClr val="177B9F"/>
            </a:solidFill>
          </c:spPr>
          <c:cat>
            <c:strRef>
              <c:f>'Chart Data'!$A$2:$A$4</c:f>
              <c:strCache>
                <c:ptCount val="3"/>
                <c:pt idx="0">
                  <c:v>Append</c:v>
                </c:pt>
                <c:pt idx="1">
                  <c:v>Aligned</c:v>
                </c:pt>
                <c:pt idx="2">
                  <c:v>Aligned + blend</c:v>
                </c:pt>
              </c:strCache>
            </c:strRef>
          </c:cat>
          <c:val>
            <c:numRef>
              <c:f>'Chart Data'!$B$2:$B$4</c:f>
              <c:numCache>
                <c:formatCode>General</c:formatCode>
                <c:ptCount val="3"/>
                <c:pt idx="0">
                  <c:v>30</c:v>
                </c:pt>
                <c:pt idx="1">
                  <c:v>1</c:v>
                </c:pt>
                <c:pt idx="2">
                  <c:v>1</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72B3A"/>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72B3A"/>
                </a:solidFill>
                <a:latin typeface="Helvetica Neue"/>
                <a:ea typeface="Helvetica Neue"/>
                <a:cs typeface="Helvetica Neue"/>
              </a:defRPr>
            </a:pPr>
          </a:p>
        </c:txPr>
        <c:crossAx val="48650112"/>
        <c:crossBetween val="between"/>
      </c:valAx>
      <c:spPr>
        <a:solidFill xmlns:a="http://schemas.openxmlformats.org/drawingml/2006/main">
          <a:srgbClr val="F6F4EF"/>
        </a:solidFill>
      </c:spPr>
    </c:plotArea>
    <c:plotVisOnly val="1"/>
  </c:chart>
  <c:spPr>
    <a:solidFill xmlns:a="http://schemas.openxmlformats.org/drawingml/2006/main">
      <a:srgbClr val="F6F4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5F799D-DA50-4FF8-AF76-8172963E9E36}"/>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Async remote inference</a:t>
            </a:r>
          </a:p>
        </p:txBody>
      </p:sp>
      <p:sp>
        <p:nvSpPr>
          <p:cNvPr id="2" name="">
            <a:extLst xmlns:a="http://schemas.openxmlformats.org/drawingml/2006/main">
              <a:ext uri="{FF2B5EF4-FFF2-40B4-BE49-F238E27FC236}">
                <a16:creationId xmlns:a16="http://schemas.microsoft.com/office/drawing/2014/main" id="{DA2D7879-C6A2-4CD2-8863-C13C936236C5}"/>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C0D003F1-2808-48AE-80F4-37500832A07C}"/>
              </a:ext>
            </a:extLst>
          </p:cNvPr>
          <p:cNvSpPr>
            <a:spLocks xmlns:a="http://schemas.openxmlformats.org/drawingml/2006/main" noGrp="1"/>
          </p:cNvSpPr>
          <p:nvPr/>
        </p:nvSpPr>
        <p:spPr>
          <a:xfrm xmlns:a="http://schemas.openxmlformats.org/drawingml/2006/main">
            <a:off x="609600" y="1695450"/>
            <a:ext cx="619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172B3A"/>
                </a:solidFill>
                <a:latin typeface="Helvetica Neue"/>
                <a:ea typeface="Helvetica Neue"/>
                <a:cs typeface="Helvetica Neue"/>
              </a:defRPr>
            </a:pPr>
            <a:r>
              <a:rPr sz="3600" b="1">
                <a:solidFill>
                  <a:srgbClr val="172B3A"/>
                </a:solidFill>
                <a:latin typeface="Helvetica Neue"/>
                <a:ea typeface="Helvetica Neue"/>
                <a:cs typeface="Helvetica Neue"/>
              </a:rPr>
              <a:t>A visual walkthrough</a:t>
            </a:r>
          </a:p>
          <a:p xmlns:a="http://schemas.openxmlformats.org/drawingml/2006/main">
            <a:pPr algn="l">
              <a:defRPr sz="3600" b="1">
                <a:solidFill>
                  <a:srgbClr val="172B3A"/>
                </a:solidFill>
                <a:latin typeface="Helvetica Neue"/>
                <a:ea typeface="Helvetica Neue"/>
                <a:cs typeface="Helvetica Neue"/>
              </a:defRPr>
            </a:pPr>
            <a:r>
              <a:rPr sz="3600" b="1">
                <a:solidFill>
                  <a:srgbClr val="172B3A"/>
                </a:solidFill>
                <a:latin typeface="Helvetica Neue"/>
                <a:ea typeface="Helvetica Neue"/>
                <a:cs typeface="Helvetica Neue"/>
              </a:rPr>
              <a:t>of the system we built</a:t>
            </a:r>
          </a:p>
        </p:txBody>
      </p:sp>
      <p:sp>
        <p:nvSpPr>
          <p:cNvPr id="4" name="">
            <a:extLst xmlns:a="http://schemas.openxmlformats.org/drawingml/2006/main">
              <a:ext uri="{FF2B5EF4-FFF2-40B4-BE49-F238E27FC236}">
                <a16:creationId xmlns:a16="http://schemas.microsoft.com/office/drawing/2014/main" id="{32F68046-9668-4176-BA28-91EA1F13FEB2}"/>
              </a:ext>
            </a:extLst>
          </p:cNvPr>
          <p:cNvSpPr>
            <a:spLocks xmlns:a="http://schemas.openxmlformats.org/drawingml/2006/main" noGrp="1"/>
          </p:cNvSpPr>
          <p:nvPr/>
        </p:nvSpPr>
        <p:spPr>
          <a:xfrm xmlns:a="http://schemas.openxmlformats.org/drawingml/2006/main">
            <a:off x="628650" y="3619500"/>
            <a:ext cx="600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26777"/>
                </a:solidFill>
                <a:latin typeface="Helvetica Neue"/>
                <a:ea typeface="Helvetica Neue"/>
                <a:cs typeface="Helvetica Neue"/>
              </a:defRPr>
            </a:pPr>
            <a:r>
              <a:rPr sz="2250" b="0">
                <a:solidFill>
                  <a:srgbClr val="526777"/>
                </a:solidFill>
                <a:latin typeface="Helvetica Neue"/>
                <a:ea typeface="Helvetica Neue"/>
                <a:cs typeface="Helvetica Neue"/>
              </a:rPr>
              <a:t>LeRobot</a:t>
            </a:r>
          </a:p>
          <a:p xmlns:a="http://schemas.openxmlformats.org/drawingml/2006/main">
            <a:pPr algn="l">
              <a:defRPr sz="2250" b="0">
                <a:solidFill>
                  <a:srgbClr val="526777"/>
                </a:solidFill>
                <a:latin typeface="Helvetica Neue"/>
                <a:ea typeface="Helvetica Neue"/>
                <a:cs typeface="Helvetica Neue"/>
              </a:defRPr>
            </a:pPr>
            <a:r>
              <a:rPr sz="2250" b="0">
                <a:solidFill>
                  <a:srgbClr val="526777"/>
                </a:solidFill>
                <a:latin typeface="Helvetica Neue"/>
                <a:ea typeface="Helvetica Neue"/>
                <a:cs typeface="Helvetica Neue"/>
              </a:rPr>
              <a:t>Experience, motion, then code</a:t>
            </a:r>
          </a:p>
        </p:txBody>
      </p:sp>
      <p:sp>
        <p:nvSpPr>
          <p:cNvPr id="5" name="">
            <a:extLst xmlns:a="http://schemas.openxmlformats.org/drawingml/2006/main">
              <a:ext uri="{FF2B5EF4-FFF2-40B4-BE49-F238E27FC236}">
                <a16:creationId xmlns:a16="http://schemas.microsoft.com/office/drawing/2014/main" id="{543E9FD2-3B10-4FB6-998E-84D149C77D32}"/>
              </a:ext>
            </a:extLst>
          </p:cNvPr>
          <p:cNvSpPr>
            <a:spLocks xmlns:a="http://schemas.openxmlformats.org/drawingml/2006/main" noGrp="1"/>
          </p:cNvSpPr>
          <p:nvPr/>
        </p:nvSpPr>
        <p:spPr>
          <a:xfrm xmlns:a="http://schemas.openxmlformats.org/drawingml/2006/main">
            <a:off x="628650" y="5381625"/>
            <a:ext cx="5857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Implementation snapshot: 29 September 2026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5f280182e4c4be5"/>
          <a:srcRect xmlns:a="http://schemas.openxmlformats.org/drawingml/2006/main" l="0" t="11027" r="0" b="11027"/>
          <a:stretch xmlns:a="http://schemas.openxmlformats.org/drawingml/2006/main">
            <a:fillRect l="0" t="0" r="0" b="0"/>
          </a:stretch>
        </p:blipFill>
        <p:spPr>
          <a:xfrm xmlns:a="http://schemas.openxmlformats.org/drawingml/2006/main">
            <a:off x="7477125" y="1409700"/>
            <a:ext cx="3333750" cy="4619625"/>
          </a:xfrm>
          <a:prstGeom xmlns:a="http://schemas.openxmlformats.org/drawingml/2006/main" prst="rect">
            <a:avLst/>
          </a:prstGeom>
        </p:spPr>
      </p:pic>
    </p:spTree>
    <p:extLst>
      <p:ext uri="{BB962C8B-B14F-4D97-AF65-F5344CB8AC3E}">
        <p14:creationId xmlns:p14="http://schemas.microsoft.com/office/powerpoint/2010/main" val="31512540"/>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7BCC011-8400-4749-8563-5A7DF4F51828}"/>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Two processes, one robot task</a:t>
            </a:r>
          </a:p>
        </p:txBody>
      </p:sp>
      <p:sp>
        <p:nvSpPr>
          <p:cNvPr id="2" name="">
            <a:extLst xmlns:a="http://schemas.openxmlformats.org/drawingml/2006/main">
              <a:ext uri="{FF2B5EF4-FFF2-40B4-BE49-F238E27FC236}">
                <a16:creationId xmlns:a16="http://schemas.microsoft.com/office/drawing/2014/main" id="{0C8523CD-8933-4468-8A49-3FAA2DFCC9FF}"/>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FFC810A7-7D89-45F4-8D16-099C67F25A47}"/>
              </a:ext>
            </a:extLst>
          </p:cNvPr>
          <p:cNvSpPr>
            <a:spLocks xmlns:a="http://schemas.openxmlformats.org/drawingml/2006/main" noGrp="1"/>
          </p:cNvSpPr>
          <p:nvPr/>
        </p:nvSpPr>
        <p:spPr>
          <a:xfrm xmlns:a="http://schemas.openxmlformats.org/drawingml/2006/main">
            <a:off x="857250" y="1857375"/>
            <a:ext cx="3714750" cy="106680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475">
                <a:solidFill>
                  <a:srgbClr val="172B3A"/>
                </a:solidFill>
                <a:latin typeface="Helvetica Neue"/>
                <a:ea typeface="Helvetica Neue"/>
                <a:cs typeface="Helvetica Neue"/>
              </a:defRPr>
            </a:pPr>
            <a:r>
              <a:rPr sz="2475">
                <a:solidFill>
                  <a:srgbClr val="172B3A"/>
                </a:solidFill>
                <a:latin typeface="Helvetica Neue"/>
                <a:ea typeface="Helvetica Neue"/>
                <a:cs typeface="Helvetica Neue"/>
              </a:rPr>
              <a:t>Robot host</a:t>
            </a:r>
          </a:p>
          <a:p xmlns:a="http://schemas.openxmlformats.org/drawingml/2006/main">
            <a:pPr algn="ctr">
              <a:defRPr sz="2475">
                <a:solidFill>
                  <a:srgbClr val="172B3A"/>
                </a:solidFill>
                <a:latin typeface="Helvetica Neue"/>
                <a:ea typeface="Helvetica Neue"/>
                <a:cs typeface="Helvetica Neue"/>
              </a:defRPr>
            </a:pPr>
            <a:r>
              <a:rPr sz="2475">
                <a:solidFill>
                  <a:srgbClr val="172B3A"/>
                </a:solidFill>
                <a:latin typeface="Helvetica Neue"/>
                <a:ea typeface="Helvetica Neue"/>
                <a:cs typeface="Helvetica Neue"/>
              </a:rPr>
              <a:t>172.18.133.214</a:t>
            </a:r>
          </a:p>
        </p:txBody>
      </p:sp>
      <p:sp>
        <p:nvSpPr>
          <p:cNvPr id="4" name="">
            <a:extLst xmlns:a="http://schemas.openxmlformats.org/drawingml/2006/main">
              <a:ext uri="{FF2B5EF4-FFF2-40B4-BE49-F238E27FC236}">
                <a16:creationId xmlns:a16="http://schemas.microsoft.com/office/drawing/2014/main" id="{532A19BC-1BE6-4CD7-BA0E-F0AB6A50B0CD}"/>
              </a:ext>
            </a:extLst>
          </p:cNvPr>
          <p:cNvSpPr>
            <a:spLocks xmlns:a="http://schemas.openxmlformats.org/drawingml/2006/main" noGrp="1"/>
          </p:cNvSpPr>
          <p:nvPr/>
        </p:nvSpPr>
        <p:spPr>
          <a:xfrm xmlns:a="http://schemas.openxmlformats.org/drawingml/2006/main">
            <a:off x="7620000" y="1857375"/>
            <a:ext cx="3714750" cy="10668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475">
                <a:solidFill>
                  <a:srgbClr val="172B3A"/>
                </a:solidFill>
                <a:latin typeface="Helvetica Neue"/>
                <a:ea typeface="Helvetica Neue"/>
                <a:cs typeface="Helvetica Neue"/>
              </a:defRPr>
            </a:pPr>
            <a:r>
              <a:rPr sz="2475">
                <a:solidFill>
                  <a:srgbClr val="172B3A"/>
                </a:solidFill>
                <a:latin typeface="Helvetica Neue"/>
                <a:ea typeface="Helvetica Neue"/>
                <a:cs typeface="Helvetica Neue"/>
              </a:rPr>
              <a:t>GPU server</a:t>
            </a:r>
          </a:p>
          <a:p xmlns:a="http://schemas.openxmlformats.org/drawingml/2006/main">
            <a:pPr algn="ctr">
              <a:defRPr sz="2475">
                <a:solidFill>
                  <a:srgbClr val="172B3A"/>
                </a:solidFill>
                <a:latin typeface="Helvetica Neue"/>
                <a:ea typeface="Helvetica Neue"/>
                <a:cs typeface="Helvetica Neue"/>
              </a:defRPr>
            </a:pPr>
            <a:r>
              <a:rPr sz="2475">
                <a:solidFill>
                  <a:srgbClr val="172B3A"/>
                </a:solidFill>
                <a:latin typeface="Helvetica Neue"/>
                <a:ea typeface="Helvetica Neue"/>
                <a:cs typeface="Helvetica Neue"/>
              </a:rPr>
              <a:t>172.18.131.152</a:t>
            </a:r>
          </a:p>
        </p:txBody>
      </p: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4572000" y="2390775"/>
            <a:ext cx="3048000" cy="0"/>
          </a:xfrm>
          <a:prstGeom xmlns:a="http://schemas.openxmlformats.org/drawingml/2006/main" prst="straightConnector1">
            <a:avLst/>
          </a:prstGeom>
          <a:ln xmlns:a="http://schemas.openxmlformats.org/drawingml/2006/main" w="19050">
            <a:solidFill>
              <a:srgbClr val="526777"/>
            </a:solidFill>
            <a:tailEnd type="triangle" w="sm" len="sm"/>
          </a:ln>
        </p:spPr>
      </p:cxnSp>
      <p:sp>
        <p:nvSpPr>
          <p:cNvPr id="6" name="">
            <a:extLst xmlns:a="http://schemas.openxmlformats.org/drawingml/2006/main">
              <a:ext uri="{FF2B5EF4-FFF2-40B4-BE49-F238E27FC236}">
                <a16:creationId xmlns:a16="http://schemas.microsoft.com/office/drawing/2014/main" id="{A9BEBA18-455A-431A-BA34-7A8AA20A6FD5}"/>
              </a:ext>
            </a:extLst>
          </p:cNvPr>
          <p:cNvSpPr>
            <a:spLocks xmlns:a="http://schemas.openxmlformats.org/drawingml/2006/main" noGrp="1"/>
          </p:cNvSpPr>
          <p:nvPr/>
        </p:nvSpPr>
        <p:spPr>
          <a:xfrm xmlns:a="http://schemas.openxmlformats.org/drawingml/2006/main">
            <a:off x="4743450" y="18764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950" b="0">
                <a:solidFill>
                  <a:srgbClr val="177B9F"/>
                </a:solidFill>
                <a:latin typeface="Helvetica Neue"/>
                <a:ea typeface="Helvetica Neue"/>
                <a:cs typeface="Helvetica Neue"/>
              </a:defRPr>
            </a:pPr>
            <a:r>
              <a:rPr sz="1950" b="0">
                <a:solidFill>
                  <a:srgbClr val="177B9F"/>
                </a:solidFill>
                <a:latin typeface="Helvetica Neue"/>
                <a:ea typeface="Helvetica Neue"/>
                <a:cs typeface="Helvetica Neue"/>
              </a:rPr>
              <a:t>observation</a:t>
            </a:r>
          </a:p>
        </p:txBody>
      </p:sp>
      <p:sp>
        <p:nvSpPr>
          <p:cNvPr id="7" name="">
            <a:extLst xmlns:a="http://schemas.openxmlformats.org/drawingml/2006/main">
              <a:ext uri="{FF2B5EF4-FFF2-40B4-BE49-F238E27FC236}">
                <a16:creationId xmlns:a16="http://schemas.microsoft.com/office/drawing/2014/main" id="{1D851883-33ED-4CF0-970B-40AC92E96FEE}"/>
              </a:ext>
            </a:extLst>
          </p:cNvPr>
          <p:cNvSpPr>
            <a:spLocks xmlns:a="http://schemas.openxmlformats.org/drawingml/2006/main" noGrp="1"/>
          </p:cNvSpPr>
          <p:nvPr/>
        </p:nvSpPr>
        <p:spPr>
          <a:xfrm xmlns:a="http://schemas.openxmlformats.org/drawingml/2006/main">
            <a:off x="857250" y="3714750"/>
            <a:ext cx="3714750" cy="85725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a:solidFill>
                  <a:srgbClr val="172B3A"/>
                </a:solidFill>
                <a:latin typeface="Helvetica Neue"/>
                <a:ea typeface="Helvetica Neue"/>
                <a:cs typeface="Helvetica Neue"/>
              </a:defRPr>
            </a:pPr>
            <a:r>
              <a:rPr sz="2250">
                <a:solidFill>
                  <a:srgbClr val="172B3A"/>
                </a:solidFill>
                <a:latin typeface="Helvetica Neue"/>
                <a:ea typeface="Helvetica Neue"/>
                <a:cs typeface="Helvetica Neue"/>
              </a:rPr>
              <a:t>Buffered actions</a:t>
            </a:r>
          </a:p>
        </p:txBody>
      </p:sp>
      <p:sp>
        <p:nvSpPr>
          <p:cNvPr id="8" name="">
            <a:extLst xmlns:a="http://schemas.openxmlformats.org/drawingml/2006/main">
              <a:ext uri="{FF2B5EF4-FFF2-40B4-BE49-F238E27FC236}">
                <a16:creationId xmlns:a16="http://schemas.microsoft.com/office/drawing/2014/main" id="{D720DE5F-D494-4E61-B770-283517D102AD}"/>
              </a:ext>
            </a:extLst>
          </p:cNvPr>
          <p:cNvSpPr>
            <a:spLocks xmlns:a="http://schemas.openxmlformats.org/drawingml/2006/main" noGrp="1"/>
          </p:cNvSpPr>
          <p:nvPr/>
        </p:nvSpPr>
        <p:spPr>
          <a:xfrm xmlns:a="http://schemas.openxmlformats.org/drawingml/2006/main">
            <a:off x="7620000" y="3714750"/>
            <a:ext cx="3714750" cy="85725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a:solidFill>
                  <a:srgbClr val="172B3A"/>
                </a:solidFill>
                <a:latin typeface="Helvetica Neue"/>
                <a:ea typeface="Helvetica Neue"/>
                <a:cs typeface="Helvetica Neue"/>
              </a:defRPr>
            </a:pPr>
            <a:r>
              <a:rPr sz="2250">
                <a:solidFill>
                  <a:srgbClr val="172B3A"/>
                </a:solidFill>
                <a:latin typeface="Helvetica Neue"/>
                <a:ea typeface="Helvetica Neue"/>
                <a:cs typeface="Helvetica Neue"/>
              </a:rPr>
              <a:t>Policy prediction</a:t>
            </a:r>
          </a:p>
        </p:txBody>
      </p:sp>
      <p:cxnSp>
        <p:nvCxnSpPr>
          <p:cNvPr id="22" name=""/>
          <p:cNvCxnSpPr>
            <a:stCxn xmlns:a="http://schemas.openxmlformats.org/drawingml/2006/main" id="8" idx="1"/>
            <a:endCxn xmlns:a="http://schemas.openxmlformats.org/drawingml/2006/main" id="7" idx="3"/>
          </p:cNvCxnSpPr>
          <p:nvPr/>
        </p:nvCxnSpPr>
        <p:spPr>
          <a:xfrm xmlns:a="http://schemas.openxmlformats.org/drawingml/2006/main" flipH="1">
            <a:off x="4572000" y="4143375"/>
            <a:ext cx="3048000" cy="0"/>
          </a:xfrm>
          <a:prstGeom xmlns:a="http://schemas.openxmlformats.org/drawingml/2006/main" prst="straightConnector1">
            <a:avLst/>
          </a:prstGeom>
          <a:ln xmlns:a="http://schemas.openxmlformats.org/drawingml/2006/main" w="19050">
            <a:solidFill>
              <a:srgbClr val="526777"/>
            </a:solidFill>
            <a:tailEnd type="triangle" w="sm" len="sm"/>
          </a:ln>
        </p:spPr>
      </p:cxnSp>
      <p:sp>
        <p:nvSpPr>
          <p:cNvPr id="10" name="">
            <a:extLst xmlns:a="http://schemas.openxmlformats.org/drawingml/2006/main">
              <a:ext uri="{FF2B5EF4-FFF2-40B4-BE49-F238E27FC236}">
                <a16:creationId xmlns:a16="http://schemas.microsoft.com/office/drawing/2014/main" id="{2B3B1914-977D-4A29-8D2D-1BBA962A70A5}"/>
              </a:ext>
            </a:extLst>
          </p:cNvPr>
          <p:cNvSpPr>
            <a:spLocks xmlns:a="http://schemas.openxmlformats.org/drawingml/2006/main" noGrp="1"/>
          </p:cNvSpPr>
          <p:nvPr/>
        </p:nvSpPr>
        <p:spPr>
          <a:xfrm xmlns:a="http://schemas.openxmlformats.org/drawingml/2006/main">
            <a:off x="4762500" y="373380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950" b="0">
                <a:solidFill>
                  <a:srgbClr val="267C63"/>
                </a:solidFill>
                <a:latin typeface="Helvetica Neue"/>
                <a:ea typeface="Helvetica Neue"/>
                <a:cs typeface="Helvetica Neue"/>
              </a:defRPr>
            </a:pPr>
            <a:r>
              <a:rPr sz="1950" b="0">
                <a:solidFill>
                  <a:srgbClr val="267C63"/>
                </a:solidFill>
                <a:latin typeface="Helvetica Neue"/>
                <a:ea typeface="Helvetica Neue"/>
                <a:cs typeface="Helvetica Neue"/>
              </a:rPr>
              <a:t>action chunk</a:t>
            </a:r>
          </a:p>
        </p:txBody>
      </p:sp>
      <p:sp>
        <p:nvSpPr>
          <p:cNvPr id="11" name="">
            <a:extLst xmlns:a="http://schemas.openxmlformats.org/drawingml/2006/main">
              <a:ext uri="{FF2B5EF4-FFF2-40B4-BE49-F238E27FC236}">
                <a16:creationId xmlns:a16="http://schemas.microsoft.com/office/drawing/2014/main" id="{23C727AF-10BA-4C7A-A1BD-2A107B6A8793}"/>
              </a:ext>
            </a:extLst>
          </p:cNvPr>
          <p:cNvSpPr>
            <a:spLocks xmlns:a="http://schemas.openxmlformats.org/drawingml/2006/main" noGrp="1"/>
          </p:cNvSpPr>
          <p:nvPr/>
        </p:nvSpPr>
        <p:spPr>
          <a:xfrm xmlns:a="http://schemas.openxmlformats.org/drawingml/2006/main">
            <a:off x="857250" y="48196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72B3A"/>
                </a:solidFill>
                <a:latin typeface="Helvetica Neue"/>
                <a:ea typeface="Helvetica Neue"/>
                <a:cs typeface="Helvetica Neue"/>
              </a:defRPr>
            </a:pPr>
            <a:r>
              <a:rPr sz="1950" b="0">
                <a:solidFill>
                  <a:srgbClr val="172B3A"/>
                </a:solidFill>
                <a:latin typeface="Helvetica Neue"/>
                <a:ea typeface="Helvetica Neue"/>
                <a:cs typeface="Helvetica Neue"/>
              </a:rPr>
              <a:t>Cameras, motor commands, operator</a:t>
            </a:r>
          </a:p>
        </p:txBody>
      </p:sp>
      <p:sp>
        <p:nvSpPr>
          <p:cNvPr id="12" name="">
            <a:extLst xmlns:a="http://schemas.openxmlformats.org/drawingml/2006/main">
              <a:ext uri="{FF2B5EF4-FFF2-40B4-BE49-F238E27FC236}">
                <a16:creationId xmlns:a16="http://schemas.microsoft.com/office/drawing/2014/main" id="{57038388-9DBC-4BAF-9F28-BA95F24FB633}"/>
              </a:ext>
            </a:extLst>
          </p:cNvPr>
          <p:cNvSpPr>
            <a:spLocks xmlns:a="http://schemas.openxmlformats.org/drawingml/2006/main" noGrp="1"/>
          </p:cNvSpPr>
          <p:nvPr/>
        </p:nvSpPr>
        <p:spPr>
          <a:xfrm xmlns:a="http://schemas.openxmlformats.org/drawingml/2006/main">
            <a:off x="7620000" y="4819650"/>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72B3A"/>
                </a:solidFill>
                <a:latin typeface="Helvetica Neue"/>
                <a:ea typeface="Helvetica Neue"/>
                <a:cs typeface="Helvetica Neue"/>
              </a:defRPr>
            </a:pPr>
            <a:r>
              <a:rPr sz="1950" b="0">
                <a:solidFill>
                  <a:srgbClr val="172B3A"/>
                </a:solidFill>
                <a:latin typeface="Helvetica Neue"/>
                <a:ea typeface="Helvetica Neue"/>
                <a:cs typeface="Helvetica Neue"/>
              </a:rPr>
              <a:t>Weights, processors, GPU</a:t>
            </a:r>
          </a:p>
        </p:txBody>
      </p:sp>
      <p:sp>
        <p:nvSpPr>
          <p:cNvPr id="13" name="">
            <a:extLst xmlns:a="http://schemas.openxmlformats.org/drawingml/2006/main">
              <a:ext uri="{FF2B5EF4-FFF2-40B4-BE49-F238E27FC236}">
                <a16:creationId xmlns:a16="http://schemas.microsoft.com/office/drawing/2014/main" id="{703768B4-4360-45BA-998E-4DF648D391DF}"/>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The same separation also works between two processes on one computer.</a:t>
            </a:r>
          </a:p>
        </p:txBody>
      </p:sp>
    </p:spTree>
    <p:extLst>
      <p:ext uri="{BB962C8B-B14F-4D97-AF65-F5344CB8AC3E}">
        <p14:creationId xmlns:p14="http://schemas.microsoft.com/office/powerpoint/2010/main" val="1535951748"/>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ABF4DE5-436D-452B-940E-6AFF8761252D}"/>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What the operator experiences</a:t>
            </a:r>
          </a:p>
        </p:txBody>
      </p:sp>
      <p:sp>
        <p:nvSpPr>
          <p:cNvPr id="2" name="">
            <a:extLst xmlns:a="http://schemas.openxmlformats.org/drawingml/2006/main">
              <a:ext uri="{FF2B5EF4-FFF2-40B4-BE49-F238E27FC236}">
                <a16:creationId xmlns:a16="http://schemas.microsoft.com/office/drawing/2014/main" id="{E8AF3894-16A9-4967-AA80-09299108E943}"/>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AB1C7A6B-AEC1-4FC9-8E68-B3414ADF9DFB}"/>
              </a:ext>
            </a:extLst>
          </p:cNvPr>
          <p:cNvSpPr>
            <a:spLocks xmlns:a="http://schemas.openxmlformats.org/drawingml/2006/main" noGrp="1"/>
          </p:cNvSpPr>
          <p:nvPr/>
        </p:nvSpPr>
        <p:spPr>
          <a:xfrm xmlns:a="http://schemas.openxmlformats.org/drawingml/2006/main">
            <a:off x="609600" y="2152650"/>
            <a:ext cx="2428875" cy="93345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172B3A"/>
                </a:solidFill>
                <a:latin typeface="Helvetica Neue"/>
                <a:ea typeface="Helvetica Neue"/>
                <a:cs typeface="Helvetica Neue"/>
              </a:defRPr>
            </a:pPr>
            <a:r>
              <a:rPr sz="2100">
                <a:solidFill>
                  <a:srgbClr val="172B3A"/>
                </a:solidFill>
                <a:latin typeface="Helvetica Neue"/>
                <a:ea typeface="Helvetica Neue"/>
                <a:cs typeface="Helvetica Neue"/>
              </a:rPr>
              <a:t>Server ready</a:t>
            </a:r>
          </a:p>
        </p:txBody>
      </p:sp>
      <p:sp>
        <p:nvSpPr>
          <p:cNvPr id="4" name="">
            <a:extLst xmlns:a="http://schemas.openxmlformats.org/drawingml/2006/main">
              <a:ext uri="{FF2B5EF4-FFF2-40B4-BE49-F238E27FC236}">
                <a16:creationId xmlns:a16="http://schemas.microsoft.com/office/drawing/2014/main" id="{C731C095-EA79-4DC5-A4A7-9BD11A185BF7}"/>
              </a:ext>
            </a:extLst>
          </p:cNvPr>
          <p:cNvSpPr>
            <a:spLocks xmlns:a="http://schemas.openxmlformats.org/drawingml/2006/main" noGrp="1"/>
          </p:cNvSpPr>
          <p:nvPr/>
        </p:nvSpPr>
        <p:spPr>
          <a:xfrm xmlns:a="http://schemas.openxmlformats.org/drawingml/2006/main">
            <a:off x="3419475" y="2152650"/>
            <a:ext cx="2428875" cy="93345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172B3A"/>
                </a:solidFill>
                <a:latin typeface="Helvetica Neue"/>
                <a:ea typeface="Helvetica Neue"/>
                <a:cs typeface="Helvetica Neue"/>
              </a:defRPr>
            </a:pPr>
            <a:r>
              <a:rPr sz="2100">
                <a:solidFill>
                  <a:srgbClr val="172B3A"/>
                </a:solidFill>
                <a:latin typeface="Helvetica Neue"/>
                <a:ea typeface="Helvetica Neue"/>
                <a:cs typeface="Helvetica Neue"/>
              </a:rPr>
              <a:t>Client admitted</a:t>
            </a:r>
          </a:p>
        </p:txBody>
      </p:sp>
      <p:sp>
        <p:nvSpPr>
          <p:cNvPr id="5" name="">
            <a:extLst xmlns:a="http://schemas.openxmlformats.org/drawingml/2006/main">
              <a:ext uri="{FF2B5EF4-FFF2-40B4-BE49-F238E27FC236}">
                <a16:creationId xmlns:a16="http://schemas.microsoft.com/office/drawing/2014/main" id="{1ECDD452-CBBE-49F5-823E-42A7E5C578AF}"/>
              </a:ext>
            </a:extLst>
          </p:cNvPr>
          <p:cNvSpPr>
            <a:spLocks xmlns:a="http://schemas.openxmlformats.org/drawingml/2006/main" noGrp="1"/>
          </p:cNvSpPr>
          <p:nvPr/>
        </p:nvSpPr>
        <p:spPr>
          <a:xfrm xmlns:a="http://schemas.openxmlformats.org/drawingml/2006/main">
            <a:off x="6229350" y="2152650"/>
            <a:ext cx="2428875" cy="93345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172B3A"/>
                </a:solidFill>
                <a:latin typeface="Helvetica Neue"/>
                <a:ea typeface="Helvetica Neue"/>
                <a:cs typeface="Helvetica Neue"/>
              </a:defRPr>
            </a:pPr>
            <a:r>
              <a:rPr sz="2100">
                <a:solidFill>
                  <a:srgbClr val="172B3A"/>
                </a:solidFill>
                <a:latin typeface="Helvetica Neue"/>
                <a:ea typeface="Helvetica Neue"/>
                <a:cs typeface="Helvetica Neue"/>
              </a:rPr>
              <a:t>First result</a:t>
            </a:r>
          </a:p>
        </p:txBody>
      </p:sp>
      <p:sp>
        <p:nvSpPr>
          <p:cNvPr id="6" name="">
            <a:extLst xmlns:a="http://schemas.openxmlformats.org/drawingml/2006/main">
              <a:ext uri="{FF2B5EF4-FFF2-40B4-BE49-F238E27FC236}">
                <a16:creationId xmlns:a16="http://schemas.microsoft.com/office/drawing/2014/main" id="{7F34A6CC-4BE8-4CDC-BA89-5D917AA0ADA7}"/>
              </a:ext>
            </a:extLst>
          </p:cNvPr>
          <p:cNvSpPr>
            <a:spLocks xmlns:a="http://schemas.openxmlformats.org/drawingml/2006/main" noGrp="1"/>
          </p:cNvSpPr>
          <p:nvPr/>
        </p:nvSpPr>
        <p:spPr>
          <a:xfrm xmlns:a="http://schemas.openxmlformats.org/drawingml/2006/main">
            <a:off x="9039225" y="2152650"/>
            <a:ext cx="2428875" cy="93345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172B3A"/>
                </a:solidFill>
                <a:latin typeface="Helvetica Neue"/>
                <a:ea typeface="Helvetica Neue"/>
                <a:cs typeface="Helvetica Neue"/>
              </a:defRPr>
            </a:pPr>
            <a:r>
              <a:rPr sz="2100">
                <a:solidFill>
                  <a:srgbClr val="172B3A"/>
                </a:solidFill>
                <a:latin typeface="Helvetica Neue"/>
                <a:ea typeface="Helvetica Neue"/>
                <a:cs typeface="Helvetica Neue"/>
              </a:rPr>
              <a:t>Robot moves</a:t>
            </a:r>
          </a:p>
        </p:txBody>
      </p:sp>
      <p:cxnSp>
        <p:nvCxnSpPr>
          <p:cNvPr id="22" name=""/>
          <p:cNvCxnSpPr>
            <a:stCxn xmlns:a="http://schemas.openxmlformats.org/drawingml/2006/main" id="3" idx="3"/>
            <a:endCxn xmlns:a="http://schemas.openxmlformats.org/drawingml/2006/main" id="4" idx="1"/>
          </p:cNvCxnSpPr>
          <p:nvPr/>
        </p:nvCxnSpPr>
        <p:spPr>
          <a:xfrm xmlns:a="http://schemas.openxmlformats.org/drawingml/2006/main">
            <a:off x="3038475" y="2619375"/>
            <a:ext cx="381000" cy="0"/>
          </a:xfrm>
          <a:prstGeom xmlns:a="http://schemas.openxmlformats.org/drawingml/2006/main" prst="straightConnector1">
            <a:avLst/>
          </a:prstGeom>
          <a:ln xmlns:a="http://schemas.openxmlformats.org/drawingml/2006/main" w="19050">
            <a:solidFill>
              <a:srgbClr val="526777"/>
            </a:solidFill>
            <a:tailEnd type="triangle" w="sm" len="sm"/>
          </a:ln>
        </p:spPr>
      </p:cxn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5848350" y="2619375"/>
            <a:ext cx="381000" cy="0"/>
          </a:xfrm>
          <a:prstGeom xmlns:a="http://schemas.openxmlformats.org/drawingml/2006/main" prst="straightConnector1">
            <a:avLst/>
          </a:prstGeom>
          <a:ln xmlns:a="http://schemas.openxmlformats.org/drawingml/2006/main" w="19050">
            <a:solidFill>
              <a:srgbClr val="526777"/>
            </a:solidFill>
            <a:tailEnd type="triangle" w="sm" len="sm"/>
          </a:ln>
        </p:spPr>
      </p:cxn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8658225" y="2619375"/>
            <a:ext cx="381000" cy="0"/>
          </a:xfrm>
          <a:prstGeom xmlns:a="http://schemas.openxmlformats.org/drawingml/2006/main" prst="straightConnector1">
            <a:avLst/>
          </a:prstGeom>
          <a:ln xmlns:a="http://schemas.openxmlformats.org/drawingml/2006/main" w="19050">
            <a:solidFill>
              <a:srgbClr val="526777"/>
            </a:solidFill>
            <a:tailEnd type="triangle" w="sm" len="sm"/>
          </a:ln>
        </p:spPr>
      </p:cxnSp>
      <p:sp>
        <p:nvSpPr>
          <p:cNvPr id="10" name="">
            <a:extLst xmlns:a="http://schemas.openxmlformats.org/drawingml/2006/main">
              <a:ext uri="{FF2B5EF4-FFF2-40B4-BE49-F238E27FC236}">
                <a16:creationId xmlns:a16="http://schemas.microsoft.com/office/drawing/2014/main" id="{B3EE5BDC-A997-4A3B-9ABC-C0444D1D846F}"/>
              </a:ext>
            </a:extLst>
          </p:cNvPr>
          <p:cNvSpPr>
            <a:spLocks xmlns:a="http://schemas.openxmlformats.org/drawingml/2006/main" noGrp="1"/>
          </p:cNvSpPr>
          <p:nvPr/>
        </p:nvSpPr>
        <p:spPr>
          <a:xfrm xmlns:a="http://schemas.openxmlformats.org/drawingml/2006/main">
            <a:off x="609600" y="3371850"/>
            <a:ext cx="242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777"/>
                </a:solidFill>
                <a:latin typeface="Helvetica Neue"/>
                <a:ea typeface="Helvetica Neue"/>
                <a:cs typeface="Helvetica Neue"/>
              </a:defRPr>
            </a:pPr>
            <a:r>
              <a:rPr sz="1950" b="0">
                <a:solidFill>
                  <a:srgbClr val="526777"/>
                </a:solidFill>
                <a:latin typeface="Helvetica Neue"/>
                <a:ea typeface="Helvetica Neue"/>
                <a:cs typeface="Helvetica Neue"/>
              </a:rPr>
              <a:t>Policy warmup</a:t>
            </a:r>
          </a:p>
        </p:txBody>
      </p:sp>
      <p:sp>
        <p:nvSpPr>
          <p:cNvPr id="11" name="">
            <a:extLst xmlns:a="http://schemas.openxmlformats.org/drawingml/2006/main">
              <a:ext uri="{FF2B5EF4-FFF2-40B4-BE49-F238E27FC236}">
                <a16:creationId xmlns:a16="http://schemas.microsoft.com/office/drawing/2014/main" id="{0FA3E8AF-044A-4332-A53C-03737494ADEB}"/>
              </a:ext>
            </a:extLst>
          </p:cNvPr>
          <p:cNvSpPr>
            <a:spLocks xmlns:a="http://schemas.openxmlformats.org/drawingml/2006/main" noGrp="1"/>
          </p:cNvSpPr>
          <p:nvPr/>
        </p:nvSpPr>
        <p:spPr>
          <a:xfrm xmlns:a="http://schemas.openxmlformats.org/drawingml/2006/main">
            <a:off x="3419475" y="3371850"/>
            <a:ext cx="242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777"/>
                </a:solidFill>
                <a:latin typeface="Helvetica Neue"/>
                <a:ea typeface="Helvetica Neue"/>
                <a:cs typeface="Helvetica Neue"/>
              </a:defRPr>
            </a:pPr>
            <a:r>
              <a:rPr sz="1950" b="0">
                <a:solidFill>
                  <a:srgbClr val="526777"/>
                </a:solidFill>
                <a:latin typeface="Helvetica Neue"/>
                <a:ea typeface="Helvetica Neue"/>
                <a:cs typeface="Helvetica Neue"/>
              </a:rPr>
              <a:t>Contract checks</a:t>
            </a:r>
          </a:p>
        </p:txBody>
      </p:sp>
      <p:sp>
        <p:nvSpPr>
          <p:cNvPr id="12" name="">
            <a:extLst xmlns:a="http://schemas.openxmlformats.org/drawingml/2006/main">
              <a:ext uri="{FF2B5EF4-FFF2-40B4-BE49-F238E27FC236}">
                <a16:creationId xmlns:a16="http://schemas.microsoft.com/office/drawing/2014/main" id="{BFE2EEEB-26E2-46CE-9061-DE4E72AD5F43}"/>
              </a:ext>
            </a:extLst>
          </p:cNvPr>
          <p:cNvSpPr>
            <a:spLocks xmlns:a="http://schemas.openxmlformats.org/drawingml/2006/main" noGrp="1"/>
          </p:cNvSpPr>
          <p:nvPr/>
        </p:nvSpPr>
        <p:spPr>
          <a:xfrm xmlns:a="http://schemas.openxmlformats.org/drawingml/2006/main">
            <a:off x="6229350" y="3371850"/>
            <a:ext cx="242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777"/>
                </a:solidFill>
                <a:latin typeface="Helvetica Neue"/>
                <a:ea typeface="Helvetica Neue"/>
                <a:cs typeface="Helvetica Neue"/>
              </a:defRPr>
            </a:pPr>
            <a:r>
              <a:rPr sz="1950" b="0">
                <a:solidFill>
                  <a:srgbClr val="526777"/>
                </a:solidFill>
                <a:latin typeface="Helvetica Neue"/>
                <a:ea typeface="Helvetica Neue"/>
                <a:cs typeface="Helvetica Neue"/>
              </a:rPr>
              <a:t>Startup waiting</a:t>
            </a:r>
          </a:p>
        </p:txBody>
      </p:sp>
      <p:sp>
        <p:nvSpPr>
          <p:cNvPr id="13" name="">
            <a:extLst xmlns:a="http://schemas.openxmlformats.org/drawingml/2006/main">
              <a:ext uri="{FF2B5EF4-FFF2-40B4-BE49-F238E27FC236}">
                <a16:creationId xmlns:a16="http://schemas.microsoft.com/office/drawing/2014/main" id="{533908DF-5466-4B25-9FFF-56D7224C7530}"/>
              </a:ext>
            </a:extLst>
          </p:cNvPr>
          <p:cNvSpPr>
            <a:spLocks xmlns:a="http://schemas.openxmlformats.org/drawingml/2006/main" noGrp="1"/>
          </p:cNvSpPr>
          <p:nvPr/>
        </p:nvSpPr>
        <p:spPr>
          <a:xfrm xmlns:a="http://schemas.openxmlformats.org/drawingml/2006/main">
            <a:off x="9039225" y="3371850"/>
            <a:ext cx="242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777"/>
                </a:solidFill>
                <a:latin typeface="Helvetica Neue"/>
                <a:ea typeface="Helvetica Neue"/>
                <a:cs typeface="Helvetica Neue"/>
              </a:defRPr>
            </a:pPr>
            <a:r>
              <a:rPr sz="1950" b="0">
                <a:solidFill>
                  <a:srgbClr val="526777"/>
                </a:solidFill>
                <a:latin typeface="Helvetica Neue"/>
                <a:ea typeface="Helvetica Neue"/>
                <a:cs typeface="Helvetica Neue"/>
              </a:rPr>
              <a:t>Local dispatch</a:t>
            </a:r>
          </a:p>
        </p:txBody>
      </p:sp>
      <p:sp>
        <p:nvSpPr>
          <p:cNvPr id="14" name="">
            <a:extLst xmlns:a="http://schemas.openxmlformats.org/drawingml/2006/main">
              <a:ext uri="{FF2B5EF4-FFF2-40B4-BE49-F238E27FC236}">
                <a16:creationId xmlns:a16="http://schemas.microsoft.com/office/drawing/2014/main" id="{986F0E86-0CE7-4600-8AA4-AEEA10B80DC4}"/>
              </a:ext>
            </a:extLst>
          </p:cNvPr>
          <p:cNvSpPr>
            <a:spLocks xmlns:a="http://schemas.openxmlformats.org/drawingml/2006/main" noGrp="1"/>
          </p:cNvSpPr>
          <p:nvPr/>
        </p:nvSpPr>
        <p:spPr>
          <a:xfrm xmlns:a="http://schemas.openxmlformats.org/drawingml/2006/main">
            <a:off x="609600" y="45339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Interactive mode adds an explicit /start before motion.</a:t>
            </a:r>
          </a:p>
        </p:txBody>
      </p:sp>
      <p:sp>
        <p:nvSpPr>
          <p:cNvPr id="15" name="">
            <a:extLst xmlns:a="http://schemas.openxmlformats.org/drawingml/2006/main">
              <a:ext uri="{FF2B5EF4-FFF2-40B4-BE49-F238E27FC236}">
                <a16:creationId xmlns:a16="http://schemas.microsoft.com/office/drawing/2014/main" id="{24444F10-3EB4-463C-ACBA-464E096B87CE}"/>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A fault ends motion permission. Reconnecting does not automatically resume a rollout.</a:t>
            </a:r>
          </a:p>
        </p:txBody>
      </p:sp>
    </p:spTree>
    <p:extLst>
      <p:ext uri="{BB962C8B-B14F-4D97-AF65-F5344CB8AC3E}">
        <p14:creationId xmlns:p14="http://schemas.microsoft.com/office/powerpoint/2010/main" val="1339809834"/>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0F33FD-FC4B-49EA-946E-F965C4B2ED87}"/>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The two commands have different jobs</a:t>
            </a:r>
          </a:p>
        </p:txBody>
      </p:sp>
      <p:sp>
        <p:nvSpPr>
          <p:cNvPr id="2" name="">
            <a:extLst xmlns:a="http://schemas.openxmlformats.org/drawingml/2006/main">
              <a:ext uri="{FF2B5EF4-FFF2-40B4-BE49-F238E27FC236}">
                <a16:creationId xmlns:a16="http://schemas.microsoft.com/office/drawing/2014/main" id="{02B1F190-42BB-452F-BA6A-0720F2A44A06}"/>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8DF2BB90-4F0F-44D0-B63B-2D9F076405B2}"/>
              </a:ext>
            </a:extLst>
          </p:cNvPr>
          <p:cNvSpPr>
            <a:spLocks xmlns:a="http://schemas.openxmlformats.org/drawingml/2006/main" noGrp="1"/>
          </p:cNvSpPr>
          <p:nvPr/>
        </p:nvSpPr>
        <p:spPr>
          <a:xfrm xmlns:a="http://schemas.openxmlformats.org/drawingml/2006/main">
            <a:off x="609600" y="15716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267C63"/>
                </a:solidFill>
                <a:latin typeface="Helvetica Neue"/>
                <a:ea typeface="Helvetica Neue"/>
                <a:cs typeface="Helvetica Neue"/>
              </a:defRPr>
            </a:pPr>
            <a:r>
              <a:rPr sz="2400" b="1">
                <a:solidFill>
                  <a:srgbClr val="267C63"/>
                </a:solidFill>
                <a:latin typeface="Helvetica Neue"/>
                <a:ea typeface="Helvetica Neue"/>
                <a:cs typeface="Helvetica Neue"/>
              </a:rPr>
              <a:t>Server</a:t>
            </a:r>
          </a:p>
        </p:txBody>
      </p:sp>
      <p:sp>
        <p:nvSpPr>
          <p:cNvPr id="4" name="">
            <a:extLst xmlns:a="http://schemas.openxmlformats.org/drawingml/2006/main">
              <a:ext uri="{FF2B5EF4-FFF2-40B4-BE49-F238E27FC236}">
                <a16:creationId xmlns:a16="http://schemas.microsoft.com/office/drawing/2014/main" id="{030C7813-FC51-4B85-9B0E-3438FA9B3AB9}"/>
              </a:ext>
            </a:extLst>
          </p:cNvPr>
          <p:cNvSpPr>
            <a:spLocks xmlns:a="http://schemas.openxmlformats.org/drawingml/2006/main" noGrp="1"/>
          </p:cNvSpPr>
          <p:nvPr/>
        </p:nvSpPr>
        <p:spPr>
          <a:xfrm xmlns:a="http://schemas.openxmlformats.org/drawingml/2006/main">
            <a:off x="609600" y="2286000"/>
            <a:ext cx="647700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B3A"/>
                </a:solidFill>
                <a:latin typeface="Helvetica Neue"/>
                <a:ea typeface="Helvetica Neue"/>
                <a:cs typeface="Helvetica Neue"/>
              </a:defRPr>
            </a:pPr>
            <a:r>
              <a:rPr sz="2025" b="0">
                <a:solidFill>
                  <a:srgbClr val="172B3A"/>
                </a:solidFill>
                <a:latin typeface="Helvetica Neue"/>
                <a:ea typeface="Helvetica Neue"/>
                <a:cs typeface="Helvetica Neue"/>
              </a:rPr>
              <a:t>lerobot-policy-server</a:t>
            </a:r>
          </a:p>
          <a:p xmlns:a="http://schemas.openxmlformats.org/drawingml/2006/main">
            <a:pPr algn="l">
              <a:defRPr sz="2025" b="0">
                <a:solidFill>
                  <a:srgbClr val="172B3A"/>
                </a:solidFill>
                <a:latin typeface="Helvetica Neue"/>
                <a:ea typeface="Helvetica Neue"/>
                <a:cs typeface="Helvetica Neue"/>
              </a:defRPr>
            </a:pPr>
            <a:r>
              <a:rPr sz="2025" b="0">
                <a:solidFill>
                  <a:srgbClr val="172B3A"/>
                </a:solidFill>
                <a:latin typeface="Helvetica Neue"/>
                <a:ea typeface="Helvetica Neue"/>
                <a:cs typeface="Helvetica Neue"/>
              </a:rPr>
              <a:t>--config_path=…/omx_act_lan.yaml</a:t>
            </a:r>
          </a:p>
          <a:p xmlns:a="http://schemas.openxmlformats.org/drawingml/2006/main">
            <a:pPr algn="l">
              <a:defRPr sz="2025" b="0">
                <a:solidFill>
                  <a:srgbClr val="172B3A"/>
                </a:solidFill>
                <a:latin typeface="Helvetica Neue"/>
                <a:ea typeface="Helvetica Neue"/>
                <a:cs typeface="Helvetica Neue"/>
              </a:defRPr>
            </a:pPr>
            <a:r>
              <a:rPr sz="2025" b="0">
                <a:solidFill>
                  <a:srgbClr val="172B3A"/>
                </a:solidFill>
                <a:latin typeface="Helvetica Neue"/>
                <a:ea typeface="Helvetica Neue"/>
                <a:cs typeface="Helvetica Neue"/>
              </a:rPr>
              <a:t>--model.repo_or_path=</a:t>
            </a:r>
          </a:p>
          <a:p xmlns:a="http://schemas.openxmlformats.org/drawingml/2006/main">
            <a:pPr algn="l">
              <a:defRPr sz="2025" b="0">
                <a:solidFill>
                  <a:srgbClr val="172B3A"/>
                </a:solidFill>
                <a:latin typeface="Helvetica Neue"/>
                <a:ea typeface="Helvetica Neue"/>
                <a:cs typeface="Helvetica Neue"/>
              </a:defRPr>
            </a:pPr>
            <a:r>
              <a:rPr sz="2025" b="0">
                <a:solidFill>
                  <a:srgbClr val="172B3A"/>
                </a:solidFill>
                <a:latin typeface="Helvetica Neue"/>
                <a:ea typeface="Helvetica Neue"/>
                <a:cs typeface="Helvetica Neue"/>
              </a:rPr>
              <a:t>  maximellerbach/omx_pickandplace_act</a:t>
            </a:r>
          </a:p>
        </p:txBody>
      </p:sp>
      <p:sp>
        <p:nvSpPr>
          <p:cNvPr id="5" name="">
            <a:extLst xmlns:a="http://schemas.openxmlformats.org/drawingml/2006/main">
              <a:ext uri="{FF2B5EF4-FFF2-40B4-BE49-F238E27FC236}">
                <a16:creationId xmlns:a16="http://schemas.microsoft.com/office/drawing/2014/main" id="{9D4FF968-3865-4560-9414-7A6E71A46B8A}"/>
              </a:ext>
            </a:extLst>
          </p:cNvPr>
          <p:cNvSpPr>
            <a:spLocks xmlns:a="http://schemas.openxmlformats.org/drawingml/2006/main" noGrp="1"/>
          </p:cNvSpPr>
          <p:nvPr/>
        </p:nvSpPr>
        <p:spPr>
          <a:xfrm xmlns:a="http://schemas.openxmlformats.org/drawingml/2006/main">
            <a:off x="609600" y="4552950"/>
            <a:ext cx="552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67C63"/>
                </a:solidFill>
                <a:latin typeface="Helvetica Neue"/>
                <a:ea typeface="Helvetica Neue"/>
                <a:cs typeface="Helvetica Neue"/>
              </a:defRPr>
            </a:pPr>
            <a:r>
              <a:rPr sz="2250" b="1">
                <a:solidFill>
                  <a:srgbClr val="267C63"/>
                </a:solidFill>
                <a:latin typeface="Helvetica Neue"/>
                <a:ea typeface="Helvetica Neue"/>
                <a:cs typeface="Helvetica Neue"/>
              </a:rPr>
              <a:t>Selects and loads the model</a:t>
            </a:r>
          </a:p>
        </p:txBody>
      </p:sp>
      <p:sp>
        <p:nvSpPr>
          <p:cNvPr id="6" name="">
            <a:extLst xmlns:a="http://schemas.openxmlformats.org/drawingml/2006/main">
              <a:ext uri="{FF2B5EF4-FFF2-40B4-BE49-F238E27FC236}">
                <a16:creationId xmlns:a16="http://schemas.microsoft.com/office/drawing/2014/main" id="{8C6BBE48-94BA-4DA0-9D41-9A570C0D37A9}"/>
              </a:ext>
            </a:extLst>
          </p:cNvPr>
          <p:cNvSpPr>
            <a:spLocks xmlns:a="http://schemas.openxmlformats.org/drawingml/2006/main" noGrp="1"/>
          </p:cNvSpPr>
          <p:nvPr/>
        </p:nvSpPr>
        <p:spPr>
          <a:xfrm xmlns:a="http://schemas.openxmlformats.org/drawingml/2006/main">
            <a:off x="7381875" y="1571625"/>
            <a:ext cx="414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7B9F"/>
                </a:solidFill>
                <a:latin typeface="Helvetica Neue"/>
                <a:ea typeface="Helvetica Neue"/>
                <a:cs typeface="Helvetica Neue"/>
              </a:defRPr>
            </a:pPr>
            <a:r>
              <a:rPr sz="2400" b="1">
                <a:solidFill>
                  <a:srgbClr val="177B9F"/>
                </a:solidFill>
                <a:latin typeface="Helvetica Neue"/>
                <a:ea typeface="Helvetica Neue"/>
                <a:cs typeface="Helvetica Neue"/>
              </a:rPr>
              <a:t>Client</a:t>
            </a:r>
          </a:p>
        </p:txBody>
      </p:sp>
      <p:sp>
        <p:nvSpPr>
          <p:cNvPr id="7" name="">
            <a:extLst xmlns:a="http://schemas.openxmlformats.org/drawingml/2006/main">
              <a:ext uri="{FF2B5EF4-FFF2-40B4-BE49-F238E27FC236}">
                <a16:creationId xmlns:a16="http://schemas.microsoft.com/office/drawing/2014/main" id="{26A29E4F-08D2-4502-9CB7-2C577FAE3D00}"/>
              </a:ext>
            </a:extLst>
          </p:cNvPr>
          <p:cNvSpPr>
            <a:spLocks xmlns:a="http://schemas.openxmlformats.org/drawingml/2006/main" noGrp="1"/>
          </p:cNvSpPr>
          <p:nvPr/>
        </p:nvSpPr>
        <p:spPr>
          <a:xfrm xmlns:a="http://schemas.openxmlformats.org/drawingml/2006/main">
            <a:off x="7381875" y="2286000"/>
            <a:ext cx="4238625"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72B3A"/>
                </a:solidFill>
                <a:latin typeface="Helvetica Neue"/>
                <a:ea typeface="Helvetica Neue"/>
                <a:cs typeface="Helvetica Neue"/>
              </a:defRPr>
            </a:pPr>
            <a:r>
              <a:rPr sz="1875" b="0">
                <a:solidFill>
                  <a:srgbClr val="172B3A"/>
                </a:solidFill>
                <a:latin typeface="Helvetica Neue"/>
                <a:ea typeface="Helvetica Neue"/>
                <a:cs typeface="Helvetica Neue"/>
              </a:rPr>
              <a:t>lerobot-rollout</a:t>
            </a:r>
          </a:p>
          <a:p xmlns:a="http://schemas.openxmlformats.org/drawingml/2006/main">
            <a:pPr algn="l">
              <a:defRPr sz="1875" b="0">
                <a:solidFill>
                  <a:srgbClr val="172B3A"/>
                </a:solidFill>
                <a:latin typeface="Helvetica Neue"/>
                <a:ea typeface="Helvetica Neue"/>
                <a:cs typeface="Helvetica Neue"/>
              </a:defRPr>
            </a:pPr>
            <a:r>
              <a:rPr sz="1875" b="0">
                <a:solidFill>
                  <a:srgbClr val="172B3A"/>
                </a:solidFill>
                <a:latin typeface="Helvetica Neue"/>
                <a:ea typeface="Helvetica Neue"/>
                <a:cs typeface="Helvetica Neue"/>
              </a:rPr>
              <a:t>--inference.type=remote</a:t>
            </a:r>
          </a:p>
          <a:p xmlns:a="http://schemas.openxmlformats.org/drawingml/2006/main">
            <a:pPr algn="l">
              <a:defRPr sz="1875" b="0">
                <a:solidFill>
                  <a:srgbClr val="172B3A"/>
                </a:solidFill>
                <a:latin typeface="Helvetica Neue"/>
                <a:ea typeface="Helvetica Neue"/>
                <a:cs typeface="Helvetica Neue"/>
              </a:defRPr>
            </a:pPr>
            <a:r>
              <a:rPr sz="1875" b="0">
                <a:solidFill>
                  <a:srgbClr val="172B3A"/>
                </a:solidFill>
                <a:latin typeface="Helvetica Neue"/>
                <a:ea typeface="Helvetica Neue"/>
                <a:cs typeface="Helvetica Neue"/>
              </a:rPr>
              <a:t>--inference.deployment=omx-act</a:t>
            </a:r>
          </a:p>
          <a:p xmlns:a="http://schemas.openxmlformats.org/drawingml/2006/main">
            <a:pPr algn="l">
              <a:defRPr sz="1875" b="0">
                <a:solidFill>
                  <a:srgbClr val="172B3A"/>
                </a:solidFill>
                <a:latin typeface="Helvetica Neue"/>
                <a:ea typeface="Helvetica Neue"/>
                <a:cs typeface="Helvetica Neue"/>
              </a:defRPr>
            </a:pPr>
            <a:r>
              <a:rPr sz="1875" b="0">
                <a:solidFill>
                  <a:srgbClr val="172B3A"/>
                </a:solidFill>
                <a:latin typeface="Helvetica Neue"/>
                <a:ea typeface="Helvetica Neue"/>
                <a:cs typeface="Helvetica Neue"/>
              </a:rPr>
              <a:t>--inference.chunk_merge=append</a:t>
            </a:r>
          </a:p>
          <a:p xmlns:a="http://schemas.openxmlformats.org/drawingml/2006/main">
            <a:pPr algn="l">
              <a:defRPr sz="1875" b="0">
                <a:solidFill>
                  <a:srgbClr val="172B3A"/>
                </a:solidFill>
                <a:latin typeface="Helvetica Neue"/>
                <a:ea typeface="Helvetica Neue"/>
                <a:cs typeface="Helvetica Neue"/>
              </a:defRPr>
            </a:pPr>
            <a:r>
              <a:rPr sz="1875" b="0">
                <a:solidFill>
                  <a:srgbClr val="172B3A"/>
                </a:solidFill>
                <a:latin typeface="Helvetica Neue"/>
                <a:ea typeface="Helvetica Neue"/>
                <a:cs typeface="Helvetica Neue"/>
              </a:rPr>
              <a:t>--inference.refill_seconds=0.1</a:t>
            </a:r>
          </a:p>
        </p:txBody>
      </p:sp>
      <p:sp>
        <p:nvSpPr>
          <p:cNvPr id="8" name="">
            <a:extLst xmlns:a="http://schemas.openxmlformats.org/drawingml/2006/main">
              <a:ext uri="{FF2B5EF4-FFF2-40B4-BE49-F238E27FC236}">
                <a16:creationId xmlns:a16="http://schemas.microsoft.com/office/drawing/2014/main" id="{B35848C2-3C09-4899-B201-BC687E3C71C1}"/>
              </a:ext>
            </a:extLst>
          </p:cNvPr>
          <p:cNvSpPr>
            <a:spLocks xmlns:a="http://schemas.openxmlformats.org/drawingml/2006/main" noGrp="1"/>
          </p:cNvSpPr>
          <p:nvPr/>
        </p:nvSpPr>
        <p:spPr>
          <a:xfrm xmlns:a="http://schemas.openxmlformats.org/drawingml/2006/main">
            <a:off x="7381875" y="4714875"/>
            <a:ext cx="4238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77B9F"/>
                </a:solidFill>
                <a:latin typeface="Helvetica Neue"/>
                <a:ea typeface="Helvetica Neue"/>
                <a:cs typeface="Helvetica Neue"/>
              </a:defRPr>
            </a:pPr>
            <a:r>
              <a:rPr sz="2100" b="1">
                <a:solidFill>
                  <a:srgbClr val="177B9F"/>
                </a:solidFill>
                <a:latin typeface="Helvetica Neue"/>
                <a:ea typeface="Helvetica Neue"/>
                <a:cs typeface="Helvetica Neue"/>
              </a:rPr>
              <a:t>Owns robot and camera settings</a:t>
            </a:r>
          </a:p>
        </p:txBody>
      </p:sp>
      <p:sp>
        <p:nvSpPr>
          <p:cNvPr id="9" name="">
            <a:extLst xmlns:a="http://schemas.openxmlformats.org/drawingml/2006/main">
              <a:ext uri="{FF2B5EF4-FFF2-40B4-BE49-F238E27FC236}">
                <a16:creationId xmlns:a16="http://schemas.microsoft.com/office/drawing/2014/main" id="{CAA639B6-FB88-4183-9CBB-AFFEB02272B0}"/>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Excerpts only. Endpoint, semantics, hold mode and hardware arguments are also required.</a:t>
            </a:r>
          </a:p>
        </p:txBody>
      </p:sp>
    </p:spTree>
    <p:extLst>
      <p:ext uri="{BB962C8B-B14F-4D97-AF65-F5344CB8AC3E}">
        <p14:creationId xmlns:p14="http://schemas.microsoft.com/office/powerpoint/2010/main" val="77155617"/>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0FAAB58-7CF6-4E44-9772-5B28001B94E6}"/>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Two loops share an action buffer</a:t>
            </a:r>
          </a:p>
        </p:txBody>
      </p:sp>
      <p:sp>
        <p:nvSpPr>
          <p:cNvPr id="2" name="">
            <a:extLst xmlns:a="http://schemas.openxmlformats.org/drawingml/2006/main">
              <a:ext uri="{FF2B5EF4-FFF2-40B4-BE49-F238E27FC236}">
                <a16:creationId xmlns:a16="http://schemas.microsoft.com/office/drawing/2014/main" id="{D5641BA1-D3FB-4A27-B9DF-B8748FDC0919}"/>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CDAD37C5-31AD-460A-9519-7B7AF26F409F}"/>
              </a:ext>
            </a:extLst>
          </p:cNvPr>
          <p:cNvSpPr>
            <a:spLocks xmlns:a="http://schemas.openxmlformats.org/drawingml/2006/main" noGrp="1"/>
          </p:cNvSpPr>
          <p:nvPr/>
        </p:nvSpPr>
        <p:spPr>
          <a:xfrm xmlns:a="http://schemas.openxmlformats.org/drawingml/2006/main">
            <a:off x="609600" y="165735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7B9F"/>
                </a:solidFill>
                <a:latin typeface="Helvetica Neue"/>
                <a:ea typeface="Helvetica Neue"/>
                <a:cs typeface="Helvetica Neue"/>
              </a:defRPr>
            </a:pPr>
            <a:r>
              <a:rPr sz="2250" b="1">
                <a:solidFill>
                  <a:srgbClr val="177B9F"/>
                </a:solidFill>
                <a:latin typeface="Helvetica Neue"/>
                <a:ea typeface="Helvetica Neue"/>
                <a:cs typeface="Helvetica Neue"/>
              </a:rPr>
              <a:t>Control loop</a:t>
            </a:r>
          </a:p>
        </p:txBody>
      </p:sp>
      <p:sp>
        <p:nvSpPr>
          <p:cNvPr id="4" name="">
            <a:extLst xmlns:a="http://schemas.openxmlformats.org/drawingml/2006/main">
              <a:ext uri="{FF2B5EF4-FFF2-40B4-BE49-F238E27FC236}">
                <a16:creationId xmlns:a16="http://schemas.microsoft.com/office/drawing/2014/main" id="{28579C7A-F2A0-4A80-B699-EE50B18B0A28}"/>
              </a:ext>
            </a:extLst>
          </p:cNvPr>
          <p:cNvSpPr>
            <a:spLocks xmlns:a="http://schemas.openxmlformats.org/drawingml/2006/main" noGrp="1"/>
          </p:cNvSpPr>
          <p:nvPr/>
        </p:nvSpPr>
        <p:spPr>
          <a:xfrm xmlns:a="http://schemas.openxmlformats.org/drawingml/2006/main">
            <a:off x="609600" y="2457450"/>
            <a:ext cx="2381250" cy="85725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172B3A"/>
                </a:solidFill>
                <a:latin typeface="Helvetica Neue"/>
                <a:ea typeface="Helvetica Neue"/>
                <a:cs typeface="Helvetica Neue"/>
              </a:defRPr>
            </a:pPr>
            <a:r>
              <a:rPr sz="1950">
                <a:solidFill>
                  <a:srgbClr val="172B3A"/>
                </a:solidFill>
                <a:latin typeface="Helvetica Neue"/>
                <a:ea typeface="Helvetica Neue"/>
                <a:cs typeface="Helvetica Neue"/>
              </a:rPr>
              <a:t>Read robot</a:t>
            </a:r>
          </a:p>
        </p:txBody>
      </p:sp>
      <p:sp>
        <p:nvSpPr>
          <p:cNvPr id="5" name="">
            <a:extLst xmlns:a="http://schemas.openxmlformats.org/drawingml/2006/main">
              <a:ext uri="{FF2B5EF4-FFF2-40B4-BE49-F238E27FC236}">
                <a16:creationId xmlns:a16="http://schemas.microsoft.com/office/drawing/2014/main" id="{DAEB8868-27BF-4DA3-9B86-C9DB8ED91152}"/>
              </a:ext>
            </a:extLst>
          </p:cNvPr>
          <p:cNvSpPr>
            <a:spLocks xmlns:a="http://schemas.openxmlformats.org/drawingml/2006/main" noGrp="1"/>
          </p:cNvSpPr>
          <p:nvPr/>
        </p:nvSpPr>
        <p:spPr>
          <a:xfrm xmlns:a="http://schemas.openxmlformats.org/drawingml/2006/main">
            <a:off x="3695700" y="2457450"/>
            <a:ext cx="3190875" cy="85725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172B3A"/>
                </a:solidFill>
                <a:latin typeface="Helvetica Neue"/>
                <a:ea typeface="Helvetica Neue"/>
                <a:cs typeface="Helvetica Neue"/>
              </a:defRPr>
            </a:pPr>
            <a:r>
              <a:rPr sz="1950">
                <a:solidFill>
                  <a:srgbClr val="172B3A"/>
                </a:solidFill>
                <a:latin typeface="Helvetica Neue"/>
                <a:ea typeface="Helvetica Neue"/>
                <a:cs typeface="Helvetica Neue"/>
              </a:rPr>
              <a:t>Latest observation</a:t>
            </a:r>
          </a:p>
        </p:txBody>
      </p:sp>
      <p:sp>
        <p:nvSpPr>
          <p:cNvPr id="6" name="">
            <a:extLst xmlns:a="http://schemas.openxmlformats.org/drawingml/2006/main">
              <a:ext uri="{FF2B5EF4-FFF2-40B4-BE49-F238E27FC236}">
                <a16:creationId xmlns:a16="http://schemas.microsoft.com/office/drawing/2014/main" id="{9F12E225-FED7-45B3-8BE2-687DF823E7C2}"/>
              </a:ext>
            </a:extLst>
          </p:cNvPr>
          <p:cNvSpPr>
            <a:spLocks xmlns:a="http://schemas.openxmlformats.org/drawingml/2006/main" noGrp="1"/>
          </p:cNvSpPr>
          <p:nvPr/>
        </p:nvSpPr>
        <p:spPr>
          <a:xfrm xmlns:a="http://schemas.openxmlformats.org/drawingml/2006/main">
            <a:off x="7762875" y="2457450"/>
            <a:ext cx="3619500" cy="85725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172B3A"/>
                </a:solidFill>
                <a:latin typeface="Helvetica Neue"/>
                <a:ea typeface="Helvetica Neue"/>
                <a:cs typeface="Helvetica Neue"/>
              </a:defRPr>
            </a:pPr>
            <a:r>
              <a:rPr sz="1950">
                <a:solidFill>
                  <a:srgbClr val="172B3A"/>
                </a:solidFill>
                <a:latin typeface="Helvetica Neue"/>
                <a:ea typeface="Helvetica Neue"/>
                <a:cs typeface="Helvetica Neue"/>
              </a:rPr>
              <a:t>Dispatch next target</a:t>
            </a:r>
          </a:p>
        </p:txBody>
      </p: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2990850" y="2886075"/>
            <a:ext cx="704850" cy="0"/>
          </a:xfrm>
          <a:prstGeom xmlns:a="http://schemas.openxmlformats.org/drawingml/2006/main" prst="straightConnector1">
            <a:avLst/>
          </a:prstGeom>
          <a:ln xmlns:a="http://schemas.openxmlformats.org/drawingml/2006/main" w="19050">
            <a:solidFill>
              <a:srgbClr val="526777"/>
            </a:solidFill>
            <a:tailEnd type="triangle" w="sm" len="sm"/>
          </a:ln>
        </p:spPr>
      </p:cxn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6886575" y="2886075"/>
            <a:ext cx="876300" cy="0"/>
          </a:xfrm>
          <a:prstGeom xmlns:a="http://schemas.openxmlformats.org/drawingml/2006/main" prst="straightConnector1">
            <a:avLst/>
          </a:prstGeom>
          <a:ln xmlns:a="http://schemas.openxmlformats.org/drawingml/2006/main" w="19050">
            <a:solidFill>
              <a:srgbClr val="526777"/>
            </a:solidFill>
            <a:tailEnd type="triangle" w="sm" len="sm"/>
          </a:ln>
        </p:spPr>
      </p:cxnSp>
      <p:sp>
        <p:nvSpPr>
          <p:cNvPr id="9" name="">
            <a:extLst xmlns:a="http://schemas.openxmlformats.org/drawingml/2006/main">
              <a:ext uri="{FF2B5EF4-FFF2-40B4-BE49-F238E27FC236}">
                <a16:creationId xmlns:a16="http://schemas.microsoft.com/office/drawing/2014/main" id="{5EE4633A-7A65-4A47-9F49-1CCC6C29E9A5}"/>
              </a:ext>
            </a:extLst>
          </p:cNvPr>
          <p:cNvSpPr>
            <a:spLocks xmlns:a="http://schemas.openxmlformats.org/drawingml/2006/main" noGrp="1"/>
          </p:cNvSpPr>
          <p:nvPr/>
        </p:nvSpPr>
        <p:spPr>
          <a:xfrm xmlns:a="http://schemas.openxmlformats.org/drawingml/2006/main">
            <a:off x="609600" y="40671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67C63"/>
                </a:solidFill>
                <a:latin typeface="Helvetica Neue"/>
                <a:ea typeface="Helvetica Neue"/>
                <a:cs typeface="Helvetica Neue"/>
              </a:defRPr>
            </a:pPr>
            <a:r>
              <a:rPr sz="2250" b="1">
                <a:solidFill>
                  <a:srgbClr val="267C63"/>
                </a:solidFill>
                <a:latin typeface="Helvetica Neue"/>
                <a:ea typeface="Helvetica Neue"/>
                <a:cs typeface="Helvetica Neue"/>
              </a:rPr>
              <a:t>Background worker</a:t>
            </a:r>
          </a:p>
        </p:txBody>
      </p:sp>
      <p:sp>
        <p:nvSpPr>
          <p:cNvPr id="10" name="">
            <a:extLst xmlns:a="http://schemas.openxmlformats.org/drawingml/2006/main">
              <a:ext uri="{FF2B5EF4-FFF2-40B4-BE49-F238E27FC236}">
                <a16:creationId xmlns:a16="http://schemas.microsoft.com/office/drawing/2014/main" id="{E1F13F68-6EE7-4785-9A07-86755873E831}"/>
              </a:ext>
            </a:extLst>
          </p:cNvPr>
          <p:cNvSpPr>
            <a:spLocks xmlns:a="http://schemas.openxmlformats.org/drawingml/2006/main" noGrp="1"/>
          </p:cNvSpPr>
          <p:nvPr/>
        </p:nvSpPr>
        <p:spPr>
          <a:xfrm xmlns:a="http://schemas.openxmlformats.org/drawingml/2006/main">
            <a:off x="609600" y="4762500"/>
            <a:ext cx="3143250" cy="790575"/>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172B3A"/>
                </a:solidFill>
                <a:latin typeface="Helvetica Neue"/>
                <a:ea typeface="Helvetica Neue"/>
                <a:cs typeface="Helvetica Neue"/>
              </a:defRPr>
            </a:pPr>
            <a:r>
              <a:rPr sz="1950">
                <a:solidFill>
                  <a:srgbClr val="172B3A"/>
                </a:solidFill>
                <a:latin typeface="Helvetica Neue"/>
                <a:ea typeface="Helvetica Neue"/>
                <a:cs typeface="Helvetica Neue"/>
              </a:rPr>
              <a:t>Request + infer</a:t>
            </a:r>
          </a:p>
        </p:txBody>
      </p:sp>
      <p:sp>
        <p:nvSpPr>
          <p:cNvPr id="11" name="">
            <a:extLst xmlns:a="http://schemas.openxmlformats.org/drawingml/2006/main">
              <a:ext uri="{FF2B5EF4-FFF2-40B4-BE49-F238E27FC236}">
                <a16:creationId xmlns:a16="http://schemas.microsoft.com/office/drawing/2014/main" id="{1B24EA01-1168-4D5E-8DBC-CD528114F052}"/>
              </a:ext>
            </a:extLst>
          </p:cNvPr>
          <p:cNvSpPr>
            <a:spLocks xmlns:a="http://schemas.openxmlformats.org/drawingml/2006/main" noGrp="1"/>
          </p:cNvSpPr>
          <p:nvPr/>
        </p:nvSpPr>
        <p:spPr>
          <a:xfrm xmlns:a="http://schemas.openxmlformats.org/drawingml/2006/main">
            <a:off x="4695825" y="4762500"/>
            <a:ext cx="3143250" cy="790575"/>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172B3A"/>
                </a:solidFill>
                <a:latin typeface="Helvetica Neue"/>
                <a:ea typeface="Helvetica Neue"/>
                <a:cs typeface="Helvetica Neue"/>
              </a:defRPr>
            </a:pPr>
            <a:r>
              <a:rPr sz="1950">
                <a:solidFill>
                  <a:srgbClr val="172B3A"/>
                </a:solidFill>
                <a:latin typeface="Helvetica Neue"/>
                <a:ea typeface="Helvetica Neue"/>
                <a:cs typeface="Helvetica Neue"/>
              </a:rPr>
              <a:t>Accept + merge</a:t>
            </a:r>
          </a:p>
        </p:txBody>
      </p:sp>
      <p:sp>
        <p:nvSpPr>
          <p:cNvPr id="12" name="">
            <a:extLst xmlns:a="http://schemas.openxmlformats.org/drawingml/2006/main">
              <a:ext uri="{FF2B5EF4-FFF2-40B4-BE49-F238E27FC236}">
                <a16:creationId xmlns:a16="http://schemas.microsoft.com/office/drawing/2014/main" id="{BF27C188-6522-4268-8484-00FFAB0C6ACC}"/>
              </a:ext>
            </a:extLst>
          </p:cNvPr>
          <p:cNvSpPr>
            <a:spLocks xmlns:a="http://schemas.openxmlformats.org/drawingml/2006/main" noGrp="1"/>
          </p:cNvSpPr>
          <p:nvPr/>
        </p:nvSpPr>
        <p:spPr>
          <a:xfrm xmlns:a="http://schemas.openxmlformats.org/drawingml/2006/main">
            <a:off x="8696325" y="4762500"/>
            <a:ext cx="2686050" cy="790575"/>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172B3A"/>
                </a:solidFill>
                <a:latin typeface="Helvetica Neue"/>
                <a:ea typeface="Helvetica Neue"/>
                <a:cs typeface="Helvetica Neue"/>
              </a:defRPr>
            </a:pPr>
            <a:r>
              <a:rPr sz="1950">
                <a:solidFill>
                  <a:srgbClr val="172B3A"/>
                </a:solidFill>
                <a:latin typeface="Helvetica Neue"/>
                <a:ea typeface="Helvetica Neue"/>
                <a:cs typeface="Helvetica Neue"/>
              </a:rPr>
              <a:t>Action buffer</a:t>
            </a:r>
          </a:p>
        </p:txBody>
      </p:sp>
      <p:cxnSp>
        <p:nvCxnSpPr>
          <p:cNvPr id="29" name=""/>
          <p:cNvCxnSpPr>
            <a:stCxn xmlns:a="http://schemas.openxmlformats.org/drawingml/2006/main" id="10" idx="3"/>
            <a:endCxn xmlns:a="http://schemas.openxmlformats.org/drawingml/2006/main" id="11" idx="1"/>
          </p:cNvCxnSpPr>
          <p:nvPr/>
        </p:nvCxnSpPr>
        <p:spPr>
          <a:xfrm xmlns:a="http://schemas.openxmlformats.org/drawingml/2006/main">
            <a:off x="3752850" y="5157788"/>
            <a:ext cx="942975" cy="0"/>
          </a:xfrm>
          <a:prstGeom xmlns:a="http://schemas.openxmlformats.org/drawingml/2006/main" prst="straightConnector1">
            <a:avLst/>
          </a:prstGeom>
          <a:ln xmlns:a="http://schemas.openxmlformats.org/drawingml/2006/main" w="19050">
            <a:solidFill>
              <a:srgbClr val="526777"/>
            </a:solidFill>
            <a:tailEnd type="triangle" w="sm" len="sm"/>
          </a:ln>
        </p:spPr>
      </p:cxnSp>
      <p:cxnSp>
        <p:nvCxnSpPr>
          <p:cNvPr id="30" name=""/>
          <p:cNvCxnSpPr>
            <a:stCxn xmlns:a="http://schemas.openxmlformats.org/drawingml/2006/main" id="11" idx="3"/>
            <a:endCxn xmlns:a="http://schemas.openxmlformats.org/drawingml/2006/main" id="12" idx="1"/>
          </p:cNvCxnSpPr>
          <p:nvPr/>
        </p:nvCxnSpPr>
        <p:spPr>
          <a:xfrm xmlns:a="http://schemas.openxmlformats.org/drawingml/2006/main">
            <a:off x="7839075" y="5157788"/>
            <a:ext cx="857250" cy="0"/>
          </a:xfrm>
          <a:prstGeom xmlns:a="http://schemas.openxmlformats.org/drawingml/2006/main" prst="straightConnector1">
            <a:avLst/>
          </a:prstGeom>
          <a:ln xmlns:a="http://schemas.openxmlformats.org/drawingml/2006/main" w="19050">
            <a:solidFill>
              <a:srgbClr val="526777"/>
            </a:solidFill>
            <a:tailEnd type="triangle" w="sm" len="sm"/>
          </a:ln>
        </p:spPr>
      </p:cxnSp>
      <p:cxnSp>
        <p:nvCxnSpPr>
          <p:cNvPr id="31" name=""/>
          <p:cNvCxnSpPr>
            <a:stCxn xmlns:a="http://schemas.openxmlformats.org/drawingml/2006/main" id="12" idx="0"/>
            <a:endCxn xmlns:a="http://schemas.openxmlformats.org/drawingml/2006/main" id="6" idx="2"/>
          </p:cNvCxnSpPr>
          <p:nvPr/>
        </p:nvCxnSpPr>
        <p:spPr>
          <a:xfrm xmlns:a="http://schemas.openxmlformats.org/drawingml/2006/main" flipH="1" flipV="1">
            <a:off x="9572625" y="3314700"/>
            <a:ext cx="466725" cy="1447800"/>
          </a:xfrm>
          <a:prstGeom xmlns:a="http://schemas.openxmlformats.org/drawingml/2006/main" prst="straightConnector1">
            <a:avLst/>
          </a:prstGeom>
          <a:ln xmlns:a="http://schemas.openxmlformats.org/drawingml/2006/main" w="19050">
            <a:solidFill>
              <a:srgbClr val="526777"/>
            </a:solidFill>
            <a:tailEnd type="triangle" w="sm" len="sm"/>
          </a:ln>
        </p:spPr>
      </p:cxnSp>
      <p:sp>
        <p:nvSpPr>
          <p:cNvPr id="16" name="">
            <a:extLst xmlns:a="http://schemas.openxmlformats.org/drawingml/2006/main">
              <a:ext uri="{FF2B5EF4-FFF2-40B4-BE49-F238E27FC236}">
                <a16:creationId xmlns:a16="http://schemas.microsoft.com/office/drawing/2014/main" id="{8E7D5C28-3831-42E7-B3C5-BC4D9B763804}"/>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30 policy actions at 30 Hz cover 1 second of motion.</a:t>
            </a:r>
          </a:p>
        </p:txBody>
      </p:sp>
    </p:spTree>
    <p:extLst>
      <p:ext uri="{BB962C8B-B14F-4D97-AF65-F5344CB8AC3E}">
        <p14:creationId xmlns:p14="http://schemas.microsoft.com/office/powerpoint/2010/main" val="1826379342"/>
      </p:ext>
    </p:extLst>
  </p:cSld>
</p:sld>
</file>

<file path=ppt/slides/slide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9D37EE7-8738-4884-B8DB-B47E3BEE99CB}"/>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Four decisions shape the motion</a:t>
            </a:r>
          </a:p>
        </p:txBody>
      </p:sp>
      <p:sp>
        <p:nvSpPr>
          <p:cNvPr id="2" name="">
            <a:extLst xmlns:a="http://schemas.openxmlformats.org/drawingml/2006/main">
              <a:ext uri="{FF2B5EF4-FFF2-40B4-BE49-F238E27FC236}">
                <a16:creationId xmlns:a16="http://schemas.microsoft.com/office/drawing/2014/main" id="{F6DE082C-C031-4DEF-9561-E1ADD3C87BD5}"/>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E98A388F-F84A-4560-A588-43B662385A2E}"/>
              </a:ext>
            </a:extLst>
          </p:cNvPr>
          <p:cNvSpPr>
            <a:spLocks xmlns:a="http://schemas.openxmlformats.org/drawingml/2006/main" noGrp="1"/>
          </p:cNvSpPr>
          <p:nvPr/>
        </p:nvSpPr>
        <p:spPr>
          <a:xfrm xmlns:a="http://schemas.openxmlformats.org/drawingml/2006/main">
            <a:off x="609600" y="16478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7B9F"/>
                </a:solidFill>
                <a:latin typeface="Helvetica Neue"/>
                <a:ea typeface="Helvetica Neue"/>
                <a:cs typeface="Helvetica Neue"/>
              </a:defRPr>
            </a:pPr>
            <a:r>
              <a:rPr sz="2400" b="1">
                <a:solidFill>
                  <a:srgbClr val="177B9F"/>
                </a:solidFill>
                <a:latin typeface="Helvetica Neue"/>
                <a:ea typeface="Helvetica Neue"/>
                <a:cs typeface="Helvetica Neue"/>
              </a:rPr>
              <a:t>Request timing</a:t>
            </a:r>
          </a:p>
        </p:txBody>
      </p:sp>
      <p:sp>
        <p:nvSpPr>
          <p:cNvPr id="4" name="">
            <a:extLst xmlns:a="http://schemas.openxmlformats.org/drawingml/2006/main">
              <a:ext uri="{FF2B5EF4-FFF2-40B4-BE49-F238E27FC236}">
                <a16:creationId xmlns:a16="http://schemas.microsoft.com/office/drawing/2014/main" id="{6423ADB5-A685-40D7-B2B9-CE21CD2018FD}"/>
              </a:ext>
            </a:extLst>
          </p:cNvPr>
          <p:cNvSpPr>
            <a:spLocks xmlns:a="http://schemas.openxmlformats.org/drawingml/2006/main" noGrp="1"/>
          </p:cNvSpPr>
          <p:nvPr/>
        </p:nvSpPr>
        <p:spPr>
          <a:xfrm xmlns:a="http://schemas.openxmlformats.org/drawingml/2006/main">
            <a:off x="4391025" y="1647825"/>
            <a:ext cx="709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When do we ask for another plan?</a:t>
            </a:r>
          </a:p>
        </p:txBody>
      </p:sp>
      <p:sp>
        <p:nvSpPr>
          <p:cNvPr id="5" name="">
            <a:extLst xmlns:a="http://schemas.openxmlformats.org/drawingml/2006/main">
              <a:ext uri="{FF2B5EF4-FFF2-40B4-BE49-F238E27FC236}">
                <a16:creationId xmlns:a16="http://schemas.microsoft.com/office/drawing/2014/main" id="{299473FA-15B0-421E-BD68-84D5312F2E30}"/>
              </a:ext>
            </a:extLst>
          </p:cNvPr>
          <p:cNvSpPr>
            <a:spLocks xmlns:a="http://schemas.openxmlformats.org/drawingml/2006/main" noGrp="1"/>
          </p:cNvSpPr>
          <p:nvPr/>
        </p:nvSpPr>
        <p:spPr>
          <a:xfrm xmlns:a="http://schemas.openxmlformats.org/drawingml/2006/main">
            <a:off x="609600" y="2390775"/>
            <a:ext cx="10839450" cy="0"/>
          </a:xfrm>
          <a:prstGeom xmlns:a="http://schemas.openxmlformats.org/drawingml/2006/main" prst="line">
            <a:avLst/>
          </a:prstGeom>
          <a:noFill xmlns:a="http://schemas.openxmlformats.org/drawingml/2006/main"/>
          <a:ln xmlns:a="http://schemas.openxmlformats.org/drawingml/2006/main" w="9525">
            <a:solidFill>
              <a:srgbClr val="DEE3E5"/>
            </a:solidFill>
          </a:ln>
        </p:spPr>
      </p:sp>
      <p:sp>
        <p:nvSpPr>
          <p:cNvPr id="6" name="">
            <a:extLst xmlns:a="http://schemas.openxmlformats.org/drawingml/2006/main">
              <a:ext uri="{FF2B5EF4-FFF2-40B4-BE49-F238E27FC236}">
                <a16:creationId xmlns:a16="http://schemas.microsoft.com/office/drawing/2014/main" id="{49A61AA0-CE66-4C0F-9812-9B1025000A56}"/>
              </a:ext>
            </a:extLst>
          </p:cNvPr>
          <p:cNvSpPr>
            <a:spLocks xmlns:a="http://schemas.openxmlformats.org/drawingml/2006/main" noGrp="1"/>
          </p:cNvSpPr>
          <p:nvPr/>
        </p:nvSpPr>
        <p:spPr>
          <a:xfrm xmlns:a="http://schemas.openxmlformats.org/drawingml/2006/main">
            <a:off x="609600" y="26289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7B9F"/>
                </a:solidFill>
                <a:latin typeface="Helvetica Neue"/>
                <a:ea typeface="Helvetica Neue"/>
                <a:cs typeface="Helvetica Neue"/>
              </a:defRPr>
            </a:pPr>
            <a:r>
              <a:rPr sz="2400" b="1">
                <a:solidFill>
                  <a:srgbClr val="177B9F"/>
                </a:solidFill>
                <a:latin typeface="Helvetica Neue"/>
                <a:ea typeface="Helvetica Neue"/>
                <a:cs typeface="Helvetica Neue"/>
              </a:rPr>
              <a:t>Alignment</a:t>
            </a:r>
          </a:p>
        </p:txBody>
      </p:sp>
      <p:sp>
        <p:nvSpPr>
          <p:cNvPr id="7" name="">
            <a:extLst xmlns:a="http://schemas.openxmlformats.org/drawingml/2006/main">
              <a:ext uri="{FF2B5EF4-FFF2-40B4-BE49-F238E27FC236}">
                <a16:creationId xmlns:a16="http://schemas.microsoft.com/office/drawing/2014/main" id="{FAADC452-FD2E-43EE-8D4B-2AF119DFC776}"/>
              </a:ext>
            </a:extLst>
          </p:cNvPr>
          <p:cNvSpPr>
            <a:spLocks xmlns:a="http://schemas.openxmlformats.org/drawingml/2006/main" noGrp="1"/>
          </p:cNvSpPr>
          <p:nvPr/>
        </p:nvSpPr>
        <p:spPr>
          <a:xfrm xmlns:a="http://schemas.openxmlformats.org/drawingml/2006/main">
            <a:off x="4391025" y="2628900"/>
            <a:ext cx="709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Which predicted steps are still eligible?</a:t>
            </a:r>
          </a:p>
        </p:txBody>
      </p:sp>
      <p:sp>
        <p:nvSpPr>
          <p:cNvPr id="8" name="">
            <a:extLst xmlns:a="http://schemas.openxmlformats.org/drawingml/2006/main">
              <a:ext uri="{FF2B5EF4-FFF2-40B4-BE49-F238E27FC236}">
                <a16:creationId xmlns:a16="http://schemas.microsoft.com/office/drawing/2014/main" id="{6EEA8C10-2029-49E0-AFEF-74099B285141}"/>
              </a:ext>
            </a:extLst>
          </p:cNvPr>
          <p:cNvSpPr>
            <a:spLocks xmlns:a="http://schemas.openxmlformats.org/drawingml/2006/main" noGrp="1"/>
          </p:cNvSpPr>
          <p:nvPr/>
        </p:nvSpPr>
        <p:spPr>
          <a:xfrm xmlns:a="http://schemas.openxmlformats.org/drawingml/2006/main">
            <a:off x="609600" y="3371850"/>
            <a:ext cx="10839450" cy="0"/>
          </a:xfrm>
          <a:prstGeom xmlns:a="http://schemas.openxmlformats.org/drawingml/2006/main" prst="line">
            <a:avLst/>
          </a:prstGeom>
          <a:noFill xmlns:a="http://schemas.openxmlformats.org/drawingml/2006/main"/>
          <a:ln xmlns:a="http://schemas.openxmlformats.org/drawingml/2006/main" w="9525">
            <a:solidFill>
              <a:srgbClr val="DEE3E5"/>
            </a:solidFill>
          </a:ln>
        </p:spPr>
      </p:sp>
      <p:sp>
        <p:nvSpPr>
          <p:cNvPr id="9" name="">
            <a:extLst xmlns:a="http://schemas.openxmlformats.org/drawingml/2006/main">
              <a:ext uri="{FF2B5EF4-FFF2-40B4-BE49-F238E27FC236}">
                <a16:creationId xmlns:a16="http://schemas.microsoft.com/office/drawing/2014/main" id="{796B9AD7-1533-49F8-BBD1-5BF418DD744C}"/>
              </a:ext>
            </a:extLst>
          </p:cNvPr>
          <p:cNvSpPr>
            <a:spLocks xmlns:a="http://schemas.openxmlformats.org/drawingml/2006/main" noGrp="1"/>
          </p:cNvSpPr>
          <p:nvPr/>
        </p:nvSpPr>
        <p:spPr>
          <a:xfrm xmlns:a="http://schemas.openxmlformats.org/drawingml/2006/main">
            <a:off x="609600" y="36099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7B9F"/>
                </a:solidFill>
                <a:latin typeface="Helvetica Neue"/>
                <a:ea typeface="Helvetica Neue"/>
                <a:cs typeface="Helvetica Neue"/>
              </a:defRPr>
            </a:pPr>
            <a:r>
              <a:rPr sz="2400" b="1">
                <a:solidFill>
                  <a:srgbClr val="177B9F"/>
                </a:solidFill>
                <a:latin typeface="Helvetica Neue"/>
                <a:ea typeface="Helvetica Neue"/>
                <a:cs typeface="Helvetica Neue"/>
              </a:rPr>
              <a:t>Blending</a:t>
            </a:r>
          </a:p>
        </p:txBody>
      </p:sp>
      <p:sp>
        <p:nvSpPr>
          <p:cNvPr id="10" name="">
            <a:extLst xmlns:a="http://schemas.openxmlformats.org/drawingml/2006/main">
              <a:ext uri="{FF2B5EF4-FFF2-40B4-BE49-F238E27FC236}">
                <a16:creationId xmlns:a16="http://schemas.microsoft.com/office/drawing/2014/main" id="{7DAC503C-827F-4092-A21F-5E4411FA76F4}"/>
              </a:ext>
            </a:extLst>
          </p:cNvPr>
          <p:cNvSpPr>
            <a:spLocks xmlns:a="http://schemas.openxmlformats.org/drawingml/2006/main" noGrp="1"/>
          </p:cNvSpPr>
          <p:nvPr/>
        </p:nvSpPr>
        <p:spPr>
          <a:xfrm xmlns:a="http://schemas.openxmlformats.org/drawingml/2006/main">
            <a:off x="4391025" y="3609975"/>
            <a:ext cx="709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How do overlapping targets combine?</a:t>
            </a:r>
          </a:p>
        </p:txBody>
      </p:sp>
      <p:sp>
        <p:nvSpPr>
          <p:cNvPr id="11" name="">
            <a:extLst xmlns:a="http://schemas.openxmlformats.org/drawingml/2006/main">
              <a:ext uri="{FF2B5EF4-FFF2-40B4-BE49-F238E27FC236}">
                <a16:creationId xmlns:a16="http://schemas.microsoft.com/office/drawing/2014/main" id="{ED758B47-2343-4996-87F9-F7FE22C09E28}"/>
              </a:ext>
            </a:extLst>
          </p:cNvPr>
          <p:cNvSpPr>
            <a:spLocks xmlns:a="http://schemas.openxmlformats.org/drawingml/2006/main" noGrp="1"/>
          </p:cNvSpPr>
          <p:nvPr/>
        </p:nvSpPr>
        <p:spPr>
          <a:xfrm xmlns:a="http://schemas.openxmlformats.org/drawingml/2006/main">
            <a:off x="609600" y="4352925"/>
            <a:ext cx="10839450" cy="0"/>
          </a:xfrm>
          <a:prstGeom xmlns:a="http://schemas.openxmlformats.org/drawingml/2006/main" prst="line">
            <a:avLst/>
          </a:prstGeom>
          <a:noFill xmlns:a="http://schemas.openxmlformats.org/drawingml/2006/main"/>
          <a:ln xmlns:a="http://schemas.openxmlformats.org/drawingml/2006/main" w="9525">
            <a:solidFill>
              <a:srgbClr val="DEE3E5"/>
            </a:solidFill>
          </a:ln>
        </p:spPr>
      </p:sp>
      <p:sp>
        <p:nvSpPr>
          <p:cNvPr id="12" name="">
            <a:extLst xmlns:a="http://schemas.openxmlformats.org/drawingml/2006/main">
              <a:ext uri="{FF2B5EF4-FFF2-40B4-BE49-F238E27FC236}">
                <a16:creationId xmlns:a16="http://schemas.microsoft.com/office/drawing/2014/main" id="{C63C9058-25FD-45FD-8F10-171FC0E93FEE}"/>
              </a:ext>
            </a:extLst>
          </p:cNvPr>
          <p:cNvSpPr>
            <a:spLocks xmlns:a="http://schemas.openxmlformats.org/drawingml/2006/main" noGrp="1"/>
          </p:cNvSpPr>
          <p:nvPr/>
        </p:nvSpPr>
        <p:spPr>
          <a:xfrm xmlns:a="http://schemas.openxmlformats.org/drawingml/2006/main">
            <a:off x="609600" y="45910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267C63"/>
                </a:solidFill>
                <a:latin typeface="Helvetica Neue"/>
                <a:ea typeface="Helvetica Neue"/>
                <a:cs typeface="Helvetica Neue"/>
              </a:defRPr>
            </a:pPr>
            <a:r>
              <a:rPr sz="2400" b="1">
                <a:solidFill>
                  <a:srgbClr val="267C63"/>
                </a:solidFill>
                <a:latin typeface="Helvetica Neue"/>
                <a:ea typeface="Helvetica Neue"/>
                <a:cs typeface="Helvetica Neue"/>
              </a:rPr>
              <a:t>RTC conditioning</a:t>
            </a:r>
          </a:p>
        </p:txBody>
      </p:sp>
      <p:sp>
        <p:nvSpPr>
          <p:cNvPr id="13" name="">
            <a:extLst xmlns:a="http://schemas.openxmlformats.org/drawingml/2006/main">
              <a:ext uri="{FF2B5EF4-FFF2-40B4-BE49-F238E27FC236}">
                <a16:creationId xmlns:a16="http://schemas.microsoft.com/office/drawing/2014/main" id="{4D54F02A-6C91-406C-82FA-A84D39CF8864}"/>
              </a:ext>
            </a:extLst>
          </p:cNvPr>
          <p:cNvSpPr>
            <a:spLocks xmlns:a="http://schemas.openxmlformats.org/drawingml/2006/main" noGrp="1"/>
          </p:cNvSpPr>
          <p:nvPr/>
        </p:nvSpPr>
        <p:spPr>
          <a:xfrm xmlns:a="http://schemas.openxmlformats.org/drawingml/2006/main">
            <a:off x="4391025" y="4591050"/>
            <a:ext cx="709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Does inference use the ongoing trajectory?</a:t>
            </a:r>
          </a:p>
        </p:txBody>
      </p:sp>
      <p:sp>
        <p:nvSpPr>
          <p:cNvPr id="14" name="">
            <a:extLst xmlns:a="http://schemas.openxmlformats.org/drawingml/2006/main">
              <a:ext uri="{FF2B5EF4-FFF2-40B4-BE49-F238E27FC236}">
                <a16:creationId xmlns:a16="http://schemas.microsoft.com/office/drawing/2014/main" id="{33DB4562-E6AD-4ED4-8616-D2D02B8B4D6C}"/>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Each decision can affect task performance. A fresher target is not necessarily a better target.</a:t>
            </a:r>
          </a:p>
        </p:txBody>
      </p:sp>
    </p:spTree>
    <p:extLst>
      <p:ext uri="{BB962C8B-B14F-4D97-AF65-F5344CB8AC3E}">
        <p14:creationId xmlns:p14="http://schemas.microsoft.com/office/powerpoint/2010/main" val="1861724684"/>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CF1A14D-5FEB-40F7-B92D-1B83AEA8CC3E}"/>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Append preserves the remaining plan</a:t>
            </a:r>
          </a:p>
        </p:txBody>
      </p:sp>
      <p:sp>
        <p:nvSpPr>
          <p:cNvPr id="2" name="">
            <a:extLst xmlns:a="http://schemas.openxmlformats.org/drawingml/2006/main">
              <a:ext uri="{FF2B5EF4-FFF2-40B4-BE49-F238E27FC236}">
                <a16:creationId xmlns:a16="http://schemas.microsoft.com/office/drawing/2014/main" id="{4BD2D12A-C870-469B-81F2-EF106D9C2D4D}"/>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A392F012-35DC-4879-8617-AD9C86639782}"/>
              </a:ext>
            </a:extLst>
          </p:cNvPr>
          <p:cNvSpPr>
            <a:spLocks xmlns:a="http://schemas.openxmlformats.org/drawingml/2006/main" noGrp="1"/>
          </p:cNvSpPr>
          <p:nvPr/>
        </p:nvSpPr>
        <p:spPr>
          <a:xfrm xmlns:a="http://schemas.openxmlformats.org/drawingml/2006/main">
            <a:off x="609600" y="18478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72B3A"/>
                </a:solidFill>
                <a:latin typeface="Helvetica Neue"/>
                <a:ea typeface="Helvetica Neue"/>
                <a:cs typeface="Helvetica Neue"/>
              </a:defRPr>
            </a:pPr>
            <a:r>
              <a:rPr sz="2025" b="1">
                <a:solidFill>
                  <a:srgbClr val="172B3A"/>
                </a:solidFill>
                <a:latin typeface="Helvetica Neue"/>
                <a:ea typeface="Helvetica Neue"/>
                <a:cs typeface="Helvetica Neue"/>
              </a:rPr>
              <a:t>Old future</a:t>
            </a:r>
          </a:p>
        </p:txBody>
      </p:sp>
      <p:sp>
        <p:nvSpPr>
          <p:cNvPr id="4" name="">
            <a:extLst xmlns:a="http://schemas.openxmlformats.org/drawingml/2006/main">
              <a:ext uri="{FF2B5EF4-FFF2-40B4-BE49-F238E27FC236}">
                <a16:creationId xmlns:a16="http://schemas.microsoft.com/office/drawing/2014/main" id="{60334150-3AA0-4C87-A126-090BC4CC7B53}"/>
              </a:ext>
            </a:extLst>
          </p:cNvPr>
          <p:cNvSpPr>
            <a:spLocks xmlns:a="http://schemas.openxmlformats.org/drawingml/2006/main" noGrp="1"/>
          </p:cNvSpPr>
          <p:nvPr/>
        </p:nvSpPr>
        <p:spPr>
          <a:xfrm xmlns:a="http://schemas.openxmlformats.org/drawingml/2006/main">
            <a:off x="3143250" y="1733550"/>
            <a:ext cx="800100" cy="60960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O1</a:t>
            </a:r>
          </a:p>
        </p:txBody>
      </p:sp>
      <p:sp>
        <p:nvSpPr>
          <p:cNvPr id="5" name="">
            <a:extLst xmlns:a="http://schemas.openxmlformats.org/drawingml/2006/main">
              <a:ext uri="{FF2B5EF4-FFF2-40B4-BE49-F238E27FC236}">
                <a16:creationId xmlns:a16="http://schemas.microsoft.com/office/drawing/2014/main" id="{79B370C6-98CA-42D4-9C4B-32DB1E43E5F6}"/>
              </a:ext>
            </a:extLst>
          </p:cNvPr>
          <p:cNvSpPr>
            <a:spLocks xmlns:a="http://schemas.openxmlformats.org/drawingml/2006/main" noGrp="1"/>
          </p:cNvSpPr>
          <p:nvPr/>
        </p:nvSpPr>
        <p:spPr>
          <a:xfrm xmlns:a="http://schemas.openxmlformats.org/drawingml/2006/main">
            <a:off x="4038600" y="1733550"/>
            <a:ext cx="800100" cy="60960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O2</a:t>
            </a:r>
          </a:p>
        </p:txBody>
      </p:sp>
      <p:sp>
        <p:nvSpPr>
          <p:cNvPr id="6" name="">
            <a:extLst xmlns:a="http://schemas.openxmlformats.org/drawingml/2006/main">
              <a:ext uri="{FF2B5EF4-FFF2-40B4-BE49-F238E27FC236}">
                <a16:creationId xmlns:a16="http://schemas.microsoft.com/office/drawing/2014/main" id="{6282873C-4E3A-446C-A79B-36B23AE95E53}"/>
              </a:ext>
            </a:extLst>
          </p:cNvPr>
          <p:cNvSpPr>
            <a:spLocks xmlns:a="http://schemas.openxmlformats.org/drawingml/2006/main" noGrp="1"/>
          </p:cNvSpPr>
          <p:nvPr/>
        </p:nvSpPr>
        <p:spPr>
          <a:xfrm xmlns:a="http://schemas.openxmlformats.org/drawingml/2006/main">
            <a:off x="4933950" y="1733550"/>
            <a:ext cx="800100" cy="60960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O3</a:t>
            </a:r>
          </a:p>
        </p:txBody>
      </p:sp>
      <p:sp>
        <p:nvSpPr>
          <p:cNvPr id="7" name="">
            <a:extLst xmlns:a="http://schemas.openxmlformats.org/drawingml/2006/main">
              <a:ext uri="{FF2B5EF4-FFF2-40B4-BE49-F238E27FC236}">
                <a16:creationId xmlns:a16="http://schemas.microsoft.com/office/drawing/2014/main" id="{A8069DBF-C7C0-4448-AD37-E4E98F0DB3AE}"/>
              </a:ext>
            </a:extLst>
          </p:cNvPr>
          <p:cNvSpPr>
            <a:spLocks xmlns:a="http://schemas.openxmlformats.org/drawingml/2006/main" noGrp="1"/>
          </p:cNvSpPr>
          <p:nvPr/>
        </p:nvSpPr>
        <p:spPr>
          <a:xfrm xmlns:a="http://schemas.openxmlformats.org/drawingml/2006/main">
            <a:off x="609600" y="29908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72B3A"/>
                </a:solidFill>
                <a:latin typeface="Helvetica Neue"/>
                <a:ea typeface="Helvetica Neue"/>
                <a:cs typeface="Helvetica Neue"/>
              </a:defRPr>
            </a:pPr>
            <a:r>
              <a:rPr sz="2025" b="1">
                <a:solidFill>
                  <a:srgbClr val="172B3A"/>
                </a:solidFill>
                <a:latin typeface="Helvetica Neue"/>
                <a:ea typeface="Helvetica Neue"/>
                <a:cs typeface="Helvetica Neue"/>
              </a:rPr>
              <a:t>Incoming</a:t>
            </a:r>
          </a:p>
        </p:txBody>
      </p:sp>
      <p:sp>
        <p:nvSpPr>
          <p:cNvPr id="8" name="">
            <a:extLst xmlns:a="http://schemas.openxmlformats.org/drawingml/2006/main">
              <a:ext uri="{FF2B5EF4-FFF2-40B4-BE49-F238E27FC236}">
                <a16:creationId xmlns:a16="http://schemas.microsoft.com/office/drawing/2014/main" id="{F475DA21-3A2A-4BB4-8506-D758EDA4ABA1}"/>
              </a:ext>
            </a:extLst>
          </p:cNvPr>
          <p:cNvSpPr>
            <a:spLocks xmlns:a="http://schemas.openxmlformats.org/drawingml/2006/main" noGrp="1"/>
          </p:cNvSpPr>
          <p:nvPr/>
        </p:nvSpPr>
        <p:spPr>
          <a:xfrm xmlns:a="http://schemas.openxmlformats.org/drawingml/2006/main">
            <a:off x="3143250" y="287655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N1</a:t>
            </a:r>
          </a:p>
        </p:txBody>
      </p:sp>
      <p:sp>
        <p:nvSpPr>
          <p:cNvPr id="9" name="">
            <a:extLst xmlns:a="http://schemas.openxmlformats.org/drawingml/2006/main">
              <a:ext uri="{FF2B5EF4-FFF2-40B4-BE49-F238E27FC236}">
                <a16:creationId xmlns:a16="http://schemas.microsoft.com/office/drawing/2014/main" id="{2628DE0F-755A-4FC4-A8E0-F120225BF7E1}"/>
              </a:ext>
            </a:extLst>
          </p:cNvPr>
          <p:cNvSpPr>
            <a:spLocks xmlns:a="http://schemas.openxmlformats.org/drawingml/2006/main" noGrp="1"/>
          </p:cNvSpPr>
          <p:nvPr/>
        </p:nvSpPr>
        <p:spPr>
          <a:xfrm xmlns:a="http://schemas.openxmlformats.org/drawingml/2006/main">
            <a:off x="4038600" y="287655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N2</a:t>
            </a:r>
          </a:p>
        </p:txBody>
      </p:sp>
      <p:sp>
        <p:nvSpPr>
          <p:cNvPr id="10" name="">
            <a:extLst xmlns:a="http://schemas.openxmlformats.org/drawingml/2006/main">
              <a:ext uri="{FF2B5EF4-FFF2-40B4-BE49-F238E27FC236}">
                <a16:creationId xmlns:a16="http://schemas.microsoft.com/office/drawing/2014/main" id="{5187EBA4-76C5-4D7F-97A7-9CE15E5C51FD}"/>
              </a:ext>
            </a:extLst>
          </p:cNvPr>
          <p:cNvSpPr>
            <a:spLocks xmlns:a="http://schemas.openxmlformats.org/drawingml/2006/main" noGrp="1"/>
          </p:cNvSpPr>
          <p:nvPr/>
        </p:nvSpPr>
        <p:spPr>
          <a:xfrm xmlns:a="http://schemas.openxmlformats.org/drawingml/2006/main">
            <a:off x="4933950" y="287655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N3</a:t>
            </a:r>
          </a:p>
        </p:txBody>
      </p:sp>
      <p:sp>
        <p:nvSpPr>
          <p:cNvPr id="11" name="">
            <a:extLst xmlns:a="http://schemas.openxmlformats.org/drawingml/2006/main">
              <a:ext uri="{FF2B5EF4-FFF2-40B4-BE49-F238E27FC236}">
                <a16:creationId xmlns:a16="http://schemas.microsoft.com/office/drawing/2014/main" id="{DE33B2D9-C5E1-4FD6-A434-4BFBAA68EE85}"/>
              </a:ext>
            </a:extLst>
          </p:cNvPr>
          <p:cNvSpPr>
            <a:spLocks xmlns:a="http://schemas.openxmlformats.org/drawingml/2006/main" noGrp="1"/>
          </p:cNvSpPr>
          <p:nvPr/>
        </p:nvSpPr>
        <p:spPr>
          <a:xfrm xmlns:a="http://schemas.openxmlformats.org/drawingml/2006/main">
            <a:off x="5829300" y="287655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N4</a:t>
            </a:r>
          </a:p>
        </p:txBody>
      </p:sp>
      <p:sp>
        <p:nvSpPr>
          <p:cNvPr id="12" name="">
            <a:extLst xmlns:a="http://schemas.openxmlformats.org/drawingml/2006/main">
              <a:ext uri="{FF2B5EF4-FFF2-40B4-BE49-F238E27FC236}">
                <a16:creationId xmlns:a16="http://schemas.microsoft.com/office/drawing/2014/main" id="{943AB692-884D-4DAA-861F-D352CDB4369A}"/>
              </a:ext>
            </a:extLst>
          </p:cNvPr>
          <p:cNvSpPr>
            <a:spLocks xmlns:a="http://schemas.openxmlformats.org/drawingml/2006/main" noGrp="1"/>
          </p:cNvSpPr>
          <p:nvPr/>
        </p:nvSpPr>
        <p:spPr>
          <a:xfrm xmlns:a="http://schemas.openxmlformats.org/drawingml/2006/main">
            <a:off x="6724650" y="287655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N5</a:t>
            </a:r>
          </a:p>
        </p:txBody>
      </p:sp>
      <p:sp>
        <p:nvSpPr>
          <p:cNvPr id="13" name="">
            <a:extLst xmlns:a="http://schemas.openxmlformats.org/drawingml/2006/main">
              <a:ext uri="{FF2B5EF4-FFF2-40B4-BE49-F238E27FC236}">
                <a16:creationId xmlns:a16="http://schemas.microsoft.com/office/drawing/2014/main" id="{E20A3D07-9330-474D-A463-CCC7E830D526}"/>
              </a:ext>
            </a:extLst>
          </p:cNvPr>
          <p:cNvSpPr>
            <a:spLocks xmlns:a="http://schemas.openxmlformats.org/drawingml/2006/main" noGrp="1"/>
          </p:cNvSpPr>
          <p:nvPr/>
        </p:nvSpPr>
        <p:spPr>
          <a:xfrm xmlns:a="http://schemas.openxmlformats.org/drawingml/2006/main">
            <a:off x="609600" y="43815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72B3A"/>
                </a:solidFill>
                <a:latin typeface="Helvetica Neue"/>
                <a:ea typeface="Helvetica Neue"/>
                <a:cs typeface="Helvetica Neue"/>
              </a:defRPr>
            </a:pPr>
            <a:r>
              <a:rPr sz="2025" b="1">
                <a:solidFill>
                  <a:srgbClr val="172B3A"/>
                </a:solidFill>
                <a:latin typeface="Helvetica Neue"/>
                <a:ea typeface="Helvetica Neue"/>
                <a:cs typeface="Helvetica Neue"/>
              </a:rPr>
              <a:t>After acceptance</a:t>
            </a:r>
          </a:p>
        </p:txBody>
      </p:sp>
      <p:sp>
        <p:nvSpPr>
          <p:cNvPr id="14" name="">
            <a:extLst xmlns:a="http://schemas.openxmlformats.org/drawingml/2006/main">
              <a:ext uri="{FF2B5EF4-FFF2-40B4-BE49-F238E27FC236}">
                <a16:creationId xmlns:a16="http://schemas.microsoft.com/office/drawing/2014/main" id="{9531E678-125B-4477-945F-C96B9FC37A4A}"/>
              </a:ext>
            </a:extLst>
          </p:cNvPr>
          <p:cNvSpPr>
            <a:spLocks xmlns:a="http://schemas.openxmlformats.org/drawingml/2006/main" noGrp="1"/>
          </p:cNvSpPr>
          <p:nvPr/>
        </p:nvSpPr>
        <p:spPr>
          <a:xfrm xmlns:a="http://schemas.openxmlformats.org/drawingml/2006/main">
            <a:off x="3143250" y="4267200"/>
            <a:ext cx="800100" cy="60960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O1</a:t>
            </a:r>
          </a:p>
        </p:txBody>
      </p:sp>
      <p:sp>
        <p:nvSpPr>
          <p:cNvPr id="15" name="">
            <a:extLst xmlns:a="http://schemas.openxmlformats.org/drawingml/2006/main">
              <a:ext uri="{FF2B5EF4-FFF2-40B4-BE49-F238E27FC236}">
                <a16:creationId xmlns:a16="http://schemas.microsoft.com/office/drawing/2014/main" id="{098FA12E-6EDD-42C7-9E73-B99CFFFAFF06}"/>
              </a:ext>
            </a:extLst>
          </p:cNvPr>
          <p:cNvSpPr>
            <a:spLocks xmlns:a="http://schemas.openxmlformats.org/drawingml/2006/main" noGrp="1"/>
          </p:cNvSpPr>
          <p:nvPr/>
        </p:nvSpPr>
        <p:spPr>
          <a:xfrm xmlns:a="http://schemas.openxmlformats.org/drawingml/2006/main">
            <a:off x="4038600" y="4267200"/>
            <a:ext cx="800100" cy="60960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O2</a:t>
            </a:r>
          </a:p>
        </p:txBody>
      </p:sp>
      <p:sp>
        <p:nvSpPr>
          <p:cNvPr id="16" name="">
            <a:extLst xmlns:a="http://schemas.openxmlformats.org/drawingml/2006/main">
              <a:ext uri="{FF2B5EF4-FFF2-40B4-BE49-F238E27FC236}">
                <a16:creationId xmlns:a16="http://schemas.microsoft.com/office/drawing/2014/main" id="{4861A086-BDFF-4E57-AB4E-1EDC5BE72A4A}"/>
              </a:ext>
            </a:extLst>
          </p:cNvPr>
          <p:cNvSpPr>
            <a:spLocks xmlns:a="http://schemas.openxmlformats.org/drawingml/2006/main" noGrp="1"/>
          </p:cNvSpPr>
          <p:nvPr/>
        </p:nvSpPr>
        <p:spPr>
          <a:xfrm xmlns:a="http://schemas.openxmlformats.org/drawingml/2006/main">
            <a:off x="4933950" y="4267200"/>
            <a:ext cx="800100" cy="60960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O3</a:t>
            </a:r>
          </a:p>
        </p:txBody>
      </p:sp>
      <p:sp>
        <p:nvSpPr>
          <p:cNvPr id="17" name="">
            <a:extLst xmlns:a="http://schemas.openxmlformats.org/drawingml/2006/main">
              <a:ext uri="{FF2B5EF4-FFF2-40B4-BE49-F238E27FC236}">
                <a16:creationId xmlns:a16="http://schemas.microsoft.com/office/drawing/2014/main" id="{2C3416A2-73A0-4F8E-8ACF-54EADB6235AC}"/>
              </a:ext>
            </a:extLst>
          </p:cNvPr>
          <p:cNvSpPr>
            <a:spLocks xmlns:a="http://schemas.openxmlformats.org/drawingml/2006/main" noGrp="1"/>
          </p:cNvSpPr>
          <p:nvPr/>
        </p:nvSpPr>
        <p:spPr>
          <a:xfrm xmlns:a="http://schemas.openxmlformats.org/drawingml/2006/main">
            <a:off x="5829300" y="426720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N1</a:t>
            </a:r>
          </a:p>
        </p:txBody>
      </p:sp>
      <p:sp>
        <p:nvSpPr>
          <p:cNvPr id="18" name="">
            <a:extLst xmlns:a="http://schemas.openxmlformats.org/drawingml/2006/main">
              <a:ext uri="{FF2B5EF4-FFF2-40B4-BE49-F238E27FC236}">
                <a16:creationId xmlns:a16="http://schemas.microsoft.com/office/drawing/2014/main" id="{1E0DA086-211A-492A-A9A6-8B03CF6AE9E4}"/>
              </a:ext>
            </a:extLst>
          </p:cNvPr>
          <p:cNvSpPr>
            <a:spLocks xmlns:a="http://schemas.openxmlformats.org/drawingml/2006/main" noGrp="1"/>
          </p:cNvSpPr>
          <p:nvPr/>
        </p:nvSpPr>
        <p:spPr>
          <a:xfrm xmlns:a="http://schemas.openxmlformats.org/drawingml/2006/main">
            <a:off x="6724650" y="426720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N2</a:t>
            </a:r>
          </a:p>
        </p:txBody>
      </p:sp>
      <p:sp>
        <p:nvSpPr>
          <p:cNvPr id="19" name="">
            <a:extLst xmlns:a="http://schemas.openxmlformats.org/drawingml/2006/main">
              <a:ext uri="{FF2B5EF4-FFF2-40B4-BE49-F238E27FC236}">
                <a16:creationId xmlns:a16="http://schemas.microsoft.com/office/drawing/2014/main" id="{98C3EB84-8367-4702-BA89-2FF40452AE3E}"/>
              </a:ext>
            </a:extLst>
          </p:cNvPr>
          <p:cNvSpPr>
            <a:spLocks xmlns:a="http://schemas.openxmlformats.org/drawingml/2006/main" noGrp="1"/>
          </p:cNvSpPr>
          <p:nvPr/>
        </p:nvSpPr>
        <p:spPr>
          <a:xfrm xmlns:a="http://schemas.openxmlformats.org/drawingml/2006/main">
            <a:off x="7620000" y="426720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N3</a:t>
            </a:r>
          </a:p>
        </p:txBody>
      </p:sp>
      <p:sp>
        <p:nvSpPr>
          <p:cNvPr id="20" name="">
            <a:extLst xmlns:a="http://schemas.openxmlformats.org/drawingml/2006/main">
              <a:ext uri="{FF2B5EF4-FFF2-40B4-BE49-F238E27FC236}">
                <a16:creationId xmlns:a16="http://schemas.microsoft.com/office/drawing/2014/main" id="{6F0FCA9C-E7C8-4DB1-B6BF-3B42BBEEEEDB}"/>
              </a:ext>
            </a:extLst>
          </p:cNvPr>
          <p:cNvSpPr>
            <a:spLocks xmlns:a="http://schemas.openxmlformats.org/drawingml/2006/main" noGrp="1"/>
          </p:cNvSpPr>
          <p:nvPr/>
        </p:nvSpPr>
        <p:spPr>
          <a:xfrm xmlns:a="http://schemas.openxmlformats.org/drawingml/2006/main">
            <a:off x="8515350" y="426720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N4</a:t>
            </a:r>
          </a:p>
        </p:txBody>
      </p:sp>
      <p:sp>
        <p:nvSpPr>
          <p:cNvPr id="21" name="">
            <a:extLst xmlns:a="http://schemas.openxmlformats.org/drawingml/2006/main">
              <a:ext uri="{FF2B5EF4-FFF2-40B4-BE49-F238E27FC236}">
                <a16:creationId xmlns:a16="http://schemas.microsoft.com/office/drawing/2014/main" id="{5D5EC9F7-33A8-4219-BB37-765C22827679}"/>
              </a:ext>
            </a:extLst>
          </p:cNvPr>
          <p:cNvSpPr>
            <a:spLocks xmlns:a="http://schemas.openxmlformats.org/drawingml/2006/main" noGrp="1"/>
          </p:cNvSpPr>
          <p:nvPr/>
        </p:nvSpPr>
        <p:spPr>
          <a:xfrm xmlns:a="http://schemas.openxmlformats.org/drawingml/2006/main">
            <a:off x="9410700" y="426720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N5</a:t>
            </a:r>
          </a:p>
        </p:txBody>
      </p:sp>
      <p:sp>
        <p:nvSpPr>
          <p:cNvPr id="22" name="">
            <a:extLst xmlns:a="http://schemas.openxmlformats.org/drawingml/2006/main">
              <a:ext uri="{FF2B5EF4-FFF2-40B4-BE49-F238E27FC236}">
                <a16:creationId xmlns:a16="http://schemas.microsoft.com/office/drawing/2014/main" id="{5002A184-E2C0-4AB7-B8CD-63253D0A92B4}"/>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The next prediction can wait behind old motion before its first target reaches the robot.</a:t>
            </a:r>
          </a:p>
        </p:txBody>
      </p:sp>
    </p:spTree>
    <p:extLst>
      <p:ext uri="{BB962C8B-B14F-4D97-AF65-F5344CB8AC3E}">
        <p14:creationId xmlns:p14="http://schemas.microsoft.com/office/powerpoint/2010/main" val="1483415731"/>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1BC32FF-2D3C-4E0B-90D7-854AB12A15E7}"/>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Alignment removes committed steps</a:t>
            </a:r>
          </a:p>
        </p:txBody>
      </p:sp>
      <p:sp>
        <p:nvSpPr>
          <p:cNvPr id="2" name="">
            <a:extLst xmlns:a="http://schemas.openxmlformats.org/drawingml/2006/main">
              <a:ext uri="{FF2B5EF4-FFF2-40B4-BE49-F238E27FC236}">
                <a16:creationId xmlns:a16="http://schemas.microsoft.com/office/drawing/2014/main" id="{3FE81F11-859E-4EC3-BED6-9341B42E7E8C}"/>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3453DB58-98CB-4B2C-822E-BE28149F33BF}"/>
              </a:ext>
            </a:extLst>
          </p:cNvPr>
          <p:cNvSpPr>
            <a:spLocks xmlns:a="http://schemas.openxmlformats.org/drawingml/2006/main" noGrp="1"/>
          </p:cNvSpPr>
          <p:nvPr/>
        </p:nvSpPr>
        <p:spPr>
          <a:xfrm xmlns:a="http://schemas.openxmlformats.org/drawingml/2006/main">
            <a:off x="609600" y="1857375"/>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72B3A"/>
                </a:solidFill>
                <a:latin typeface="Helvetica Neue"/>
                <a:ea typeface="Helvetica Neue"/>
                <a:cs typeface="Helvetica Neue"/>
              </a:defRPr>
            </a:pPr>
            <a:r>
              <a:rPr sz="2025" b="1">
                <a:solidFill>
                  <a:srgbClr val="172B3A"/>
                </a:solidFill>
                <a:latin typeface="Helvetica Neue"/>
                <a:ea typeface="Helvetica Neue"/>
                <a:cs typeface="Helvetica Neue"/>
              </a:rPr>
              <a:t>Prediction at capture</a:t>
            </a:r>
          </a:p>
        </p:txBody>
      </p:sp>
      <p:sp>
        <p:nvSpPr>
          <p:cNvPr id="4" name="">
            <a:extLst xmlns:a="http://schemas.openxmlformats.org/drawingml/2006/main">
              <a:ext uri="{FF2B5EF4-FFF2-40B4-BE49-F238E27FC236}">
                <a16:creationId xmlns:a16="http://schemas.microsoft.com/office/drawing/2014/main" id="{A27DE95A-B199-4432-87CA-3445C677986C}"/>
              </a:ext>
            </a:extLst>
          </p:cNvPr>
          <p:cNvSpPr>
            <a:spLocks xmlns:a="http://schemas.openxmlformats.org/drawingml/2006/main" noGrp="1"/>
          </p:cNvSpPr>
          <p:nvPr/>
        </p:nvSpPr>
        <p:spPr>
          <a:xfrm xmlns:a="http://schemas.openxmlformats.org/drawingml/2006/main">
            <a:off x="3143250" y="1743075"/>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101</a:t>
            </a:r>
          </a:p>
        </p:txBody>
      </p:sp>
      <p:sp>
        <p:nvSpPr>
          <p:cNvPr id="5" name="">
            <a:extLst xmlns:a="http://schemas.openxmlformats.org/drawingml/2006/main">
              <a:ext uri="{FF2B5EF4-FFF2-40B4-BE49-F238E27FC236}">
                <a16:creationId xmlns:a16="http://schemas.microsoft.com/office/drawing/2014/main" id="{E8282406-1B33-4779-B323-D84DFA12BDCC}"/>
              </a:ext>
            </a:extLst>
          </p:cNvPr>
          <p:cNvSpPr>
            <a:spLocks xmlns:a="http://schemas.openxmlformats.org/drawingml/2006/main" noGrp="1"/>
          </p:cNvSpPr>
          <p:nvPr/>
        </p:nvSpPr>
        <p:spPr>
          <a:xfrm xmlns:a="http://schemas.openxmlformats.org/drawingml/2006/main">
            <a:off x="4038600" y="1743075"/>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102</a:t>
            </a:r>
          </a:p>
        </p:txBody>
      </p:sp>
      <p:sp>
        <p:nvSpPr>
          <p:cNvPr id="6" name="">
            <a:extLst xmlns:a="http://schemas.openxmlformats.org/drawingml/2006/main">
              <a:ext uri="{FF2B5EF4-FFF2-40B4-BE49-F238E27FC236}">
                <a16:creationId xmlns:a16="http://schemas.microsoft.com/office/drawing/2014/main" id="{BF6479F2-36E7-4290-B155-E4E466B7DD78}"/>
              </a:ext>
            </a:extLst>
          </p:cNvPr>
          <p:cNvSpPr>
            <a:spLocks xmlns:a="http://schemas.openxmlformats.org/drawingml/2006/main" noGrp="1"/>
          </p:cNvSpPr>
          <p:nvPr/>
        </p:nvSpPr>
        <p:spPr>
          <a:xfrm xmlns:a="http://schemas.openxmlformats.org/drawingml/2006/main">
            <a:off x="4933950" y="1743075"/>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103</a:t>
            </a:r>
          </a:p>
        </p:txBody>
      </p:sp>
      <p:sp>
        <p:nvSpPr>
          <p:cNvPr id="7" name="">
            <a:extLst xmlns:a="http://schemas.openxmlformats.org/drawingml/2006/main">
              <a:ext uri="{FF2B5EF4-FFF2-40B4-BE49-F238E27FC236}">
                <a16:creationId xmlns:a16="http://schemas.microsoft.com/office/drawing/2014/main" id="{7E96394F-84F4-4C2D-B197-8047FE3D3382}"/>
              </a:ext>
            </a:extLst>
          </p:cNvPr>
          <p:cNvSpPr>
            <a:spLocks xmlns:a="http://schemas.openxmlformats.org/drawingml/2006/main" noGrp="1"/>
          </p:cNvSpPr>
          <p:nvPr/>
        </p:nvSpPr>
        <p:spPr>
          <a:xfrm xmlns:a="http://schemas.openxmlformats.org/drawingml/2006/main">
            <a:off x="5829300" y="1743075"/>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104</a:t>
            </a:r>
          </a:p>
        </p:txBody>
      </p:sp>
      <p:sp>
        <p:nvSpPr>
          <p:cNvPr id="8" name="">
            <a:extLst xmlns:a="http://schemas.openxmlformats.org/drawingml/2006/main">
              <a:ext uri="{FF2B5EF4-FFF2-40B4-BE49-F238E27FC236}">
                <a16:creationId xmlns:a16="http://schemas.microsoft.com/office/drawing/2014/main" id="{B53201F6-1425-4A3F-A707-29F3B0EC6FCF}"/>
              </a:ext>
            </a:extLst>
          </p:cNvPr>
          <p:cNvSpPr>
            <a:spLocks xmlns:a="http://schemas.openxmlformats.org/drawingml/2006/main" noGrp="1"/>
          </p:cNvSpPr>
          <p:nvPr/>
        </p:nvSpPr>
        <p:spPr>
          <a:xfrm xmlns:a="http://schemas.openxmlformats.org/drawingml/2006/main">
            <a:off x="6724650" y="1743075"/>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105</a:t>
            </a:r>
          </a:p>
        </p:txBody>
      </p:sp>
      <p:sp>
        <p:nvSpPr>
          <p:cNvPr id="9" name="">
            <a:extLst xmlns:a="http://schemas.openxmlformats.org/drawingml/2006/main">
              <a:ext uri="{FF2B5EF4-FFF2-40B4-BE49-F238E27FC236}">
                <a16:creationId xmlns:a16="http://schemas.microsoft.com/office/drawing/2014/main" id="{13FB7530-4814-4CBA-BDA8-7999491032BC}"/>
              </a:ext>
            </a:extLst>
          </p:cNvPr>
          <p:cNvSpPr>
            <a:spLocks xmlns:a="http://schemas.openxmlformats.org/drawingml/2006/main" noGrp="1"/>
          </p:cNvSpPr>
          <p:nvPr/>
        </p:nvSpPr>
        <p:spPr>
          <a:xfrm xmlns:a="http://schemas.openxmlformats.org/drawingml/2006/main">
            <a:off x="7620000" y="1743075"/>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106</a:t>
            </a:r>
          </a:p>
        </p:txBody>
      </p:sp>
      <p:sp>
        <p:nvSpPr>
          <p:cNvPr id="10" name="">
            <a:extLst xmlns:a="http://schemas.openxmlformats.org/drawingml/2006/main">
              <a:ext uri="{FF2B5EF4-FFF2-40B4-BE49-F238E27FC236}">
                <a16:creationId xmlns:a16="http://schemas.microsoft.com/office/drawing/2014/main" id="{41622781-AB7D-4343-ADCB-281038686553}"/>
              </a:ext>
            </a:extLst>
          </p:cNvPr>
          <p:cNvSpPr>
            <a:spLocks xmlns:a="http://schemas.openxmlformats.org/drawingml/2006/main" noGrp="1"/>
          </p:cNvSpPr>
          <p:nvPr/>
        </p:nvSpPr>
        <p:spPr>
          <a:xfrm xmlns:a="http://schemas.openxmlformats.org/drawingml/2006/main">
            <a:off x="8515350" y="1743075"/>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107</a:t>
            </a:r>
          </a:p>
        </p:txBody>
      </p:sp>
      <p:sp>
        <p:nvSpPr>
          <p:cNvPr id="11" name="">
            <a:extLst xmlns:a="http://schemas.openxmlformats.org/drawingml/2006/main">
              <a:ext uri="{FF2B5EF4-FFF2-40B4-BE49-F238E27FC236}">
                <a16:creationId xmlns:a16="http://schemas.microsoft.com/office/drawing/2014/main" id="{0E7EDF7F-4564-4F48-8978-04F060D7EF6E}"/>
              </a:ext>
            </a:extLst>
          </p:cNvPr>
          <p:cNvSpPr>
            <a:spLocks xmlns:a="http://schemas.openxmlformats.org/drawingml/2006/main" noGrp="1"/>
          </p:cNvSpPr>
          <p:nvPr/>
        </p:nvSpPr>
        <p:spPr>
          <a:xfrm xmlns:a="http://schemas.openxmlformats.org/drawingml/2006/main">
            <a:off x="9410700" y="1743075"/>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108</a:t>
            </a:r>
          </a:p>
        </p:txBody>
      </p:sp>
      <p:sp>
        <p:nvSpPr>
          <p:cNvPr id="12" name="">
            <a:extLst xmlns:a="http://schemas.openxmlformats.org/drawingml/2006/main">
              <a:ext uri="{FF2B5EF4-FFF2-40B4-BE49-F238E27FC236}">
                <a16:creationId xmlns:a16="http://schemas.microsoft.com/office/drawing/2014/main" id="{572F8A49-6CD2-4F63-B5FE-8E2161B018CE}"/>
              </a:ext>
            </a:extLst>
          </p:cNvPr>
          <p:cNvSpPr>
            <a:spLocks xmlns:a="http://schemas.openxmlformats.org/drawingml/2006/main" noGrp="1"/>
          </p:cNvSpPr>
          <p:nvPr/>
        </p:nvSpPr>
        <p:spPr>
          <a:xfrm xmlns:a="http://schemas.openxmlformats.org/drawingml/2006/main">
            <a:off x="609600" y="31623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72B3A"/>
                </a:solidFill>
                <a:latin typeface="Helvetica Neue"/>
                <a:ea typeface="Helvetica Neue"/>
                <a:cs typeface="Helvetica Neue"/>
              </a:defRPr>
            </a:pPr>
            <a:r>
              <a:rPr sz="2025" b="1">
                <a:solidFill>
                  <a:srgbClr val="172B3A"/>
                </a:solidFill>
                <a:latin typeface="Helvetica Neue"/>
                <a:ea typeface="Helvetica Neue"/>
                <a:cs typeface="Helvetica Neue"/>
              </a:rPr>
              <a:t>At acceptance</a:t>
            </a:r>
          </a:p>
        </p:txBody>
      </p:sp>
      <p:sp>
        <p:nvSpPr>
          <p:cNvPr id="13" name="">
            <a:extLst xmlns:a="http://schemas.openxmlformats.org/drawingml/2006/main">
              <a:ext uri="{FF2B5EF4-FFF2-40B4-BE49-F238E27FC236}">
                <a16:creationId xmlns:a16="http://schemas.microsoft.com/office/drawing/2014/main" id="{2692FC7E-7E39-45CD-9803-8E9517550F23}"/>
              </a:ext>
            </a:extLst>
          </p:cNvPr>
          <p:cNvSpPr>
            <a:spLocks xmlns:a="http://schemas.openxmlformats.org/drawingml/2006/main" noGrp="1"/>
          </p:cNvSpPr>
          <p:nvPr/>
        </p:nvSpPr>
        <p:spPr>
          <a:xfrm xmlns:a="http://schemas.openxmlformats.org/drawingml/2006/main">
            <a:off x="3143250" y="3048000"/>
            <a:ext cx="800100" cy="609600"/>
          </a:xfrm>
          <a:prstGeom xmlns:a="http://schemas.openxmlformats.org/drawingml/2006/main" prst="rect">
            <a:avLst/>
          </a:prstGeom>
          <a:solidFill xmlns:a="http://schemas.openxmlformats.org/drawingml/2006/main">
            <a:srgbClr val="DEE3E5"/>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101</a:t>
            </a:r>
          </a:p>
        </p:txBody>
      </p:sp>
      <p:sp>
        <p:nvSpPr>
          <p:cNvPr id="14" name="">
            <a:extLst xmlns:a="http://schemas.openxmlformats.org/drawingml/2006/main">
              <a:ext uri="{FF2B5EF4-FFF2-40B4-BE49-F238E27FC236}">
                <a16:creationId xmlns:a16="http://schemas.microsoft.com/office/drawing/2014/main" id="{06573268-1BB2-4F50-982D-510B72015D82}"/>
              </a:ext>
            </a:extLst>
          </p:cNvPr>
          <p:cNvSpPr>
            <a:spLocks xmlns:a="http://schemas.openxmlformats.org/drawingml/2006/main" noGrp="1"/>
          </p:cNvSpPr>
          <p:nvPr/>
        </p:nvSpPr>
        <p:spPr>
          <a:xfrm xmlns:a="http://schemas.openxmlformats.org/drawingml/2006/main">
            <a:off x="4038600" y="3048000"/>
            <a:ext cx="800100" cy="609600"/>
          </a:xfrm>
          <a:prstGeom xmlns:a="http://schemas.openxmlformats.org/drawingml/2006/main" prst="rect">
            <a:avLst/>
          </a:prstGeom>
          <a:solidFill xmlns:a="http://schemas.openxmlformats.org/drawingml/2006/main">
            <a:srgbClr val="DEE3E5"/>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102</a:t>
            </a:r>
          </a:p>
        </p:txBody>
      </p:sp>
      <p:sp>
        <p:nvSpPr>
          <p:cNvPr id="15" name="">
            <a:extLst xmlns:a="http://schemas.openxmlformats.org/drawingml/2006/main">
              <a:ext uri="{FF2B5EF4-FFF2-40B4-BE49-F238E27FC236}">
                <a16:creationId xmlns:a16="http://schemas.microsoft.com/office/drawing/2014/main" id="{E1803E92-E523-4649-924A-E9B5C96782D5}"/>
              </a:ext>
            </a:extLst>
          </p:cNvPr>
          <p:cNvSpPr>
            <a:spLocks xmlns:a="http://schemas.openxmlformats.org/drawingml/2006/main" noGrp="1"/>
          </p:cNvSpPr>
          <p:nvPr/>
        </p:nvSpPr>
        <p:spPr>
          <a:xfrm xmlns:a="http://schemas.openxmlformats.org/drawingml/2006/main">
            <a:off x="4933950" y="3048000"/>
            <a:ext cx="800100" cy="609600"/>
          </a:xfrm>
          <a:prstGeom xmlns:a="http://schemas.openxmlformats.org/drawingml/2006/main" prst="rect">
            <a:avLst/>
          </a:prstGeom>
          <a:solidFill xmlns:a="http://schemas.openxmlformats.org/drawingml/2006/main">
            <a:srgbClr val="DEE3E5"/>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103</a:t>
            </a:r>
          </a:p>
        </p:txBody>
      </p:sp>
      <p:sp>
        <p:nvSpPr>
          <p:cNvPr id="16" name="">
            <a:extLst xmlns:a="http://schemas.openxmlformats.org/drawingml/2006/main">
              <a:ext uri="{FF2B5EF4-FFF2-40B4-BE49-F238E27FC236}">
                <a16:creationId xmlns:a16="http://schemas.microsoft.com/office/drawing/2014/main" id="{A176C87E-E813-4E88-9DA6-45372714E3CF}"/>
              </a:ext>
            </a:extLst>
          </p:cNvPr>
          <p:cNvSpPr>
            <a:spLocks xmlns:a="http://schemas.openxmlformats.org/drawingml/2006/main" noGrp="1"/>
          </p:cNvSpPr>
          <p:nvPr/>
        </p:nvSpPr>
        <p:spPr>
          <a:xfrm xmlns:a="http://schemas.openxmlformats.org/drawingml/2006/main">
            <a:off x="5829300" y="304800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104</a:t>
            </a:r>
          </a:p>
        </p:txBody>
      </p:sp>
      <p:sp>
        <p:nvSpPr>
          <p:cNvPr id="17" name="">
            <a:extLst xmlns:a="http://schemas.openxmlformats.org/drawingml/2006/main">
              <a:ext uri="{FF2B5EF4-FFF2-40B4-BE49-F238E27FC236}">
                <a16:creationId xmlns:a16="http://schemas.microsoft.com/office/drawing/2014/main" id="{F8376143-F841-4652-8B4B-FD784330C777}"/>
              </a:ext>
            </a:extLst>
          </p:cNvPr>
          <p:cNvSpPr>
            <a:spLocks xmlns:a="http://schemas.openxmlformats.org/drawingml/2006/main" noGrp="1"/>
          </p:cNvSpPr>
          <p:nvPr/>
        </p:nvSpPr>
        <p:spPr>
          <a:xfrm xmlns:a="http://schemas.openxmlformats.org/drawingml/2006/main">
            <a:off x="6724650" y="304800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105</a:t>
            </a:r>
          </a:p>
        </p:txBody>
      </p:sp>
      <p:sp>
        <p:nvSpPr>
          <p:cNvPr id="18" name="">
            <a:extLst xmlns:a="http://schemas.openxmlformats.org/drawingml/2006/main">
              <a:ext uri="{FF2B5EF4-FFF2-40B4-BE49-F238E27FC236}">
                <a16:creationId xmlns:a16="http://schemas.microsoft.com/office/drawing/2014/main" id="{A9357FBF-ECC8-45BB-8601-81964DD037E8}"/>
              </a:ext>
            </a:extLst>
          </p:cNvPr>
          <p:cNvSpPr>
            <a:spLocks xmlns:a="http://schemas.openxmlformats.org/drawingml/2006/main" noGrp="1"/>
          </p:cNvSpPr>
          <p:nvPr/>
        </p:nvSpPr>
        <p:spPr>
          <a:xfrm xmlns:a="http://schemas.openxmlformats.org/drawingml/2006/main">
            <a:off x="7620000" y="304800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106</a:t>
            </a:r>
          </a:p>
        </p:txBody>
      </p:sp>
      <p:sp>
        <p:nvSpPr>
          <p:cNvPr id="19" name="">
            <a:extLst xmlns:a="http://schemas.openxmlformats.org/drawingml/2006/main">
              <a:ext uri="{FF2B5EF4-FFF2-40B4-BE49-F238E27FC236}">
                <a16:creationId xmlns:a16="http://schemas.microsoft.com/office/drawing/2014/main" id="{509E50DD-2246-441F-A7D0-4AE2644060D8}"/>
              </a:ext>
            </a:extLst>
          </p:cNvPr>
          <p:cNvSpPr>
            <a:spLocks xmlns:a="http://schemas.openxmlformats.org/drawingml/2006/main" noGrp="1"/>
          </p:cNvSpPr>
          <p:nvPr/>
        </p:nvSpPr>
        <p:spPr>
          <a:xfrm xmlns:a="http://schemas.openxmlformats.org/drawingml/2006/main">
            <a:off x="8515350" y="304800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107</a:t>
            </a:r>
          </a:p>
        </p:txBody>
      </p:sp>
      <p:sp>
        <p:nvSpPr>
          <p:cNvPr id="20" name="">
            <a:extLst xmlns:a="http://schemas.openxmlformats.org/drawingml/2006/main">
              <a:ext uri="{FF2B5EF4-FFF2-40B4-BE49-F238E27FC236}">
                <a16:creationId xmlns:a16="http://schemas.microsoft.com/office/drawing/2014/main" id="{4F761582-E74B-402D-BFE6-96FD4A300183}"/>
              </a:ext>
            </a:extLst>
          </p:cNvPr>
          <p:cNvSpPr>
            <a:spLocks xmlns:a="http://schemas.openxmlformats.org/drawingml/2006/main" noGrp="1"/>
          </p:cNvSpPr>
          <p:nvPr/>
        </p:nvSpPr>
        <p:spPr>
          <a:xfrm xmlns:a="http://schemas.openxmlformats.org/drawingml/2006/main">
            <a:off x="9410700" y="3048000"/>
            <a:ext cx="800100" cy="60960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a:solidFill>
                  <a:srgbClr val="172B3A"/>
                </a:solidFill>
                <a:latin typeface="Helvetica Neue"/>
                <a:ea typeface="Helvetica Neue"/>
                <a:cs typeface="Helvetica Neue"/>
              </a:defRPr>
            </a:pPr>
            <a:r>
              <a:rPr sz="1875">
                <a:solidFill>
                  <a:srgbClr val="172B3A"/>
                </a:solidFill>
                <a:latin typeface="Helvetica Neue"/>
                <a:ea typeface="Helvetica Neue"/>
                <a:cs typeface="Helvetica Neue"/>
              </a:rPr>
              <a:t>108</a:t>
            </a:r>
          </a:p>
        </p:txBody>
      </p:sp>
      <p:sp>
        <p:nvSpPr>
          <p:cNvPr id="21" name="">
            <a:extLst xmlns:a="http://schemas.openxmlformats.org/drawingml/2006/main">
              <a:ext uri="{FF2B5EF4-FFF2-40B4-BE49-F238E27FC236}">
                <a16:creationId xmlns:a16="http://schemas.microsoft.com/office/drawing/2014/main" id="{FCEB60DA-18A7-487F-A2D5-E149569F26F8}"/>
              </a:ext>
            </a:extLst>
          </p:cNvPr>
          <p:cNvSpPr>
            <a:spLocks xmlns:a="http://schemas.openxmlformats.org/drawingml/2006/main" noGrp="1"/>
          </p:cNvSpPr>
          <p:nvPr/>
        </p:nvSpPr>
        <p:spPr>
          <a:xfrm xmlns:a="http://schemas.openxmlformats.org/drawingml/2006/main">
            <a:off x="3143250" y="3848100"/>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26777"/>
                </a:solidFill>
                <a:latin typeface="Helvetica Neue"/>
                <a:ea typeface="Helvetica Neue"/>
                <a:cs typeface="Helvetica Neue"/>
              </a:defRPr>
            </a:pPr>
            <a:r>
              <a:rPr sz="1800" b="0">
                <a:solidFill>
                  <a:srgbClr val="526777"/>
                </a:solidFill>
                <a:latin typeface="Helvetica Neue"/>
                <a:ea typeface="Helvetica Neue"/>
                <a:cs typeface="Helvetica Neue"/>
              </a:rPr>
              <a:t>Already committed</a:t>
            </a:r>
          </a:p>
        </p:txBody>
      </p:sp>
      <p:sp>
        <p:nvSpPr>
          <p:cNvPr id="22" name="">
            <a:extLst xmlns:a="http://schemas.openxmlformats.org/drawingml/2006/main">
              <a:ext uri="{FF2B5EF4-FFF2-40B4-BE49-F238E27FC236}">
                <a16:creationId xmlns:a16="http://schemas.microsoft.com/office/drawing/2014/main" id="{36AAAFA1-FA0B-4D34-9D34-EC7BB6732861}"/>
              </a:ext>
            </a:extLst>
          </p:cNvPr>
          <p:cNvSpPr>
            <a:spLocks xmlns:a="http://schemas.openxmlformats.org/drawingml/2006/main" noGrp="1"/>
          </p:cNvSpPr>
          <p:nvPr/>
        </p:nvSpPr>
        <p:spPr>
          <a:xfrm xmlns:a="http://schemas.openxmlformats.org/drawingml/2006/main">
            <a:off x="5829300" y="3848100"/>
            <a:ext cx="542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67C63"/>
                </a:solidFill>
                <a:latin typeface="Helvetica Neue"/>
                <a:ea typeface="Helvetica Neue"/>
                <a:cs typeface="Helvetica Neue"/>
              </a:defRPr>
            </a:pPr>
            <a:r>
              <a:rPr sz="2025" b="1">
                <a:solidFill>
                  <a:srgbClr val="267C63"/>
                </a:solidFill>
                <a:latin typeface="Helvetica Neue"/>
                <a:ea typeface="Helvetica Neue"/>
                <a:cs typeface="Helvetica Neue"/>
              </a:rPr>
              <a:t>Eligible future</a:t>
            </a:r>
          </a:p>
        </p:txBody>
      </p:sp>
      <p:sp>
        <p:nvSpPr>
          <p:cNvPr id="23" name="">
            <a:extLst xmlns:a="http://schemas.openxmlformats.org/drawingml/2006/main">
              <a:ext uri="{FF2B5EF4-FFF2-40B4-BE49-F238E27FC236}">
                <a16:creationId xmlns:a16="http://schemas.microsoft.com/office/drawing/2014/main" id="{6557FC9A-C968-4102-9510-E760BD141907}"/>
              </a:ext>
            </a:extLst>
          </p:cNvPr>
          <p:cNvSpPr>
            <a:spLocks xmlns:a="http://schemas.openxmlformats.org/drawingml/2006/main" noGrp="1"/>
          </p:cNvSpPr>
          <p:nvPr/>
        </p:nvSpPr>
        <p:spPr>
          <a:xfrm xmlns:a="http://schemas.openxmlformats.org/drawingml/2006/main">
            <a:off x="609600" y="47720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72B3A"/>
                </a:solidFill>
                <a:latin typeface="Helvetica Neue"/>
                <a:ea typeface="Helvetica Neue"/>
                <a:cs typeface="Helvetica Neue"/>
              </a:defRPr>
            </a:pPr>
            <a:r>
              <a:rPr sz="2850" b="1">
                <a:solidFill>
                  <a:srgbClr val="172B3A"/>
                </a:solidFill>
                <a:latin typeface="Helvetica Neue"/>
                <a:ea typeface="Helvetica Neue"/>
                <a:cs typeface="Helvetica Neue"/>
              </a:rPr>
              <a:t>Cursor progress decides the cut.</a:t>
            </a:r>
          </a:p>
        </p:txBody>
      </p:sp>
      <p:sp>
        <p:nvSpPr>
          <p:cNvPr id="24" name="">
            <a:extLst xmlns:a="http://schemas.openxmlformats.org/drawingml/2006/main">
              <a:ext uri="{FF2B5EF4-FFF2-40B4-BE49-F238E27FC236}">
                <a16:creationId xmlns:a16="http://schemas.microsoft.com/office/drawing/2014/main" id="{8DED5F3E-F097-4DF1-8C48-E8E7C5A5F014}"/>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Committed means handed to execution. It does not mean physically reached.</a:t>
            </a:r>
          </a:p>
        </p:txBody>
      </p:sp>
    </p:spTree>
    <p:extLst>
      <p:ext uri="{BB962C8B-B14F-4D97-AF65-F5344CB8AC3E}">
        <p14:creationId xmlns:p14="http://schemas.microsoft.com/office/powerpoint/2010/main" val="715240760"/>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F15557-F486-4E04-AB5E-3EF8875392B2}"/>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Blending averages matching future targets</a:t>
            </a:r>
          </a:p>
        </p:txBody>
      </p:sp>
      <p:sp>
        <p:nvSpPr>
          <p:cNvPr id="2" name="">
            <a:extLst xmlns:a="http://schemas.openxmlformats.org/drawingml/2006/main">
              <a:ext uri="{FF2B5EF4-FFF2-40B4-BE49-F238E27FC236}">
                <a16:creationId xmlns:a16="http://schemas.microsoft.com/office/drawing/2014/main" id="{49C326AB-AFD6-4C2E-BFE7-2DF5E5A6AD5A}"/>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71168B45-3C25-4A59-AC28-B56D38BA87E6}"/>
              </a:ext>
            </a:extLst>
          </p:cNvPr>
          <p:cNvSpPr>
            <a:spLocks xmlns:a="http://schemas.openxmlformats.org/drawingml/2006/main" noGrp="1"/>
          </p:cNvSpPr>
          <p:nvPr/>
        </p:nvSpPr>
        <p:spPr>
          <a:xfrm xmlns:a="http://schemas.openxmlformats.org/drawingml/2006/main">
            <a:off x="1143000" y="2095500"/>
            <a:ext cx="2762250" cy="131445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700">
                <a:solidFill>
                  <a:srgbClr val="172B3A"/>
                </a:solidFill>
                <a:latin typeface="Helvetica Neue"/>
                <a:ea typeface="Helvetica Neue"/>
                <a:cs typeface="Helvetica Neue"/>
              </a:defRPr>
            </a:pPr>
            <a:r>
              <a:rPr sz="2700">
                <a:solidFill>
                  <a:srgbClr val="172B3A"/>
                </a:solidFill>
                <a:latin typeface="Helvetica Neue"/>
                <a:ea typeface="Helvetica Neue"/>
                <a:cs typeface="Helvetica Neue"/>
              </a:rPr>
              <a:t>Old target</a:t>
            </a:r>
          </a:p>
          <a:p xmlns:a="http://schemas.openxmlformats.org/drawingml/2006/main">
            <a:pPr algn="ctr">
              <a:defRPr sz="2700">
                <a:solidFill>
                  <a:srgbClr val="172B3A"/>
                </a:solidFill>
                <a:latin typeface="Helvetica Neue"/>
                <a:ea typeface="Helvetica Neue"/>
                <a:cs typeface="Helvetica Neue"/>
              </a:defRPr>
            </a:pPr>
            <a:r>
              <a:rPr sz="2700">
                <a:solidFill>
                  <a:srgbClr val="172B3A"/>
                </a:solidFill>
                <a:latin typeface="Helvetica Neue"/>
                <a:ea typeface="Helvetica Neue"/>
                <a:cs typeface="Helvetica Neue"/>
              </a:rPr>
              <a:t>40</a:t>
            </a:r>
          </a:p>
        </p:txBody>
      </p:sp>
      <p:sp>
        <p:nvSpPr>
          <p:cNvPr id="4" name="">
            <a:extLst xmlns:a="http://schemas.openxmlformats.org/drawingml/2006/main">
              <a:ext uri="{FF2B5EF4-FFF2-40B4-BE49-F238E27FC236}">
                <a16:creationId xmlns:a16="http://schemas.microsoft.com/office/drawing/2014/main" id="{7271A73F-AF5D-4F42-813C-745B49519A1E}"/>
              </a:ext>
            </a:extLst>
          </p:cNvPr>
          <p:cNvSpPr>
            <a:spLocks xmlns:a="http://schemas.openxmlformats.org/drawingml/2006/main" noGrp="1"/>
          </p:cNvSpPr>
          <p:nvPr/>
        </p:nvSpPr>
        <p:spPr>
          <a:xfrm xmlns:a="http://schemas.openxmlformats.org/drawingml/2006/main">
            <a:off x="8286750" y="2095500"/>
            <a:ext cx="2762250" cy="131445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700">
                <a:solidFill>
                  <a:srgbClr val="172B3A"/>
                </a:solidFill>
                <a:latin typeface="Helvetica Neue"/>
                <a:ea typeface="Helvetica Neue"/>
                <a:cs typeface="Helvetica Neue"/>
              </a:defRPr>
            </a:pPr>
            <a:r>
              <a:rPr sz="2700">
                <a:solidFill>
                  <a:srgbClr val="172B3A"/>
                </a:solidFill>
                <a:latin typeface="Helvetica Neue"/>
                <a:ea typeface="Helvetica Neue"/>
                <a:cs typeface="Helvetica Neue"/>
              </a:rPr>
              <a:t>Incoming target</a:t>
            </a:r>
          </a:p>
          <a:p xmlns:a="http://schemas.openxmlformats.org/drawingml/2006/main">
            <a:pPr algn="ctr">
              <a:defRPr sz="2700">
                <a:solidFill>
                  <a:srgbClr val="172B3A"/>
                </a:solidFill>
                <a:latin typeface="Helvetica Neue"/>
                <a:ea typeface="Helvetica Neue"/>
                <a:cs typeface="Helvetica Neue"/>
              </a:defRPr>
            </a:pPr>
            <a:r>
              <a:rPr sz="2700">
                <a:solidFill>
                  <a:srgbClr val="172B3A"/>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B38C6268-04E3-4C63-B8D2-9E952D6FA9FC}"/>
              </a:ext>
            </a:extLst>
          </p:cNvPr>
          <p:cNvSpPr>
            <a:spLocks xmlns:a="http://schemas.openxmlformats.org/drawingml/2006/main" noGrp="1"/>
          </p:cNvSpPr>
          <p:nvPr/>
        </p:nvSpPr>
        <p:spPr>
          <a:xfrm xmlns:a="http://schemas.openxmlformats.org/drawingml/2006/main">
            <a:off x="4714875" y="3981450"/>
            <a:ext cx="2762250" cy="1314450"/>
          </a:xfrm>
          <a:prstGeom xmlns:a="http://schemas.openxmlformats.org/drawingml/2006/main" prst="rect">
            <a:avLst/>
          </a:prstGeom>
          <a:solidFill xmlns:a="http://schemas.openxmlformats.org/drawingml/2006/main">
            <a:srgbClr val="F4E5C9"/>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700">
                <a:solidFill>
                  <a:srgbClr val="172B3A"/>
                </a:solidFill>
                <a:latin typeface="Helvetica Neue"/>
                <a:ea typeface="Helvetica Neue"/>
                <a:cs typeface="Helvetica Neue"/>
              </a:defRPr>
            </a:pPr>
            <a:r>
              <a:rPr sz="2700">
                <a:solidFill>
                  <a:srgbClr val="172B3A"/>
                </a:solidFill>
                <a:latin typeface="Helvetica Neue"/>
                <a:ea typeface="Helvetica Neue"/>
                <a:cs typeface="Helvetica Neue"/>
              </a:rPr>
              <a:t>Blended target</a:t>
            </a:r>
          </a:p>
          <a:p xmlns:a="http://schemas.openxmlformats.org/drawingml/2006/main">
            <a:pPr algn="ctr">
              <a:defRPr sz="2700">
                <a:solidFill>
                  <a:srgbClr val="172B3A"/>
                </a:solidFill>
                <a:latin typeface="Helvetica Neue"/>
                <a:ea typeface="Helvetica Neue"/>
                <a:cs typeface="Helvetica Neue"/>
              </a:defRPr>
            </a:pPr>
            <a:r>
              <a:rPr sz="2700">
                <a:solidFill>
                  <a:srgbClr val="172B3A"/>
                </a:solidFill>
                <a:latin typeface="Helvetica Neue"/>
                <a:ea typeface="Helvetica Neue"/>
                <a:cs typeface="Helvetica Neue"/>
              </a:rPr>
              <a:t>45</a:t>
            </a:r>
          </a:p>
        </p:txBody>
      </p:sp>
      <p:cxnSp>
        <p:nvCxnSpPr>
          <p:cNvPr id="16" name=""/>
          <p:cNvCxnSpPr>
            <a:stCxn xmlns:a="http://schemas.openxmlformats.org/drawingml/2006/main" id="3" idx="2"/>
            <a:endCxn xmlns:a="http://schemas.openxmlformats.org/drawingml/2006/main" id="5" idx="1"/>
          </p:cNvCxnSpPr>
          <p:nvPr/>
        </p:nvCxnSpPr>
        <p:spPr>
          <a:xfrm xmlns:a="http://schemas.openxmlformats.org/drawingml/2006/main">
            <a:off x="2524125" y="3409950"/>
            <a:ext cx="2190750" cy="1228725"/>
          </a:xfrm>
          <a:prstGeom xmlns:a="http://schemas.openxmlformats.org/drawingml/2006/main" prst="straightConnector1">
            <a:avLst/>
          </a:prstGeom>
          <a:ln xmlns:a="http://schemas.openxmlformats.org/drawingml/2006/main" w="19050">
            <a:solidFill>
              <a:srgbClr val="526777"/>
            </a:solidFill>
            <a:tailEnd type="triangle" w="sm" len="sm"/>
          </a:ln>
        </p:spPr>
      </p:cxnSp>
      <p:cxnSp>
        <p:nvCxnSpPr>
          <p:cNvPr id="17" name=""/>
          <p:cNvCxnSpPr>
            <a:stCxn xmlns:a="http://schemas.openxmlformats.org/drawingml/2006/main" id="4" idx="2"/>
            <a:endCxn xmlns:a="http://schemas.openxmlformats.org/drawingml/2006/main" id="5" idx="3"/>
          </p:cNvCxnSpPr>
          <p:nvPr/>
        </p:nvCxnSpPr>
        <p:spPr>
          <a:xfrm xmlns:a="http://schemas.openxmlformats.org/drawingml/2006/main" flipH="1">
            <a:off x="7477125" y="3409950"/>
            <a:ext cx="2190750" cy="1228725"/>
          </a:xfrm>
          <a:prstGeom xmlns:a="http://schemas.openxmlformats.org/drawingml/2006/main" prst="straightConnector1">
            <a:avLst/>
          </a:prstGeom>
          <a:ln xmlns:a="http://schemas.openxmlformats.org/drawingml/2006/main" w="19050">
            <a:solidFill>
              <a:srgbClr val="526777"/>
            </a:solidFill>
            <a:tailEnd type="triangle" w="sm" len="sm"/>
          </a:ln>
        </p:spPr>
      </p:cxnSp>
      <p:sp>
        <p:nvSpPr>
          <p:cNvPr id="8" name="">
            <a:extLst xmlns:a="http://schemas.openxmlformats.org/drawingml/2006/main">
              <a:ext uri="{FF2B5EF4-FFF2-40B4-BE49-F238E27FC236}">
                <a16:creationId xmlns:a16="http://schemas.microsoft.com/office/drawing/2014/main" id="{FE687A44-DE20-4218-BCE4-A0B0BA83EC7B}"/>
              </a:ext>
            </a:extLst>
          </p:cNvPr>
          <p:cNvSpPr>
            <a:spLocks xmlns:a="http://schemas.openxmlformats.org/drawingml/2006/main" noGrp="1"/>
          </p:cNvSpPr>
          <p:nvPr/>
        </p:nvSpPr>
        <p:spPr>
          <a:xfrm xmlns:a="http://schemas.openxmlformats.org/drawingml/2006/main">
            <a:off x="3638550" y="1762125"/>
            <a:ext cx="4933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72B3A"/>
                </a:solidFill>
                <a:latin typeface="Helvetica Neue"/>
                <a:ea typeface="Helvetica Neue"/>
                <a:cs typeface="Helvetica Neue"/>
              </a:defRPr>
            </a:pPr>
            <a:r>
              <a:rPr sz="2250" b="1">
                <a:solidFill>
                  <a:srgbClr val="172B3A"/>
                </a:solidFill>
                <a:latin typeface="Helvetica Neue"/>
                <a:ea typeface="Helvetica Neue"/>
                <a:cs typeface="Helvetica Neue"/>
              </a:rPr>
              <a:t>0.5 × old + 0.5 × incoming</a:t>
            </a:r>
          </a:p>
        </p:txBody>
      </p:sp>
      <p:sp>
        <p:nvSpPr>
          <p:cNvPr id="9" name="">
            <a:extLst xmlns:a="http://schemas.openxmlformats.org/drawingml/2006/main">
              <a:ext uri="{FF2B5EF4-FFF2-40B4-BE49-F238E27FC236}">
                <a16:creationId xmlns:a16="http://schemas.microsoft.com/office/drawing/2014/main" id="{ECF4D5B5-9EA7-4D15-93E9-FAF24B37CA61}"/>
              </a:ext>
            </a:extLst>
          </p:cNvPr>
          <p:cNvSpPr>
            <a:spLocks xmlns:a="http://schemas.openxmlformats.org/drawingml/2006/main" noGrp="1"/>
          </p:cNvSpPr>
          <p:nvPr/>
        </p:nvSpPr>
        <p:spPr>
          <a:xfrm xmlns:a="http://schemas.openxmlformats.org/drawingml/2006/main">
            <a:off x="4410075" y="27146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950" b="0">
                <a:solidFill>
                  <a:srgbClr val="526777"/>
                </a:solidFill>
                <a:latin typeface="Helvetica Neue"/>
                <a:ea typeface="Helvetica Neue"/>
                <a:cs typeface="Helvetica Neue"/>
              </a:defRPr>
            </a:pPr>
            <a:r>
              <a:rPr sz="1950" b="0">
                <a:solidFill>
                  <a:srgbClr val="526777"/>
                </a:solidFill>
                <a:latin typeface="Helvetica Neue"/>
                <a:ea typeface="Helvetica Neue"/>
                <a:cs typeface="Helvetica Neue"/>
              </a:rPr>
              <a:t>Same future step</a:t>
            </a:r>
          </a:p>
        </p:txBody>
      </p:sp>
      <p:sp>
        <p:nvSpPr>
          <p:cNvPr id="10" name="">
            <a:extLst xmlns:a="http://schemas.openxmlformats.org/drawingml/2006/main">
              <a:ext uri="{FF2B5EF4-FFF2-40B4-BE49-F238E27FC236}">
                <a16:creationId xmlns:a16="http://schemas.microsoft.com/office/drawing/2014/main" id="{00F47B0B-194A-499C-B026-61F308CEC0E7}"/>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Your test: 5 future steps, arm joints only. The gripper follows the incoming prediction.</a:t>
            </a:r>
          </a:p>
        </p:txBody>
      </p:sp>
    </p:spTree>
    <p:extLst>
      <p:ext uri="{BB962C8B-B14F-4D97-AF65-F5344CB8AC3E}">
        <p14:creationId xmlns:p14="http://schemas.microsoft.com/office/powerpoint/2010/main" val="551123875"/>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D9F5FBF-5924-49E4-8257-9328FD2C74F7}"/>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Refill controls when another request starts</a:t>
            </a:r>
          </a:p>
        </p:txBody>
      </p:sp>
      <p:sp>
        <p:nvSpPr>
          <p:cNvPr id="2" name="">
            <a:extLst xmlns:a="http://schemas.openxmlformats.org/drawingml/2006/main">
              <a:ext uri="{FF2B5EF4-FFF2-40B4-BE49-F238E27FC236}">
                <a16:creationId xmlns:a16="http://schemas.microsoft.com/office/drawing/2014/main" id="{71559DC0-007D-4E8B-92C9-0A125FEB59F8}"/>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28F58DF4-DA31-46C4-8C8E-6E8967F3EC8C}"/>
              </a:ext>
            </a:extLst>
          </p:cNvPr>
          <p:cNvSpPr>
            <a:spLocks xmlns:a="http://schemas.openxmlformats.org/drawingml/2006/main" noGrp="1"/>
          </p:cNvSpPr>
          <p:nvPr/>
        </p:nvSpPr>
        <p:spPr>
          <a:xfrm xmlns:a="http://schemas.openxmlformats.org/drawingml/2006/main">
            <a:off x="609600" y="1676400"/>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Remaining playback</a:t>
            </a:r>
          </a:p>
        </p:txBody>
      </p:sp>
      <p:sp>
        <p:nvSpPr>
          <p:cNvPr id="4" name="">
            <a:extLst xmlns:a="http://schemas.openxmlformats.org/drawingml/2006/main">
              <a:ext uri="{FF2B5EF4-FFF2-40B4-BE49-F238E27FC236}">
                <a16:creationId xmlns:a16="http://schemas.microsoft.com/office/drawing/2014/main" id="{1A667A76-ED12-4ABB-9A10-415BA59856A9}"/>
              </a:ext>
            </a:extLst>
          </p:cNvPr>
          <p:cNvSpPr>
            <a:spLocks xmlns:a="http://schemas.openxmlformats.org/drawingml/2006/main" noGrp="1"/>
          </p:cNvSpPr>
          <p:nvPr/>
        </p:nvSpPr>
        <p:spPr>
          <a:xfrm xmlns:a="http://schemas.openxmlformats.org/drawingml/2006/main">
            <a:off x="809625" y="2714625"/>
            <a:ext cx="3143250" cy="981075"/>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3075">
                <a:solidFill>
                  <a:srgbClr val="172B3A"/>
                </a:solidFill>
                <a:latin typeface="Helvetica Neue"/>
                <a:ea typeface="Helvetica Neue"/>
                <a:cs typeface="Helvetica Neue"/>
              </a:defRPr>
            </a:pPr>
            <a:r>
              <a:rPr sz="3075">
                <a:solidFill>
                  <a:srgbClr val="172B3A"/>
                </a:solidFill>
                <a:latin typeface="Helvetica Neue"/>
                <a:ea typeface="Helvetica Neue"/>
                <a:cs typeface="Helvetica Neue"/>
              </a:rPr>
              <a:t>1.0 s</a:t>
            </a:r>
          </a:p>
        </p:txBody>
      </p:sp>
      <p:sp>
        <p:nvSpPr>
          <p:cNvPr id="5" name="">
            <a:extLst xmlns:a="http://schemas.openxmlformats.org/drawingml/2006/main">
              <a:ext uri="{FF2B5EF4-FFF2-40B4-BE49-F238E27FC236}">
                <a16:creationId xmlns:a16="http://schemas.microsoft.com/office/drawing/2014/main" id="{30B59FBC-4F30-47DA-86B3-22209814613F}"/>
              </a:ext>
            </a:extLst>
          </p:cNvPr>
          <p:cNvSpPr>
            <a:spLocks xmlns:a="http://schemas.openxmlformats.org/drawingml/2006/main" noGrp="1"/>
          </p:cNvSpPr>
          <p:nvPr/>
        </p:nvSpPr>
        <p:spPr>
          <a:xfrm xmlns:a="http://schemas.openxmlformats.org/drawingml/2006/main">
            <a:off x="4524375" y="2714625"/>
            <a:ext cx="3143250" cy="981075"/>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3075">
                <a:solidFill>
                  <a:srgbClr val="172B3A"/>
                </a:solidFill>
                <a:latin typeface="Helvetica Neue"/>
                <a:ea typeface="Helvetica Neue"/>
                <a:cs typeface="Helvetica Neue"/>
              </a:defRPr>
            </a:pPr>
            <a:r>
              <a:rPr sz="3075">
                <a:solidFill>
                  <a:srgbClr val="172B3A"/>
                </a:solidFill>
                <a:latin typeface="Helvetica Neue"/>
                <a:ea typeface="Helvetica Neue"/>
                <a:cs typeface="Helvetica Neue"/>
              </a:rPr>
              <a:t>0.5 s</a:t>
            </a:r>
          </a:p>
        </p:txBody>
      </p:sp>
      <p:sp>
        <p:nvSpPr>
          <p:cNvPr id="6" name="">
            <a:extLst xmlns:a="http://schemas.openxmlformats.org/drawingml/2006/main">
              <a:ext uri="{FF2B5EF4-FFF2-40B4-BE49-F238E27FC236}">
                <a16:creationId xmlns:a16="http://schemas.microsoft.com/office/drawing/2014/main" id="{FF31984C-B9DA-4353-979D-7A00D03CFAAD}"/>
              </a:ext>
            </a:extLst>
          </p:cNvPr>
          <p:cNvSpPr>
            <a:spLocks xmlns:a="http://schemas.openxmlformats.org/drawingml/2006/main" noGrp="1"/>
          </p:cNvSpPr>
          <p:nvPr/>
        </p:nvSpPr>
        <p:spPr>
          <a:xfrm xmlns:a="http://schemas.openxmlformats.org/drawingml/2006/main">
            <a:off x="8239125" y="2714625"/>
            <a:ext cx="3143250" cy="981075"/>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3075">
                <a:solidFill>
                  <a:srgbClr val="172B3A"/>
                </a:solidFill>
                <a:latin typeface="Helvetica Neue"/>
                <a:ea typeface="Helvetica Neue"/>
                <a:cs typeface="Helvetica Neue"/>
              </a:defRPr>
            </a:pPr>
            <a:r>
              <a:rPr sz="3075">
                <a:solidFill>
                  <a:srgbClr val="172B3A"/>
                </a:solidFill>
                <a:latin typeface="Helvetica Neue"/>
                <a:ea typeface="Helvetica Neue"/>
                <a:cs typeface="Helvetica Neue"/>
              </a:rPr>
              <a:t>0.1 s</a:t>
            </a:r>
          </a:p>
        </p:txBody>
      </p:sp>
      <p:cxnSp>
        <p:nvCxnSpPr>
          <p:cNvPr id="19" name=""/>
          <p:cNvCxnSpPr>
            <a:stCxn xmlns:a="http://schemas.openxmlformats.org/drawingml/2006/main" id="4" idx="3"/>
            <a:endCxn xmlns:a="http://schemas.openxmlformats.org/drawingml/2006/main" id="5" idx="1"/>
          </p:cNvCxnSpPr>
          <p:nvPr/>
        </p:nvCxnSpPr>
        <p:spPr>
          <a:xfrm xmlns:a="http://schemas.openxmlformats.org/drawingml/2006/main">
            <a:off x="3952875" y="3205163"/>
            <a:ext cx="571500" cy="0"/>
          </a:xfrm>
          <a:prstGeom xmlns:a="http://schemas.openxmlformats.org/drawingml/2006/main" prst="straightConnector1">
            <a:avLst/>
          </a:prstGeom>
          <a:ln xmlns:a="http://schemas.openxmlformats.org/drawingml/2006/main" w="19050">
            <a:solidFill>
              <a:srgbClr val="526777"/>
            </a:solidFill>
            <a:tailEnd type="triangle" w="sm" len="sm"/>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67625" y="3205163"/>
            <a:ext cx="571500" cy="0"/>
          </a:xfrm>
          <a:prstGeom xmlns:a="http://schemas.openxmlformats.org/drawingml/2006/main" prst="straightConnector1">
            <a:avLst/>
          </a:prstGeom>
          <a:ln xmlns:a="http://schemas.openxmlformats.org/drawingml/2006/main" w="19050">
            <a:solidFill>
              <a:srgbClr val="526777"/>
            </a:solidFill>
            <a:tailEnd type="triangle" w="sm" len="sm"/>
          </a:ln>
        </p:spPr>
      </p:cxnSp>
      <p:sp>
        <p:nvSpPr>
          <p:cNvPr id="9" name="">
            <a:extLst xmlns:a="http://schemas.openxmlformats.org/drawingml/2006/main">
              <a:ext uri="{FF2B5EF4-FFF2-40B4-BE49-F238E27FC236}">
                <a16:creationId xmlns:a16="http://schemas.microsoft.com/office/drawing/2014/main" id="{E427DEBF-DB6B-46F0-A299-6BA7A620A0A3}"/>
              </a:ext>
            </a:extLst>
          </p:cNvPr>
          <p:cNvSpPr>
            <a:spLocks xmlns:a="http://schemas.openxmlformats.org/drawingml/2006/main" noGrp="1"/>
          </p:cNvSpPr>
          <p:nvPr/>
        </p:nvSpPr>
        <p:spPr>
          <a:xfrm xmlns:a="http://schemas.openxmlformats.org/drawingml/2006/main">
            <a:off x="809625" y="3971925"/>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More plan remains</a:t>
            </a:r>
          </a:p>
        </p:txBody>
      </p:sp>
      <p:sp>
        <p:nvSpPr>
          <p:cNvPr id="10" name="">
            <a:extLst xmlns:a="http://schemas.openxmlformats.org/drawingml/2006/main">
              <a:ext uri="{FF2B5EF4-FFF2-40B4-BE49-F238E27FC236}">
                <a16:creationId xmlns:a16="http://schemas.microsoft.com/office/drawing/2014/main" id="{6012CB1F-488E-42C5-B152-05DFD91BCFCD}"/>
              </a:ext>
            </a:extLst>
          </p:cNvPr>
          <p:cNvSpPr>
            <a:spLocks xmlns:a="http://schemas.openxmlformats.org/drawingml/2006/main" noGrp="1"/>
          </p:cNvSpPr>
          <p:nvPr/>
        </p:nvSpPr>
        <p:spPr>
          <a:xfrm xmlns:a="http://schemas.openxmlformats.org/drawingml/2006/main">
            <a:off x="4524375" y="3971925"/>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67C63"/>
                </a:solidFill>
                <a:latin typeface="Helvetica Neue"/>
                <a:ea typeface="Helvetica Neue"/>
                <a:cs typeface="Helvetica Neue"/>
              </a:defRPr>
            </a:pPr>
            <a:r>
              <a:rPr sz="2100" b="1">
                <a:solidFill>
                  <a:srgbClr val="267C63"/>
                </a:solidFill>
                <a:latin typeface="Helvetica Neue"/>
                <a:ea typeface="Helvetica Neue"/>
                <a:cs typeface="Helvetica Neue"/>
              </a:rPr>
              <a:t>Earlier request</a:t>
            </a:r>
          </a:p>
          <a:p xmlns:a="http://schemas.openxmlformats.org/drawingml/2006/main">
            <a:pPr algn="l">
              <a:defRPr sz="2100" b="1">
                <a:solidFill>
                  <a:srgbClr val="267C63"/>
                </a:solidFill>
                <a:latin typeface="Helvetica Neue"/>
                <a:ea typeface="Helvetica Neue"/>
                <a:cs typeface="Helvetica Neue"/>
              </a:defRPr>
            </a:pPr>
            <a:r>
              <a:rPr sz="2100" b="1">
                <a:solidFill>
                  <a:srgbClr val="267C63"/>
                </a:solidFill>
                <a:latin typeface="Helvetica Neue"/>
                <a:ea typeface="Helvetica Neue"/>
                <a:cs typeface="Helvetica Neue"/>
              </a:rPr>
              <a:t>with refill 0.5</a:t>
            </a:r>
          </a:p>
        </p:txBody>
      </p:sp>
      <p:sp>
        <p:nvSpPr>
          <p:cNvPr id="11" name="">
            <a:extLst xmlns:a="http://schemas.openxmlformats.org/drawingml/2006/main">
              <a:ext uri="{FF2B5EF4-FFF2-40B4-BE49-F238E27FC236}">
                <a16:creationId xmlns:a16="http://schemas.microsoft.com/office/drawing/2014/main" id="{D835A797-EB53-4031-A70B-665607323EC9}"/>
              </a:ext>
            </a:extLst>
          </p:cNvPr>
          <p:cNvSpPr>
            <a:spLocks xmlns:a="http://schemas.openxmlformats.org/drawingml/2006/main" noGrp="1"/>
          </p:cNvSpPr>
          <p:nvPr/>
        </p:nvSpPr>
        <p:spPr>
          <a:xfrm xmlns:a="http://schemas.openxmlformats.org/drawingml/2006/main">
            <a:off x="8239125" y="3971925"/>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77B9F"/>
                </a:solidFill>
                <a:latin typeface="Helvetica Neue"/>
                <a:ea typeface="Helvetica Neue"/>
                <a:cs typeface="Helvetica Neue"/>
              </a:defRPr>
            </a:pPr>
            <a:r>
              <a:rPr sz="2100" b="1">
                <a:solidFill>
                  <a:srgbClr val="177B9F"/>
                </a:solidFill>
                <a:latin typeface="Helvetica Neue"/>
                <a:ea typeface="Helvetica Neue"/>
                <a:cs typeface="Helvetica Neue"/>
              </a:rPr>
              <a:t>Later request</a:t>
            </a:r>
          </a:p>
          <a:p xmlns:a="http://schemas.openxmlformats.org/drawingml/2006/main">
            <a:pPr algn="l">
              <a:defRPr sz="2100" b="1">
                <a:solidFill>
                  <a:srgbClr val="177B9F"/>
                </a:solidFill>
                <a:latin typeface="Helvetica Neue"/>
                <a:ea typeface="Helvetica Neue"/>
                <a:cs typeface="Helvetica Neue"/>
              </a:defRPr>
            </a:pPr>
            <a:r>
              <a:rPr sz="2100" b="1">
                <a:solidFill>
                  <a:srgbClr val="177B9F"/>
                </a:solidFill>
                <a:latin typeface="Helvetica Neue"/>
                <a:ea typeface="Helvetica Neue"/>
                <a:cs typeface="Helvetica Neue"/>
              </a:rPr>
              <a:t>with refill 0.1*</a:t>
            </a:r>
          </a:p>
        </p:txBody>
      </p:sp>
      <p:sp>
        <p:nvSpPr>
          <p:cNvPr id="12" name="">
            <a:extLst xmlns:a="http://schemas.openxmlformats.org/drawingml/2006/main">
              <a:ext uri="{FF2B5EF4-FFF2-40B4-BE49-F238E27FC236}">
                <a16:creationId xmlns:a16="http://schemas.microsoft.com/office/drawing/2014/main" id="{EF6C525B-6F74-447F-AC97-C9F83C6DD560}"/>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9B5B11"/>
                </a:solidFill>
                <a:latin typeface="Helvetica Neue"/>
                <a:ea typeface="Helvetica Neue"/>
                <a:cs typeface="Helvetica Neue"/>
              </a:defRPr>
            </a:pPr>
            <a:r>
              <a:rPr sz="1725" b="0">
                <a:solidFill>
                  <a:srgbClr val="9B5B11"/>
                </a:solidFill>
                <a:latin typeface="Helvetica Neue"/>
                <a:ea typeface="Helvetica Neue"/>
                <a:cs typeface="Helvetica Neue"/>
              </a:rPr>
              <a:t>*The measured latency floor can trigger earlier. Current aligned mode bypasses this gate.</a:t>
            </a:r>
          </a:p>
        </p:txBody>
      </p:sp>
    </p:spTree>
    <p:extLst>
      <p:ext uri="{BB962C8B-B14F-4D97-AF65-F5344CB8AC3E}">
        <p14:creationId xmlns:p14="http://schemas.microsoft.com/office/powerpoint/2010/main" val="713522497"/>
      </p:ext>
    </p:extLst>
  </p:cSld>
</p:sld>
</file>

<file path=ppt/slides/slide1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00A3D7F-8ED7-4B1F-8476-68878775555E}"/>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Parameters worth recognizing first</a:t>
            </a:r>
          </a:p>
        </p:txBody>
      </p:sp>
      <p:sp>
        <p:nvSpPr>
          <p:cNvPr id="2" name="">
            <a:extLst xmlns:a="http://schemas.openxmlformats.org/drawingml/2006/main">
              <a:ext uri="{FF2B5EF4-FFF2-40B4-BE49-F238E27FC236}">
                <a16:creationId xmlns:a16="http://schemas.microsoft.com/office/drawing/2014/main" id="{3EAB62A3-0686-46CF-B52E-475716D98E6B}"/>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06ACC5F8-DAFE-424F-BBFE-6D7D84EA7B78}"/>
              </a:ext>
            </a:extLst>
          </p:cNvPr>
          <p:cNvSpPr>
            <a:spLocks xmlns:a="http://schemas.openxmlformats.org/drawingml/2006/main" noGrp="1"/>
          </p:cNvSpPr>
          <p:nvPr/>
        </p:nvSpPr>
        <p:spPr>
          <a:xfrm xmlns:a="http://schemas.openxmlformats.org/drawingml/2006/main">
            <a:off x="609600" y="1647825"/>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77B9F"/>
                </a:solidFill>
                <a:latin typeface="Helvetica Neue"/>
                <a:ea typeface="Helvetica Neue"/>
                <a:cs typeface="Helvetica Neue"/>
              </a:defRPr>
            </a:pPr>
            <a:r>
              <a:rPr sz="2100" b="1">
                <a:solidFill>
                  <a:srgbClr val="177B9F"/>
                </a:solidFill>
                <a:latin typeface="Helvetica Neue"/>
                <a:ea typeface="Helvetica Neue"/>
                <a:cs typeface="Helvetica Neue"/>
              </a:rPr>
              <a:t>refill_seconds</a:t>
            </a:r>
          </a:p>
        </p:txBody>
      </p:sp>
      <p:sp>
        <p:nvSpPr>
          <p:cNvPr id="4" name="">
            <a:extLst xmlns:a="http://schemas.openxmlformats.org/drawingml/2006/main">
              <a:ext uri="{FF2B5EF4-FFF2-40B4-BE49-F238E27FC236}">
                <a16:creationId xmlns:a16="http://schemas.microsoft.com/office/drawing/2014/main" id="{FDF365B4-E424-404A-9669-714CED97996D}"/>
              </a:ext>
            </a:extLst>
          </p:cNvPr>
          <p:cNvSpPr>
            <a:spLocks xmlns:a="http://schemas.openxmlformats.org/drawingml/2006/main" noGrp="1"/>
          </p:cNvSpPr>
          <p:nvPr/>
        </p:nvSpPr>
        <p:spPr>
          <a:xfrm xmlns:a="http://schemas.openxmlformats.org/drawingml/2006/main">
            <a:off x="6048375" y="1647825"/>
            <a:ext cx="5495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72B3A"/>
                </a:solidFill>
                <a:latin typeface="Helvetica Neue"/>
                <a:ea typeface="Helvetica Neue"/>
                <a:cs typeface="Helvetica Neue"/>
              </a:defRPr>
            </a:pPr>
            <a:r>
              <a:rPr sz="1950" b="0">
                <a:solidFill>
                  <a:srgbClr val="172B3A"/>
                </a:solidFill>
                <a:latin typeface="Helvetica Neue"/>
                <a:ea typeface="Helvetica Neue"/>
                <a:cs typeface="Helvetica Neue"/>
              </a:rPr>
              <a:t>Request timing and inference headroom</a:t>
            </a:r>
          </a:p>
        </p:txBody>
      </p:sp>
      <p:sp>
        <p:nvSpPr>
          <p:cNvPr id="5" name="">
            <a:extLst xmlns:a="http://schemas.openxmlformats.org/drawingml/2006/main">
              <a:ext uri="{FF2B5EF4-FFF2-40B4-BE49-F238E27FC236}">
                <a16:creationId xmlns:a16="http://schemas.microsoft.com/office/drawing/2014/main" id="{0CBDFA3C-2831-46D6-9D78-2DC533E7954B}"/>
              </a:ext>
            </a:extLst>
          </p:cNvPr>
          <p:cNvSpPr>
            <a:spLocks xmlns:a="http://schemas.openxmlformats.org/drawingml/2006/main" noGrp="1"/>
          </p:cNvSpPr>
          <p:nvPr/>
        </p:nvSpPr>
        <p:spPr>
          <a:xfrm xmlns:a="http://schemas.openxmlformats.org/drawingml/2006/main">
            <a:off x="609600" y="2286000"/>
            <a:ext cx="10839450" cy="0"/>
          </a:xfrm>
          <a:prstGeom xmlns:a="http://schemas.openxmlformats.org/drawingml/2006/main" prst="line">
            <a:avLst/>
          </a:prstGeom>
          <a:noFill xmlns:a="http://schemas.openxmlformats.org/drawingml/2006/main"/>
          <a:ln xmlns:a="http://schemas.openxmlformats.org/drawingml/2006/main" w="9525">
            <a:solidFill>
              <a:srgbClr val="DEE3E5"/>
            </a:solidFill>
          </a:ln>
        </p:spPr>
      </p:sp>
      <p:sp>
        <p:nvSpPr>
          <p:cNvPr id="6" name="">
            <a:extLst xmlns:a="http://schemas.openxmlformats.org/drawingml/2006/main">
              <a:ext uri="{FF2B5EF4-FFF2-40B4-BE49-F238E27FC236}">
                <a16:creationId xmlns:a16="http://schemas.microsoft.com/office/drawing/2014/main" id="{100B9560-2E78-4C3D-B808-6B68D1CED3F8}"/>
              </a:ext>
            </a:extLst>
          </p:cNvPr>
          <p:cNvSpPr>
            <a:spLocks xmlns:a="http://schemas.openxmlformats.org/drawingml/2006/main" noGrp="1"/>
          </p:cNvSpPr>
          <p:nvPr/>
        </p:nvSpPr>
        <p:spPr>
          <a:xfrm xmlns:a="http://schemas.openxmlformats.org/drawingml/2006/main">
            <a:off x="609600" y="2428875"/>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77B9F"/>
                </a:solidFill>
                <a:latin typeface="Helvetica Neue"/>
                <a:ea typeface="Helvetica Neue"/>
                <a:cs typeface="Helvetica Neue"/>
              </a:defRPr>
            </a:pPr>
            <a:r>
              <a:rPr sz="2100" b="1">
                <a:solidFill>
                  <a:srgbClr val="177B9F"/>
                </a:solidFill>
                <a:latin typeface="Helvetica Neue"/>
                <a:ea typeface="Helvetica Neue"/>
                <a:cs typeface="Helvetica Neue"/>
              </a:rPr>
              <a:t>blend_steps / blend_weight</a:t>
            </a:r>
          </a:p>
        </p:txBody>
      </p:sp>
      <p:sp>
        <p:nvSpPr>
          <p:cNvPr id="7" name="">
            <a:extLst xmlns:a="http://schemas.openxmlformats.org/drawingml/2006/main">
              <a:ext uri="{FF2B5EF4-FFF2-40B4-BE49-F238E27FC236}">
                <a16:creationId xmlns:a16="http://schemas.microsoft.com/office/drawing/2014/main" id="{FCC59E7D-453A-400E-8358-E23A10D9AAC2}"/>
              </a:ext>
            </a:extLst>
          </p:cNvPr>
          <p:cNvSpPr>
            <a:spLocks xmlns:a="http://schemas.openxmlformats.org/drawingml/2006/main" noGrp="1"/>
          </p:cNvSpPr>
          <p:nvPr/>
        </p:nvSpPr>
        <p:spPr>
          <a:xfrm xmlns:a="http://schemas.openxmlformats.org/drawingml/2006/main">
            <a:off x="6048375" y="2428875"/>
            <a:ext cx="5495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72B3A"/>
                </a:solidFill>
                <a:latin typeface="Helvetica Neue"/>
                <a:ea typeface="Helvetica Neue"/>
                <a:cs typeface="Helvetica Neue"/>
              </a:defRPr>
            </a:pPr>
            <a:r>
              <a:rPr sz="1950" b="0">
                <a:solidFill>
                  <a:srgbClr val="172B3A"/>
                </a:solidFill>
                <a:latin typeface="Helvetica Neue"/>
                <a:ea typeface="Helvetica Neue"/>
                <a:cs typeface="Helvetica Neue"/>
              </a:rPr>
              <a:t>Overlap length and incoming contribution</a:t>
            </a:r>
          </a:p>
        </p:txBody>
      </p:sp>
      <p:sp>
        <p:nvSpPr>
          <p:cNvPr id="8" name="">
            <a:extLst xmlns:a="http://schemas.openxmlformats.org/drawingml/2006/main">
              <a:ext uri="{FF2B5EF4-FFF2-40B4-BE49-F238E27FC236}">
                <a16:creationId xmlns:a16="http://schemas.microsoft.com/office/drawing/2014/main" id="{D350BAC1-5765-4657-88AB-4EF5F126168B}"/>
              </a:ext>
            </a:extLst>
          </p:cNvPr>
          <p:cNvSpPr>
            <a:spLocks xmlns:a="http://schemas.openxmlformats.org/drawingml/2006/main" noGrp="1"/>
          </p:cNvSpPr>
          <p:nvPr/>
        </p:nvSpPr>
        <p:spPr>
          <a:xfrm xmlns:a="http://schemas.openxmlformats.org/drawingml/2006/main">
            <a:off x="609600" y="3067050"/>
            <a:ext cx="10839450" cy="0"/>
          </a:xfrm>
          <a:prstGeom xmlns:a="http://schemas.openxmlformats.org/drawingml/2006/main" prst="line">
            <a:avLst/>
          </a:prstGeom>
          <a:noFill xmlns:a="http://schemas.openxmlformats.org/drawingml/2006/main"/>
          <a:ln xmlns:a="http://schemas.openxmlformats.org/drawingml/2006/main" w="9525">
            <a:solidFill>
              <a:srgbClr val="DEE3E5"/>
            </a:solidFill>
          </a:ln>
        </p:spPr>
      </p:sp>
      <p:sp>
        <p:nvSpPr>
          <p:cNvPr id="9" name="">
            <a:extLst xmlns:a="http://schemas.openxmlformats.org/drawingml/2006/main">
              <a:ext uri="{FF2B5EF4-FFF2-40B4-BE49-F238E27FC236}">
                <a16:creationId xmlns:a16="http://schemas.microsoft.com/office/drawing/2014/main" id="{5194020C-A7BB-46B5-971E-7B087BBDF5F3}"/>
              </a:ext>
            </a:extLst>
          </p:cNvPr>
          <p:cNvSpPr>
            <a:spLocks xmlns:a="http://schemas.openxmlformats.org/drawingml/2006/main" noGrp="1"/>
          </p:cNvSpPr>
          <p:nvPr/>
        </p:nvSpPr>
        <p:spPr>
          <a:xfrm xmlns:a="http://schemas.openxmlformats.org/drawingml/2006/main">
            <a:off x="609600" y="3209925"/>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77B9F"/>
                </a:solidFill>
                <a:latin typeface="Helvetica Neue"/>
                <a:ea typeface="Helvetica Neue"/>
                <a:cs typeface="Helvetica Neue"/>
              </a:defRPr>
            </a:pPr>
            <a:r>
              <a:rPr sz="2100" b="1">
                <a:solidFill>
                  <a:srgbClr val="177B9F"/>
                </a:solidFill>
                <a:latin typeface="Helvetica Neue"/>
                <a:ea typeface="Helvetica Neue"/>
                <a:cs typeface="Helvetica Neue"/>
              </a:rPr>
              <a:t>max_observation_age_s</a:t>
            </a:r>
          </a:p>
        </p:txBody>
      </p:sp>
      <p:sp>
        <p:nvSpPr>
          <p:cNvPr id="10" name="">
            <a:extLst xmlns:a="http://schemas.openxmlformats.org/drawingml/2006/main">
              <a:ext uri="{FF2B5EF4-FFF2-40B4-BE49-F238E27FC236}">
                <a16:creationId xmlns:a16="http://schemas.microsoft.com/office/drawing/2014/main" id="{D7896876-A327-4647-9644-E5D6676682A5}"/>
              </a:ext>
            </a:extLst>
          </p:cNvPr>
          <p:cNvSpPr>
            <a:spLocks xmlns:a="http://schemas.openxmlformats.org/drawingml/2006/main" noGrp="1"/>
          </p:cNvSpPr>
          <p:nvPr/>
        </p:nvSpPr>
        <p:spPr>
          <a:xfrm xmlns:a="http://schemas.openxmlformats.org/drawingml/2006/main">
            <a:off x="6048375" y="3209925"/>
            <a:ext cx="5495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72B3A"/>
                </a:solidFill>
                <a:latin typeface="Helvetica Neue"/>
                <a:ea typeface="Helvetica Neue"/>
                <a:cs typeface="Helvetica Neue"/>
              </a:defRPr>
            </a:pPr>
            <a:r>
              <a:rPr sz="1950" b="0">
                <a:solidFill>
                  <a:srgbClr val="172B3A"/>
                </a:solidFill>
                <a:latin typeface="Helvetica Neue"/>
                <a:ea typeface="Helvetica Neue"/>
                <a:cs typeface="Helvetica Neue"/>
              </a:rPr>
              <a:t>Maximum permitted action-source age</a:t>
            </a:r>
          </a:p>
        </p:txBody>
      </p:sp>
      <p:sp>
        <p:nvSpPr>
          <p:cNvPr id="11" name="">
            <a:extLst xmlns:a="http://schemas.openxmlformats.org/drawingml/2006/main">
              <a:ext uri="{FF2B5EF4-FFF2-40B4-BE49-F238E27FC236}">
                <a16:creationId xmlns:a16="http://schemas.microsoft.com/office/drawing/2014/main" id="{D42223A6-E695-4923-9CAC-03BF1678B70D}"/>
              </a:ext>
            </a:extLst>
          </p:cNvPr>
          <p:cNvSpPr>
            <a:spLocks xmlns:a="http://schemas.openxmlformats.org/drawingml/2006/main" noGrp="1"/>
          </p:cNvSpPr>
          <p:nvPr/>
        </p:nvSpPr>
        <p:spPr>
          <a:xfrm xmlns:a="http://schemas.openxmlformats.org/drawingml/2006/main">
            <a:off x="609600" y="3848100"/>
            <a:ext cx="10839450" cy="0"/>
          </a:xfrm>
          <a:prstGeom xmlns:a="http://schemas.openxmlformats.org/drawingml/2006/main" prst="line">
            <a:avLst/>
          </a:prstGeom>
          <a:noFill xmlns:a="http://schemas.openxmlformats.org/drawingml/2006/main"/>
          <a:ln xmlns:a="http://schemas.openxmlformats.org/drawingml/2006/main" w="9525">
            <a:solidFill>
              <a:srgbClr val="DEE3E5"/>
            </a:solidFill>
          </a:ln>
        </p:spPr>
      </p:sp>
      <p:sp>
        <p:nvSpPr>
          <p:cNvPr id="12" name="">
            <a:extLst xmlns:a="http://schemas.openxmlformats.org/drawingml/2006/main">
              <a:ext uri="{FF2B5EF4-FFF2-40B4-BE49-F238E27FC236}">
                <a16:creationId xmlns:a16="http://schemas.microsoft.com/office/drawing/2014/main" id="{EF1681ED-DC0C-46CA-9444-72BCE6524024}"/>
              </a:ext>
            </a:extLst>
          </p:cNvPr>
          <p:cNvSpPr>
            <a:spLocks xmlns:a="http://schemas.openxmlformats.org/drawingml/2006/main" noGrp="1"/>
          </p:cNvSpPr>
          <p:nvPr/>
        </p:nvSpPr>
        <p:spPr>
          <a:xfrm xmlns:a="http://schemas.openxmlformats.org/drawingml/2006/main">
            <a:off x="609600" y="3990975"/>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77B9F"/>
                </a:solidFill>
                <a:latin typeface="Helvetica Neue"/>
                <a:ea typeface="Helvetica Neue"/>
                <a:cs typeface="Helvetica Neue"/>
              </a:defRPr>
            </a:pPr>
            <a:r>
              <a:rPr sz="2100" b="1">
                <a:solidFill>
                  <a:srgbClr val="177B9F"/>
                </a:solidFill>
                <a:latin typeface="Helvetica Neue"/>
                <a:ea typeface="Helvetica Neue"/>
                <a:cs typeface="Helvetica Neue"/>
              </a:rPr>
              <a:t>action_timeout_s</a:t>
            </a:r>
          </a:p>
        </p:txBody>
      </p:sp>
      <p:sp>
        <p:nvSpPr>
          <p:cNvPr id="13" name="">
            <a:extLst xmlns:a="http://schemas.openxmlformats.org/drawingml/2006/main">
              <a:ext uri="{FF2B5EF4-FFF2-40B4-BE49-F238E27FC236}">
                <a16:creationId xmlns:a16="http://schemas.microsoft.com/office/drawing/2014/main" id="{8BD2AA25-CC0E-4DB9-99D5-85FD9B5559EE}"/>
              </a:ext>
            </a:extLst>
          </p:cNvPr>
          <p:cNvSpPr>
            <a:spLocks xmlns:a="http://schemas.openxmlformats.org/drawingml/2006/main" noGrp="1"/>
          </p:cNvSpPr>
          <p:nvPr/>
        </p:nvSpPr>
        <p:spPr>
          <a:xfrm xmlns:a="http://schemas.openxmlformats.org/drawingml/2006/main">
            <a:off x="6048375" y="3990975"/>
            <a:ext cx="5495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72B3A"/>
                </a:solidFill>
                <a:latin typeface="Helvetica Neue"/>
                <a:ea typeface="Helvetica Neue"/>
                <a:cs typeface="Helvetica Neue"/>
              </a:defRPr>
            </a:pPr>
            <a:r>
              <a:rPr sz="1950" b="0">
                <a:solidFill>
                  <a:srgbClr val="172B3A"/>
                </a:solidFill>
                <a:latin typeface="Helvetica Neue"/>
                <a:ea typeface="Helvetica Neue"/>
                <a:cs typeface="Helvetica Neue"/>
              </a:rPr>
              <a:t>How long a pending request may take</a:t>
            </a:r>
          </a:p>
        </p:txBody>
      </p:sp>
      <p:sp>
        <p:nvSpPr>
          <p:cNvPr id="14" name="">
            <a:extLst xmlns:a="http://schemas.openxmlformats.org/drawingml/2006/main">
              <a:ext uri="{FF2B5EF4-FFF2-40B4-BE49-F238E27FC236}">
                <a16:creationId xmlns:a16="http://schemas.microsoft.com/office/drawing/2014/main" id="{E7F9A93D-4E83-430F-836B-7444AC508CBF}"/>
              </a:ext>
            </a:extLst>
          </p:cNvPr>
          <p:cNvSpPr>
            <a:spLocks xmlns:a="http://schemas.openxmlformats.org/drawingml/2006/main" noGrp="1"/>
          </p:cNvSpPr>
          <p:nvPr/>
        </p:nvSpPr>
        <p:spPr>
          <a:xfrm xmlns:a="http://schemas.openxmlformats.org/drawingml/2006/main">
            <a:off x="609600" y="4629150"/>
            <a:ext cx="10839450" cy="0"/>
          </a:xfrm>
          <a:prstGeom xmlns:a="http://schemas.openxmlformats.org/drawingml/2006/main" prst="line">
            <a:avLst/>
          </a:prstGeom>
          <a:noFill xmlns:a="http://schemas.openxmlformats.org/drawingml/2006/main"/>
          <a:ln xmlns:a="http://schemas.openxmlformats.org/drawingml/2006/main" w="9525">
            <a:solidFill>
              <a:srgbClr val="DEE3E5"/>
            </a:solidFill>
          </a:ln>
        </p:spPr>
      </p:sp>
      <p:sp>
        <p:nvSpPr>
          <p:cNvPr id="15" name="">
            <a:extLst xmlns:a="http://schemas.openxmlformats.org/drawingml/2006/main">
              <a:ext uri="{FF2B5EF4-FFF2-40B4-BE49-F238E27FC236}">
                <a16:creationId xmlns:a16="http://schemas.microsoft.com/office/drawing/2014/main" id="{2C76053A-B840-43B3-8B3A-B7434F00FAD9}"/>
              </a:ext>
            </a:extLst>
          </p:cNvPr>
          <p:cNvSpPr>
            <a:spLocks xmlns:a="http://schemas.openxmlformats.org/drawingml/2006/main" noGrp="1"/>
          </p:cNvSpPr>
          <p:nvPr/>
        </p:nvSpPr>
        <p:spPr>
          <a:xfrm xmlns:a="http://schemas.openxmlformats.org/drawingml/2006/main">
            <a:off x="609600" y="4772025"/>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77B9F"/>
                </a:solidFill>
                <a:latin typeface="Helvetica Neue"/>
                <a:ea typeface="Helvetica Neue"/>
                <a:cs typeface="Helvetica Neue"/>
              </a:defRPr>
            </a:pPr>
            <a:r>
              <a:rPr sz="2100" b="1">
                <a:solidFill>
                  <a:srgbClr val="177B9F"/>
                </a:solidFill>
                <a:latin typeface="Helvetica Neue"/>
                <a:ea typeface="Helvetica Neue"/>
                <a:cs typeface="Helvetica Neue"/>
              </a:rPr>
              <a:t>fps /</a:t>
            </a:r>
          </a:p>
          <a:p xmlns:a="http://schemas.openxmlformats.org/drawingml/2006/main">
            <a:pPr algn="l">
              <a:defRPr sz="2100" b="1">
                <a:solidFill>
                  <a:srgbClr val="177B9F"/>
                </a:solidFill>
                <a:latin typeface="Helvetica Neue"/>
                <a:ea typeface="Helvetica Neue"/>
                <a:cs typeface="Helvetica Neue"/>
              </a:defRPr>
            </a:pPr>
            <a:r>
              <a:rPr sz="2100" b="1">
                <a:solidFill>
                  <a:srgbClr val="177B9F"/>
                </a:solidFill>
                <a:latin typeface="Helvetica Neue"/>
                <a:ea typeface="Helvetica Neue"/>
                <a:cs typeface="Helvetica Neue"/>
              </a:rPr>
              <a:t>interpolation_multiplier</a:t>
            </a:r>
          </a:p>
        </p:txBody>
      </p:sp>
      <p:sp>
        <p:nvSpPr>
          <p:cNvPr id="16" name="">
            <a:extLst xmlns:a="http://schemas.openxmlformats.org/drawingml/2006/main">
              <a:ext uri="{FF2B5EF4-FFF2-40B4-BE49-F238E27FC236}">
                <a16:creationId xmlns:a16="http://schemas.microsoft.com/office/drawing/2014/main" id="{DACE9F2A-0707-411B-8E7E-1CDB75BE2643}"/>
              </a:ext>
            </a:extLst>
          </p:cNvPr>
          <p:cNvSpPr>
            <a:spLocks xmlns:a="http://schemas.openxmlformats.org/drawingml/2006/main" noGrp="1"/>
          </p:cNvSpPr>
          <p:nvPr/>
        </p:nvSpPr>
        <p:spPr>
          <a:xfrm xmlns:a="http://schemas.openxmlformats.org/drawingml/2006/main">
            <a:off x="6048375" y="4772025"/>
            <a:ext cx="5495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72B3A"/>
                </a:solidFill>
                <a:latin typeface="Helvetica Neue"/>
                <a:ea typeface="Helvetica Neue"/>
                <a:cs typeface="Helvetica Neue"/>
              </a:defRPr>
            </a:pPr>
            <a:r>
              <a:rPr sz="1950" b="0">
                <a:solidFill>
                  <a:srgbClr val="172B3A"/>
                </a:solidFill>
                <a:latin typeface="Helvetica Neue"/>
                <a:ea typeface="Helvetica Neue"/>
                <a:cs typeface="Helvetica Neue"/>
              </a:rPr>
              <a:t>Policy pace and intermediate motor targets</a:t>
            </a:r>
          </a:p>
        </p:txBody>
      </p:sp>
      <p:sp>
        <p:nvSpPr>
          <p:cNvPr id="17" name="">
            <a:extLst xmlns:a="http://schemas.openxmlformats.org/drawingml/2006/main">
              <a:ext uri="{FF2B5EF4-FFF2-40B4-BE49-F238E27FC236}">
                <a16:creationId xmlns:a16="http://schemas.microsoft.com/office/drawing/2014/main" id="{DD708FDD-AC9E-4F86-B233-C2818270F176}"/>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Bounds protect execution. Increasing them does not correct stale plans or poor task behavior.</a:t>
            </a:r>
          </a:p>
        </p:txBody>
      </p:sp>
    </p:spTree>
    <p:extLst>
      <p:ext uri="{BB962C8B-B14F-4D97-AF65-F5344CB8AC3E}">
        <p14:creationId xmlns:p14="http://schemas.microsoft.com/office/powerpoint/2010/main" val="1712045527"/>
      </p:ext>
    </p:extLst>
  </p:cSld>
</p:sld>
</file>

<file path=ppt/slides/slide1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7AC98BB-D0F5-43BD-863C-2DE481E7B357}"/>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ACT switched prediction after almost every action</a:t>
            </a:r>
          </a:p>
        </p:txBody>
      </p:sp>
      <p:sp>
        <p:nvSpPr>
          <p:cNvPr id="2" name="">
            <a:extLst xmlns:a="http://schemas.openxmlformats.org/drawingml/2006/main">
              <a:ext uri="{FF2B5EF4-FFF2-40B4-BE49-F238E27FC236}">
                <a16:creationId xmlns:a16="http://schemas.microsoft.com/office/drawing/2014/main" id="{FCCE62B6-A86A-4B99-94A7-3870C54128EC}"/>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7393EE53-D240-41C7-B282-11DDA0DB7375}"/>
              </a:ext>
            </a:extLst>
          </p:cNvPr>
          <p:cNvSpPr>
            <a:spLocks xmlns:a="http://schemas.openxmlformats.org/drawingml/2006/main" noGrp="1"/>
          </p:cNvSpPr>
          <p:nvPr/>
        </p:nvSpPr>
        <p:spPr>
          <a:xfrm xmlns:a="http://schemas.openxmlformats.org/drawingml/2006/main">
            <a:off x="609600" y="1438275"/>
            <a:ext cx="685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26777"/>
                </a:solidFill>
                <a:latin typeface="Helvetica Neue"/>
                <a:ea typeface="Helvetica Neue"/>
                <a:cs typeface="Helvetica Neue"/>
              </a:defRPr>
            </a:pPr>
            <a:r>
              <a:rPr sz="2100" b="0">
                <a:solidFill>
                  <a:srgbClr val="526777"/>
                </a:solidFill>
                <a:latin typeface="Helvetica Neue"/>
                <a:ea typeface="Helvetica Neue"/>
                <a:cs typeface="Helvetica Neue"/>
              </a:rPr>
              <a:t>Actions before switching prediction</a:t>
            </a:r>
          </a:p>
          <a:p xmlns:a="http://schemas.openxmlformats.org/drawingml/2006/main">
            <a:pPr algn="l">
              <a:defRPr sz="2100" b="0">
                <a:solidFill>
                  <a:srgbClr val="526777"/>
                </a:solidFill>
                <a:latin typeface="Helvetica Neue"/>
                <a:ea typeface="Helvetica Neue"/>
                <a:cs typeface="Helvetica Neue"/>
              </a:defRPr>
            </a:pPr>
            <a:r>
              <a:rPr sz="2100" b="0">
                <a:solidFill>
                  <a:srgbClr val="526777"/>
                </a:solidFill>
                <a:latin typeface="Helvetica Neue"/>
                <a:ea typeface="Helvetica Neue"/>
                <a:cs typeface="Helvetica Neue"/>
              </a:rPr>
              <a:t>Median from client first-dispatch events</a:t>
            </a:r>
          </a:p>
        </p:txBody>
      </p:sp>
      <p:graphicFrame>
        <p:nvGraphicFramePr>
          <p:cNvPr id="13" name="Chart"/>
          <p:cNvGraphicFramePr/>
          <p:nvPr/>
        </p:nvGraphicFramePr>
        <p:xfrm>
          <a:off xmlns:a="http://schemas.openxmlformats.org/drawingml/2006/main" x="619125" y="2381250"/>
          <a:ext xmlns:a="http://schemas.openxmlformats.org/drawingml/2006/main" cx="6619875" cy="3238500"/>
        </p:xfrm>
        <a:graphic xmlns:a="http://schemas.openxmlformats.org/drawingml/2006/main">
          <a:graphicData uri="http://schemas.openxmlformats.org/drawingml/2006/chart">
            <c:chart xmlns:r="http://schemas.openxmlformats.org/officeDocument/2006/relationships" xmlns:c="http://schemas.openxmlformats.org/drawingml/2006/chart" r:id="Raaaf2b6dd77a48d7"/>
          </a:graphicData>
        </a:graphic>
      </p:graphicFrame>
      <p:sp>
        <p:nvSpPr>
          <p:cNvPr id="5" name="">
            <a:extLst xmlns:a="http://schemas.openxmlformats.org/drawingml/2006/main">
              <a:ext uri="{FF2B5EF4-FFF2-40B4-BE49-F238E27FC236}">
                <a16:creationId xmlns:a16="http://schemas.microsoft.com/office/drawing/2014/main" id="{B7528F30-1453-4CF1-8140-A50C8E162DA4}"/>
              </a:ext>
            </a:extLst>
          </p:cNvPr>
          <p:cNvSpPr>
            <a:spLocks xmlns:a="http://schemas.openxmlformats.org/drawingml/2006/main" noGrp="1"/>
          </p:cNvSpPr>
          <p:nvPr/>
        </p:nvSpPr>
        <p:spPr>
          <a:xfrm xmlns:a="http://schemas.openxmlformats.org/drawingml/2006/main">
            <a:off x="8001000" y="1857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67C63"/>
                </a:solidFill>
                <a:latin typeface="Helvetica Neue"/>
                <a:ea typeface="Helvetica Neue"/>
                <a:cs typeface="Helvetica Neue"/>
              </a:defRPr>
            </a:pPr>
            <a:r>
              <a:rPr sz="2250" b="1">
                <a:solidFill>
                  <a:srgbClr val="267C63"/>
                </a:solidFill>
                <a:latin typeface="Helvetica Neue"/>
                <a:ea typeface="Helvetica Neue"/>
                <a:cs typeface="Helvetica Neue"/>
              </a:rPr>
              <a:t>Baseline</a:t>
            </a:r>
          </a:p>
        </p:txBody>
      </p:sp>
      <p:sp>
        <p:nvSpPr>
          <p:cNvPr id="6" name="">
            <a:extLst xmlns:a="http://schemas.openxmlformats.org/drawingml/2006/main">
              <a:ext uri="{FF2B5EF4-FFF2-40B4-BE49-F238E27FC236}">
                <a16:creationId xmlns:a16="http://schemas.microsoft.com/office/drawing/2014/main" id="{F389A4FF-CE68-407D-80AA-606E078D9C7D}"/>
              </a:ext>
            </a:extLst>
          </p:cNvPr>
          <p:cNvSpPr>
            <a:spLocks xmlns:a="http://schemas.openxmlformats.org/drawingml/2006/main" noGrp="1"/>
          </p:cNvSpPr>
          <p:nvPr/>
        </p:nvSpPr>
        <p:spPr>
          <a:xfrm xmlns:a="http://schemas.openxmlformats.org/drawingml/2006/main">
            <a:off x="8001000" y="2390775"/>
            <a:ext cx="333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Task completed</a:t>
            </a:r>
          </a:p>
          <a:p xmlns:a="http://schemas.openxmlformats.org/drawingml/2006/main">
            <a:pPr algn="l">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Residual bumps</a:t>
            </a:r>
          </a:p>
        </p:txBody>
      </p:sp>
      <p:sp>
        <p:nvSpPr>
          <p:cNvPr id="7" name="">
            <a:extLst xmlns:a="http://schemas.openxmlformats.org/drawingml/2006/main">
              <a:ext uri="{FF2B5EF4-FFF2-40B4-BE49-F238E27FC236}">
                <a16:creationId xmlns:a16="http://schemas.microsoft.com/office/drawing/2014/main" id="{B2440F5D-2668-4E4A-BD53-B693B3487B21}"/>
              </a:ext>
            </a:extLst>
          </p:cNvPr>
          <p:cNvSpPr>
            <a:spLocks xmlns:a="http://schemas.openxmlformats.org/drawingml/2006/main" noGrp="1"/>
          </p:cNvSpPr>
          <p:nvPr/>
        </p:nvSpPr>
        <p:spPr>
          <a:xfrm xmlns:a="http://schemas.openxmlformats.org/drawingml/2006/main">
            <a:off x="8001000" y="3609975"/>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AC4545"/>
                </a:solidFill>
                <a:latin typeface="Helvetica Neue"/>
                <a:ea typeface="Helvetica Neue"/>
                <a:cs typeface="Helvetica Neue"/>
              </a:defRPr>
            </a:pPr>
            <a:r>
              <a:rPr sz="2250" b="1">
                <a:solidFill>
                  <a:srgbClr val="AC4545"/>
                </a:solidFill>
                <a:latin typeface="Helvetica Neue"/>
                <a:ea typeface="Helvetica Neue"/>
                <a:cs typeface="Helvetica Neue"/>
              </a:rPr>
              <a:t>Aligned modes</a:t>
            </a:r>
          </a:p>
        </p:txBody>
      </p:sp>
      <p:sp>
        <p:nvSpPr>
          <p:cNvPr id="8" name="">
            <a:extLst xmlns:a="http://schemas.openxmlformats.org/drawingml/2006/main">
              <a:ext uri="{FF2B5EF4-FFF2-40B4-BE49-F238E27FC236}">
                <a16:creationId xmlns:a16="http://schemas.microsoft.com/office/drawing/2014/main" id="{775C3E1D-1E31-430F-8B1C-DB9ABC837FEA}"/>
              </a:ext>
            </a:extLst>
          </p:cNvPr>
          <p:cNvSpPr>
            <a:spLocks xmlns:a="http://schemas.openxmlformats.org/drawingml/2006/main" noGrp="1"/>
          </p:cNvSpPr>
          <p:nvPr/>
        </p:nvSpPr>
        <p:spPr>
          <a:xfrm xmlns:a="http://schemas.openxmlformats.org/drawingml/2006/main">
            <a:off x="8001000" y="4143375"/>
            <a:ext cx="3476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B3A"/>
                </a:solidFill>
                <a:latin typeface="Helvetica Neue"/>
                <a:ea typeface="Helvetica Neue"/>
                <a:cs typeface="Helvetica Neue"/>
              </a:defRPr>
            </a:pPr>
            <a:r>
              <a:rPr sz="2175" b="0">
                <a:solidFill>
                  <a:srgbClr val="172B3A"/>
                </a:solidFill>
                <a:latin typeface="Helvetica Neue"/>
                <a:ea typeface="Helvetica Neue"/>
                <a:cs typeface="Helvetica Neue"/>
              </a:rPr>
              <a:t>Worse task progress</a:t>
            </a:r>
          </a:p>
          <a:p xmlns:a="http://schemas.openxmlformats.org/drawingml/2006/main">
            <a:pPr algn="l">
              <a:defRPr sz="2175" b="0">
                <a:solidFill>
                  <a:srgbClr val="172B3A"/>
                </a:solidFill>
                <a:latin typeface="Helvetica Neue"/>
                <a:ea typeface="Helvetica Neue"/>
                <a:cs typeface="Helvetica Neue"/>
              </a:defRPr>
            </a:pPr>
            <a:r>
              <a:rPr sz="2175" b="0">
                <a:solidFill>
                  <a:srgbClr val="172B3A"/>
                </a:solidFill>
                <a:latin typeface="Helvetica Neue"/>
                <a:ea typeface="Helvetica Neue"/>
                <a:cs typeface="Helvetica Neue"/>
              </a:rPr>
              <a:t>About 36 ms between requests</a:t>
            </a:r>
          </a:p>
        </p:txBody>
      </p:sp>
      <p:sp>
        <p:nvSpPr>
          <p:cNvPr id="9" name="">
            <a:extLst xmlns:a="http://schemas.openxmlformats.org/drawingml/2006/main">
              <a:ext uri="{FF2B5EF4-FFF2-40B4-BE49-F238E27FC236}">
                <a16:creationId xmlns:a16="http://schemas.microsoft.com/office/drawing/2014/main" id="{9E859E4D-C44D-4BB0-9AFF-BD068D38B25A}"/>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The comparison changed request timing as well as merge behavior.</a:t>
            </a:r>
          </a:p>
        </p:txBody>
      </p:sp>
    </p:spTree>
    <p:extLst>
      <p:ext uri="{BB962C8B-B14F-4D97-AF65-F5344CB8AC3E}">
        <p14:creationId xmlns:p14="http://schemas.microsoft.com/office/powerpoint/2010/main" val="1584818213"/>
      </p:ext>
    </p:extLst>
  </p:cSld>
</p:sld>
</file>

<file path=ppt/slides/slide1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A33B3E-8929-4E06-AFD7-F0503FE03B4C}"/>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The timing correction is still planned</a:t>
            </a:r>
          </a:p>
        </p:txBody>
      </p:sp>
      <p:sp>
        <p:nvSpPr>
          <p:cNvPr id="2" name="">
            <a:extLst xmlns:a="http://schemas.openxmlformats.org/drawingml/2006/main">
              <a:ext uri="{FF2B5EF4-FFF2-40B4-BE49-F238E27FC236}">
                <a16:creationId xmlns:a16="http://schemas.microsoft.com/office/drawing/2014/main" id="{185DEECD-5938-4410-A6DE-4C0987E29B99}"/>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569211FA-EFE8-4800-9C68-242B968550B9}"/>
              </a:ext>
            </a:extLst>
          </p:cNvPr>
          <p:cNvSpPr>
            <a:spLocks xmlns:a="http://schemas.openxmlformats.org/drawingml/2006/main" noGrp="1"/>
          </p:cNvSpPr>
          <p:nvPr/>
        </p:nvSpPr>
        <p:spPr>
          <a:xfrm xmlns:a="http://schemas.openxmlformats.org/drawingml/2006/main">
            <a:off x="609600" y="16383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7B9F"/>
                </a:solidFill>
                <a:latin typeface="Helvetica Neue"/>
                <a:ea typeface="Helvetica Neue"/>
                <a:cs typeface="Helvetica Neue"/>
              </a:defRPr>
            </a:pPr>
            <a:r>
              <a:rPr sz="2400" b="1">
                <a:solidFill>
                  <a:srgbClr val="177B9F"/>
                </a:solidFill>
                <a:latin typeface="Helvetica Neue"/>
                <a:ea typeface="Helvetica Neue"/>
                <a:cs typeface="Helvetica Neue"/>
              </a:rPr>
              <a:t>Implemented today</a:t>
            </a:r>
          </a:p>
        </p:txBody>
      </p:sp>
      <p:sp>
        <p:nvSpPr>
          <p:cNvPr id="4" name="">
            <a:extLst xmlns:a="http://schemas.openxmlformats.org/drawingml/2006/main">
              <a:ext uri="{FF2B5EF4-FFF2-40B4-BE49-F238E27FC236}">
                <a16:creationId xmlns:a16="http://schemas.microsoft.com/office/drawing/2014/main" id="{A3DA4AD0-1679-4A1D-AEF3-089DC3845911}"/>
              </a:ext>
            </a:extLst>
          </p:cNvPr>
          <p:cNvSpPr>
            <a:spLocks xmlns:a="http://schemas.openxmlformats.org/drawingml/2006/main" noGrp="1"/>
          </p:cNvSpPr>
          <p:nvPr/>
        </p:nvSpPr>
        <p:spPr>
          <a:xfrm xmlns:a="http://schemas.openxmlformats.org/drawingml/2006/main">
            <a:off x="609600" y="2514600"/>
            <a:ext cx="4857750" cy="1209675"/>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a:solidFill>
                  <a:srgbClr val="172B3A"/>
                </a:solidFill>
                <a:latin typeface="Helvetica Neue"/>
                <a:ea typeface="Helvetica Neue"/>
                <a:cs typeface="Helvetica Neue"/>
              </a:defRPr>
            </a:pPr>
            <a:r>
              <a:rPr sz="2250">
                <a:solidFill>
                  <a:srgbClr val="172B3A"/>
                </a:solidFill>
                <a:latin typeface="Helvetica Neue"/>
                <a:ea typeface="Helvetica Neue"/>
                <a:cs typeface="Helvetica Neue"/>
              </a:rPr>
              <a:t>Fresh advanced observation</a:t>
            </a:r>
          </a:p>
          <a:p xmlns:a="http://schemas.openxmlformats.org/drawingml/2006/main">
            <a:pPr algn="ctr">
              <a:defRPr sz="2250">
                <a:solidFill>
                  <a:srgbClr val="172B3A"/>
                </a:solidFill>
                <a:latin typeface="Helvetica Neue"/>
                <a:ea typeface="Helvetica Neue"/>
                <a:cs typeface="Helvetica Neue"/>
              </a:defRPr>
            </a:pPr>
            <a:r>
              <a:rPr sz="2250">
                <a:solidFill>
                  <a:srgbClr val="172B3A"/>
                </a:solidFill>
                <a:latin typeface="Helvetica Neue"/>
                <a:ea typeface="Helvetica Neue"/>
                <a:cs typeface="Helvetica Neue"/>
              </a:rPr>
              <a:t>+ free worker</a:t>
            </a:r>
          </a:p>
        </p:txBody>
      </p:sp>
      <p:sp>
        <p:nvSpPr>
          <p:cNvPr id="5" name="">
            <a:extLst xmlns:a="http://schemas.openxmlformats.org/drawingml/2006/main">
              <a:ext uri="{FF2B5EF4-FFF2-40B4-BE49-F238E27FC236}">
                <a16:creationId xmlns:a16="http://schemas.microsoft.com/office/drawing/2014/main" id="{8E6A710C-1CFE-477E-A2CF-9B25BA9EC811}"/>
              </a:ext>
            </a:extLst>
          </p:cNvPr>
          <p:cNvSpPr>
            <a:spLocks xmlns:a="http://schemas.openxmlformats.org/drawingml/2006/main" noGrp="1"/>
          </p:cNvSpPr>
          <p:nvPr/>
        </p:nvSpPr>
        <p:spPr>
          <a:xfrm xmlns:a="http://schemas.openxmlformats.org/drawingml/2006/main">
            <a:off x="609600" y="4524375"/>
            <a:ext cx="4857750" cy="76200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400">
                <a:solidFill>
                  <a:srgbClr val="172B3A"/>
                </a:solidFill>
                <a:latin typeface="Helvetica Neue"/>
                <a:ea typeface="Helvetica Neue"/>
                <a:cs typeface="Helvetica Neue"/>
              </a:defRPr>
            </a:pPr>
            <a:r>
              <a:rPr sz="2400">
                <a:solidFill>
                  <a:srgbClr val="172B3A"/>
                </a:solidFill>
                <a:latin typeface="Helvetica Neue"/>
                <a:ea typeface="Helvetica Neue"/>
                <a:cs typeface="Helvetica Neue"/>
              </a:rPr>
              <a:t>Request again</a:t>
            </a:r>
          </a:p>
        </p:txBody>
      </p:sp>
      <p:cxnSp>
        <p:nvCxnSpPr>
          <p:cNvPr id="17" name=""/>
          <p:cNvCxnSpPr>
            <a:stCxn xmlns:a="http://schemas.openxmlformats.org/drawingml/2006/main" id="4" idx="2"/>
            <a:endCxn xmlns:a="http://schemas.openxmlformats.org/drawingml/2006/main" id="5" idx="0"/>
          </p:cNvCxnSpPr>
          <p:nvPr/>
        </p:nvCxnSpPr>
        <p:spPr>
          <a:xfrm xmlns:a="http://schemas.openxmlformats.org/drawingml/2006/main">
            <a:off x="3038475" y="3724275"/>
            <a:ext cx="0" cy="800100"/>
          </a:xfrm>
          <a:prstGeom xmlns:a="http://schemas.openxmlformats.org/drawingml/2006/main" prst="straightConnector1">
            <a:avLst/>
          </a:prstGeom>
          <a:ln xmlns:a="http://schemas.openxmlformats.org/drawingml/2006/main" w="19050">
            <a:solidFill>
              <a:srgbClr val="526777"/>
            </a:solidFill>
            <a:tailEnd type="triangle" w="sm" len="sm"/>
          </a:ln>
        </p:spPr>
      </p:cxnSp>
      <p:sp>
        <p:nvSpPr>
          <p:cNvPr id="7" name="">
            <a:extLst xmlns:a="http://schemas.openxmlformats.org/drawingml/2006/main">
              <a:ext uri="{FF2B5EF4-FFF2-40B4-BE49-F238E27FC236}">
                <a16:creationId xmlns:a16="http://schemas.microsoft.com/office/drawing/2014/main" id="{7352EFAA-C331-4F19-9694-85757F00DC8E}"/>
              </a:ext>
            </a:extLst>
          </p:cNvPr>
          <p:cNvSpPr>
            <a:spLocks xmlns:a="http://schemas.openxmlformats.org/drawingml/2006/main" noGrp="1"/>
          </p:cNvSpPr>
          <p:nvPr/>
        </p:nvSpPr>
        <p:spPr>
          <a:xfrm xmlns:a="http://schemas.openxmlformats.org/drawingml/2006/main">
            <a:off x="6724650" y="16383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9B5B11"/>
                </a:solidFill>
                <a:latin typeface="Helvetica Neue"/>
                <a:ea typeface="Helvetica Neue"/>
                <a:cs typeface="Helvetica Neue"/>
              </a:defRPr>
            </a:pPr>
            <a:r>
              <a:rPr sz="2400" b="1">
                <a:solidFill>
                  <a:srgbClr val="9B5B11"/>
                </a:solidFill>
                <a:latin typeface="Helvetica Neue"/>
                <a:ea typeface="Helvetica Neue"/>
                <a:cs typeface="Helvetica Neue"/>
              </a:rPr>
              <a:t>Planned correction</a:t>
            </a:r>
          </a:p>
        </p:txBody>
      </p:sp>
      <p:sp>
        <p:nvSpPr>
          <p:cNvPr id="8" name="">
            <a:extLst xmlns:a="http://schemas.openxmlformats.org/drawingml/2006/main">
              <a:ext uri="{FF2B5EF4-FFF2-40B4-BE49-F238E27FC236}">
                <a16:creationId xmlns:a16="http://schemas.microsoft.com/office/drawing/2014/main" id="{7DBD09E3-0698-4FA6-A6AE-6B7D9269F359}"/>
              </a:ext>
            </a:extLst>
          </p:cNvPr>
          <p:cNvSpPr>
            <a:spLocks xmlns:a="http://schemas.openxmlformats.org/drawingml/2006/main" noGrp="1"/>
          </p:cNvSpPr>
          <p:nvPr/>
        </p:nvSpPr>
        <p:spPr>
          <a:xfrm xmlns:a="http://schemas.openxmlformats.org/drawingml/2006/main">
            <a:off x="6724650" y="2324100"/>
            <a:ext cx="4857750" cy="1676400"/>
          </a:xfrm>
          <a:prstGeom xmlns:a="http://schemas.openxmlformats.org/drawingml/2006/main" prst="rect">
            <a:avLst/>
          </a:prstGeom>
          <a:solidFill xmlns:a="http://schemas.openxmlformats.org/drawingml/2006/main">
            <a:srgbClr val="F4E5C9"/>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172B3A"/>
                </a:solidFill>
                <a:latin typeface="Helvetica Neue"/>
                <a:ea typeface="Helvetica Neue"/>
                <a:cs typeface="Helvetica Neue"/>
              </a:defRPr>
            </a:pPr>
            <a:r>
              <a:rPr sz="2100">
                <a:solidFill>
                  <a:srgbClr val="172B3A"/>
                </a:solidFill>
                <a:latin typeface="Helvetica Neue"/>
                <a:ea typeface="Helvetica Neue"/>
                <a:cs typeface="Helvetica Neue"/>
              </a:rPr>
              <a:t>Fresh eligible observation</a:t>
            </a:r>
          </a:p>
          <a:p xmlns:a="http://schemas.openxmlformats.org/drawingml/2006/main">
            <a:pPr algn="ctr">
              <a:defRPr sz="2100">
                <a:solidFill>
                  <a:srgbClr val="172B3A"/>
                </a:solidFill>
                <a:latin typeface="Helvetica Neue"/>
                <a:ea typeface="Helvetica Neue"/>
                <a:cs typeface="Helvetica Neue"/>
              </a:defRPr>
            </a:pPr>
            <a:r>
              <a:rPr sz="2100">
                <a:solidFill>
                  <a:srgbClr val="172B3A"/>
                </a:solidFill>
                <a:latin typeface="Helvetica Neue"/>
                <a:ea typeface="Helvetica Neue"/>
                <a:cs typeface="Helvetica Neue"/>
              </a:rPr>
              <a:t>+ free worker</a:t>
            </a:r>
          </a:p>
          <a:p xmlns:a="http://schemas.openxmlformats.org/drawingml/2006/main">
            <a:pPr algn="ctr">
              <a:defRPr sz="2100">
                <a:solidFill>
                  <a:srgbClr val="172B3A"/>
                </a:solidFill>
                <a:latin typeface="Helvetica Neue"/>
                <a:ea typeface="Helvetica Neue"/>
                <a:cs typeface="Helvetica Neue"/>
              </a:defRPr>
            </a:pPr>
            <a:r>
              <a:rPr sz="2100">
                <a:solidFill>
                  <a:srgbClr val="172B3A"/>
                </a:solidFill>
                <a:latin typeface="Helvetica Neue"/>
                <a:ea typeface="Helvetica Neue"/>
                <a:cs typeface="Helvetica Neue"/>
              </a:rPr>
              <a:t>+ playback below threshold</a:t>
            </a:r>
          </a:p>
        </p:txBody>
      </p:sp>
      <p:sp>
        <p:nvSpPr>
          <p:cNvPr id="9" name="">
            <a:extLst xmlns:a="http://schemas.openxmlformats.org/drawingml/2006/main">
              <a:ext uri="{FF2B5EF4-FFF2-40B4-BE49-F238E27FC236}">
                <a16:creationId xmlns:a16="http://schemas.microsoft.com/office/drawing/2014/main" id="{2FE8621C-08BD-45CD-9BDF-8AB9DD634232}"/>
              </a:ext>
            </a:extLst>
          </p:cNvPr>
          <p:cNvSpPr>
            <a:spLocks xmlns:a="http://schemas.openxmlformats.org/drawingml/2006/main" noGrp="1"/>
          </p:cNvSpPr>
          <p:nvPr/>
        </p:nvSpPr>
        <p:spPr>
          <a:xfrm xmlns:a="http://schemas.openxmlformats.org/drawingml/2006/main">
            <a:off x="6724650" y="4524375"/>
            <a:ext cx="4857750" cy="762000"/>
          </a:xfrm>
          <a:prstGeom xmlns:a="http://schemas.openxmlformats.org/drawingml/2006/main" prst="rect">
            <a:avLst/>
          </a:prstGeom>
          <a:solidFill xmlns:a="http://schemas.openxmlformats.org/drawingml/2006/main">
            <a:srgbClr val="F4E5C9"/>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400">
                <a:solidFill>
                  <a:srgbClr val="172B3A"/>
                </a:solidFill>
                <a:latin typeface="Helvetica Neue"/>
                <a:ea typeface="Helvetica Neue"/>
                <a:cs typeface="Helvetica Neue"/>
              </a:defRPr>
            </a:pPr>
            <a:r>
              <a:rPr sz="2400">
                <a:solidFill>
                  <a:srgbClr val="172B3A"/>
                </a:solidFill>
                <a:latin typeface="Helvetica Neue"/>
                <a:ea typeface="Helvetica Neue"/>
                <a:cs typeface="Helvetica Neue"/>
              </a:rPr>
              <a:t>Request another chunk</a:t>
            </a:r>
          </a:p>
        </p:txBody>
      </p:sp>
      <p:cxnSp>
        <p:nvCxnSpPr>
          <p:cNvPr id="21" name=""/>
          <p:cNvCxnSpPr>
            <a:stCxn xmlns:a="http://schemas.openxmlformats.org/drawingml/2006/main" id="8" idx="2"/>
            <a:endCxn xmlns:a="http://schemas.openxmlformats.org/drawingml/2006/main" id="9" idx="0"/>
          </p:cNvCxnSpPr>
          <p:nvPr/>
        </p:nvCxnSpPr>
        <p:spPr>
          <a:xfrm xmlns:a="http://schemas.openxmlformats.org/drawingml/2006/main">
            <a:off x="9153525" y="4000500"/>
            <a:ext cx="0" cy="523875"/>
          </a:xfrm>
          <a:prstGeom xmlns:a="http://schemas.openxmlformats.org/drawingml/2006/main" prst="straightConnector1">
            <a:avLst/>
          </a:prstGeom>
          <a:ln xmlns:a="http://schemas.openxmlformats.org/drawingml/2006/main" w="19050">
            <a:solidFill>
              <a:srgbClr val="526777"/>
            </a:solidFill>
            <a:tailEnd type="triangle" w="sm" len="sm"/>
          </a:ln>
        </p:spPr>
      </p:cxnSp>
      <p:sp>
        <p:nvSpPr>
          <p:cNvPr id="11" name="">
            <a:extLst xmlns:a="http://schemas.openxmlformats.org/drawingml/2006/main">
              <a:ext uri="{FF2B5EF4-FFF2-40B4-BE49-F238E27FC236}">
                <a16:creationId xmlns:a16="http://schemas.microsoft.com/office/drawing/2014/main" id="{D03C0804-A70A-4D1D-B2A0-55E55B28C773}"/>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Alignment still trims committed steps. Blending still controls matching targets only.</a:t>
            </a:r>
          </a:p>
        </p:txBody>
      </p:sp>
    </p:spTree>
    <p:extLst>
      <p:ext uri="{BB962C8B-B14F-4D97-AF65-F5344CB8AC3E}">
        <p14:creationId xmlns:p14="http://schemas.microsoft.com/office/powerpoint/2010/main" val="689086754"/>
      </p:ext>
    </p:extLst>
  </p:cSld>
</p:sld>
</file>

<file path=ppt/slides/slide1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F7223FE-9B7F-4639-8483-84846004A61A}"/>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The code follows the process boundary</a:t>
            </a:r>
          </a:p>
        </p:txBody>
      </p:sp>
      <p:sp>
        <p:nvSpPr>
          <p:cNvPr id="2" name="">
            <a:extLst xmlns:a="http://schemas.openxmlformats.org/drawingml/2006/main">
              <a:ext uri="{FF2B5EF4-FFF2-40B4-BE49-F238E27FC236}">
                <a16:creationId xmlns:a16="http://schemas.microsoft.com/office/drawing/2014/main" id="{FF4387FB-9D1E-44C6-B220-BCE2C8295033}"/>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EDCDBC5F-EAE5-4C5D-9B79-4FFB0AEEFE63}"/>
              </a:ext>
            </a:extLst>
          </p:cNvPr>
          <p:cNvSpPr>
            <a:spLocks xmlns:a="http://schemas.openxmlformats.org/drawingml/2006/main" noGrp="1"/>
          </p:cNvSpPr>
          <p:nvPr/>
        </p:nvSpPr>
        <p:spPr>
          <a:xfrm xmlns:a="http://schemas.openxmlformats.org/drawingml/2006/main">
            <a:off x="609600" y="14097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77B9F"/>
                </a:solidFill>
                <a:latin typeface="Helvetica Neue"/>
                <a:ea typeface="Helvetica Neue"/>
                <a:cs typeface="Helvetica Neue"/>
              </a:defRPr>
            </a:pPr>
            <a:r>
              <a:rPr sz="2325" b="1">
                <a:solidFill>
                  <a:srgbClr val="177B9F"/>
                </a:solidFill>
                <a:latin typeface="Helvetica Neue"/>
                <a:ea typeface="Helvetica Neue"/>
                <a:cs typeface="Helvetica Neue"/>
              </a:rPr>
              <a:t>Robot process</a:t>
            </a:r>
          </a:p>
        </p:txBody>
      </p:sp>
      <p:sp>
        <p:nvSpPr>
          <p:cNvPr id="4" name="">
            <a:extLst xmlns:a="http://schemas.openxmlformats.org/drawingml/2006/main">
              <a:ext uri="{FF2B5EF4-FFF2-40B4-BE49-F238E27FC236}">
                <a16:creationId xmlns:a16="http://schemas.microsoft.com/office/drawing/2014/main" id="{A44BE6A1-704B-43C0-B64F-639C9FEFCA7E}"/>
              </a:ext>
            </a:extLst>
          </p:cNvPr>
          <p:cNvSpPr>
            <a:spLocks xmlns:a="http://schemas.openxmlformats.org/drawingml/2006/main" noGrp="1"/>
          </p:cNvSpPr>
          <p:nvPr/>
        </p:nvSpPr>
        <p:spPr>
          <a:xfrm xmlns:a="http://schemas.openxmlformats.org/drawingml/2006/main">
            <a:off x="7372350" y="140970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267C63"/>
                </a:solidFill>
                <a:latin typeface="Helvetica Neue"/>
                <a:ea typeface="Helvetica Neue"/>
                <a:cs typeface="Helvetica Neue"/>
              </a:defRPr>
            </a:pPr>
            <a:r>
              <a:rPr sz="2325" b="1">
                <a:solidFill>
                  <a:srgbClr val="267C63"/>
                </a:solidFill>
                <a:latin typeface="Helvetica Neue"/>
                <a:ea typeface="Helvetica Neue"/>
                <a:cs typeface="Helvetica Neue"/>
              </a:rPr>
              <a:t>Server process</a:t>
            </a:r>
          </a:p>
        </p:txBody>
      </p:sp>
      <p:sp>
        <p:nvSpPr>
          <p:cNvPr id="5" name="">
            <a:extLst xmlns:a="http://schemas.openxmlformats.org/drawingml/2006/main">
              <a:ext uri="{FF2B5EF4-FFF2-40B4-BE49-F238E27FC236}">
                <a16:creationId xmlns:a16="http://schemas.microsoft.com/office/drawing/2014/main" id="{7C7CA3EB-B378-41A3-88CE-0FE4FC836B23}"/>
              </a:ext>
            </a:extLst>
          </p:cNvPr>
          <p:cNvSpPr>
            <a:spLocks xmlns:a="http://schemas.openxmlformats.org/drawingml/2006/main" noGrp="1"/>
          </p:cNvSpPr>
          <p:nvPr/>
        </p:nvSpPr>
        <p:spPr>
          <a:xfrm xmlns:a="http://schemas.openxmlformats.org/drawingml/2006/main">
            <a:off x="609600" y="2143125"/>
            <a:ext cx="4857750" cy="64770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172B3A"/>
                </a:solidFill>
                <a:latin typeface="Helvetica Neue"/>
                <a:ea typeface="Helvetica Neue"/>
                <a:cs typeface="Helvetica Neue"/>
              </a:defRPr>
            </a:pPr>
            <a:r>
              <a:rPr sz="1950">
                <a:solidFill>
                  <a:srgbClr val="172B3A"/>
                </a:solidFill>
                <a:latin typeface="Helvetica Neue"/>
                <a:ea typeface="Helvetica Neue"/>
                <a:cs typeface="Helvetica Neue"/>
              </a:rPr>
              <a:t>Rollout + motor dispatch</a:t>
            </a:r>
          </a:p>
        </p:txBody>
      </p:sp>
      <p:sp>
        <p:nvSpPr>
          <p:cNvPr id="6" name="">
            <a:extLst xmlns:a="http://schemas.openxmlformats.org/drawingml/2006/main">
              <a:ext uri="{FF2B5EF4-FFF2-40B4-BE49-F238E27FC236}">
                <a16:creationId xmlns:a16="http://schemas.microsoft.com/office/drawing/2014/main" id="{172D5B2E-6521-45EC-AB97-4E5723C00A6E}"/>
              </a:ext>
            </a:extLst>
          </p:cNvPr>
          <p:cNvSpPr>
            <a:spLocks xmlns:a="http://schemas.openxmlformats.org/drawingml/2006/main" noGrp="1"/>
          </p:cNvSpPr>
          <p:nvPr/>
        </p:nvSpPr>
        <p:spPr>
          <a:xfrm xmlns:a="http://schemas.openxmlformats.org/drawingml/2006/main">
            <a:off x="609600" y="3152775"/>
            <a:ext cx="4857750" cy="87630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a:solidFill>
                  <a:srgbClr val="172B3A"/>
                </a:solidFill>
                <a:latin typeface="Helvetica Neue"/>
                <a:ea typeface="Helvetica Neue"/>
                <a:cs typeface="Helvetica Neue"/>
              </a:defRPr>
            </a:pPr>
            <a:r>
              <a:rPr sz="2025">
                <a:solidFill>
                  <a:srgbClr val="172B3A"/>
                </a:solidFill>
                <a:latin typeface="Helvetica Neue"/>
                <a:ea typeface="Helvetica Neue"/>
                <a:cs typeface="Helvetica Neue"/>
              </a:rPr>
              <a:t>RemoteInferenceEngine + ChunkRuntime</a:t>
            </a:r>
          </a:p>
        </p:txBody>
      </p:sp>
      <p:sp>
        <p:nvSpPr>
          <p:cNvPr id="7" name="">
            <a:extLst xmlns:a="http://schemas.openxmlformats.org/drawingml/2006/main">
              <a:ext uri="{FF2B5EF4-FFF2-40B4-BE49-F238E27FC236}">
                <a16:creationId xmlns:a16="http://schemas.microsoft.com/office/drawing/2014/main" id="{C77EB953-70CB-4A61-B64D-8FC33106320B}"/>
              </a:ext>
            </a:extLst>
          </p:cNvPr>
          <p:cNvSpPr>
            <a:spLocks xmlns:a="http://schemas.openxmlformats.org/drawingml/2006/main" noGrp="1"/>
          </p:cNvSpPr>
          <p:nvPr/>
        </p:nvSpPr>
        <p:spPr>
          <a:xfrm xmlns:a="http://schemas.openxmlformats.org/drawingml/2006/main">
            <a:off x="609600" y="4486275"/>
            <a:ext cx="4857750" cy="66675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172B3A"/>
                </a:solidFill>
                <a:latin typeface="Helvetica Neue"/>
                <a:ea typeface="Helvetica Neue"/>
                <a:cs typeface="Helvetica Neue"/>
              </a:defRPr>
            </a:pPr>
            <a:r>
              <a:rPr sz="1950">
                <a:solidFill>
                  <a:srgbClr val="172B3A"/>
                </a:solidFill>
                <a:latin typeface="Helvetica Neue"/>
                <a:ea typeface="Helvetica Neue"/>
                <a:cs typeface="Helvetica Neue"/>
              </a:rPr>
              <a:t>RemoteClient</a:t>
            </a:r>
          </a:p>
        </p:txBody>
      </p:sp>
      <p:cxnSp>
        <p:nvCxnSpPr>
          <p:cNvPr id="25" name=""/>
          <p:cNvCxnSpPr>
            <a:stCxn xmlns:a="http://schemas.openxmlformats.org/drawingml/2006/main" id="6" idx="0"/>
            <a:endCxn xmlns:a="http://schemas.openxmlformats.org/drawingml/2006/main" id="5" idx="2"/>
          </p:cNvCxnSpPr>
          <p:nvPr/>
        </p:nvCxnSpPr>
        <p:spPr>
          <a:xfrm xmlns:a="http://schemas.openxmlformats.org/drawingml/2006/main" flipV="1">
            <a:off x="3038475" y="2790825"/>
            <a:ext cx="0" cy="361950"/>
          </a:xfrm>
          <a:prstGeom xmlns:a="http://schemas.openxmlformats.org/drawingml/2006/main" prst="straightConnector1">
            <a:avLst/>
          </a:prstGeom>
          <a:ln xmlns:a="http://schemas.openxmlformats.org/drawingml/2006/main" w="19050">
            <a:solidFill>
              <a:srgbClr val="526777"/>
            </a:solidFill>
            <a:tailEnd type="triangle" w="sm" len="sm"/>
          </a:ln>
        </p:spPr>
      </p:cxnSp>
      <p:cxnSp>
        <p:nvCxnSpPr>
          <p:cNvPr id="26" name=""/>
          <p:cNvCxnSpPr>
            <a:stCxn xmlns:a="http://schemas.openxmlformats.org/drawingml/2006/main" id="6" idx="2"/>
            <a:endCxn xmlns:a="http://schemas.openxmlformats.org/drawingml/2006/main" id="7" idx="0"/>
          </p:cNvCxnSpPr>
          <p:nvPr/>
        </p:nvCxnSpPr>
        <p:spPr>
          <a:xfrm xmlns:a="http://schemas.openxmlformats.org/drawingml/2006/main">
            <a:off x="3038475" y="4029075"/>
            <a:ext cx="0" cy="457200"/>
          </a:xfrm>
          <a:prstGeom xmlns:a="http://schemas.openxmlformats.org/drawingml/2006/main" prst="straightConnector1">
            <a:avLst/>
          </a:prstGeom>
          <a:ln xmlns:a="http://schemas.openxmlformats.org/drawingml/2006/main" w="19050">
            <a:solidFill>
              <a:srgbClr val="526777"/>
            </a:solidFill>
            <a:tailEnd type="triangle" w="sm" len="sm"/>
          </a:ln>
        </p:spPr>
      </p:cxnSp>
      <p:sp>
        <p:nvSpPr>
          <p:cNvPr id="10" name="">
            <a:extLst xmlns:a="http://schemas.openxmlformats.org/drawingml/2006/main">
              <a:ext uri="{FF2B5EF4-FFF2-40B4-BE49-F238E27FC236}">
                <a16:creationId xmlns:a16="http://schemas.microsoft.com/office/drawing/2014/main" id="{B18D371E-DD62-4965-B13E-AC65405215E0}"/>
              </a:ext>
            </a:extLst>
          </p:cNvPr>
          <p:cNvSpPr>
            <a:spLocks xmlns:a="http://schemas.openxmlformats.org/drawingml/2006/main" noGrp="1"/>
          </p:cNvSpPr>
          <p:nvPr/>
        </p:nvSpPr>
        <p:spPr>
          <a:xfrm xmlns:a="http://schemas.openxmlformats.org/drawingml/2006/main">
            <a:off x="7372350" y="2143125"/>
            <a:ext cx="4210050" cy="847725"/>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a:solidFill>
                  <a:srgbClr val="172B3A"/>
                </a:solidFill>
                <a:latin typeface="Helvetica Neue"/>
                <a:ea typeface="Helvetica Neue"/>
                <a:cs typeface="Helvetica Neue"/>
              </a:defRPr>
            </a:pPr>
            <a:r>
              <a:rPr sz="2025">
                <a:solidFill>
                  <a:srgbClr val="172B3A"/>
                </a:solidFill>
                <a:latin typeface="Helvetica Neue"/>
                <a:ea typeface="Helvetica Neue"/>
                <a:cs typeface="Helvetica Neue"/>
              </a:rPr>
              <a:t>PolicyServer + SessionWorker</a:t>
            </a:r>
          </a:p>
        </p:txBody>
      </p:sp>
      <p:sp>
        <p:nvSpPr>
          <p:cNvPr id="11" name="">
            <a:extLst xmlns:a="http://schemas.openxmlformats.org/drawingml/2006/main">
              <a:ext uri="{FF2B5EF4-FFF2-40B4-BE49-F238E27FC236}">
                <a16:creationId xmlns:a16="http://schemas.microsoft.com/office/drawing/2014/main" id="{22850D97-8D99-42A9-A5C9-87CAE93E2356}"/>
              </a:ext>
            </a:extLst>
          </p:cNvPr>
          <p:cNvSpPr>
            <a:spLocks xmlns:a="http://schemas.openxmlformats.org/drawingml/2006/main" noGrp="1"/>
          </p:cNvSpPr>
          <p:nvPr/>
        </p:nvSpPr>
        <p:spPr>
          <a:xfrm xmlns:a="http://schemas.openxmlformats.org/drawingml/2006/main">
            <a:off x="7372350" y="3476625"/>
            <a:ext cx="4210050" cy="657225"/>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a:solidFill>
                  <a:srgbClr val="172B3A"/>
                </a:solidFill>
                <a:latin typeface="Helvetica Neue"/>
                <a:ea typeface="Helvetica Neue"/>
                <a:cs typeface="Helvetica Neue"/>
              </a:defRPr>
            </a:pPr>
            <a:r>
              <a:rPr sz="2175">
                <a:solidFill>
                  <a:srgbClr val="172B3A"/>
                </a:solidFill>
                <a:latin typeface="Helvetica Neue"/>
                <a:ea typeface="Helvetica Neue"/>
                <a:cs typeface="Helvetica Neue"/>
              </a:rPr>
              <a:t>PolicyRunner</a:t>
            </a:r>
          </a:p>
        </p:txBody>
      </p:sp>
      <p:sp>
        <p:nvSpPr>
          <p:cNvPr id="12" name="">
            <a:extLst xmlns:a="http://schemas.openxmlformats.org/drawingml/2006/main">
              <a:ext uri="{FF2B5EF4-FFF2-40B4-BE49-F238E27FC236}">
                <a16:creationId xmlns:a16="http://schemas.microsoft.com/office/drawing/2014/main" id="{B8685553-BF04-4DDC-AC55-27BAFAF1E767}"/>
              </a:ext>
            </a:extLst>
          </p:cNvPr>
          <p:cNvSpPr>
            <a:spLocks xmlns:a="http://schemas.openxmlformats.org/drawingml/2006/main" noGrp="1"/>
          </p:cNvSpPr>
          <p:nvPr/>
        </p:nvSpPr>
        <p:spPr>
          <a:xfrm xmlns:a="http://schemas.openxmlformats.org/drawingml/2006/main">
            <a:off x="7372350" y="4610100"/>
            <a:ext cx="4210050" cy="781050"/>
          </a:xfrm>
          <a:prstGeom xmlns:a="http://schemas.openxmlformats.org/drawingml/2006/main" prst="rect">
            <a:avLst/>
          </a:prstGeom>
          <a:solidFill xmlns:a="http://schemas.openxmlformats.org/drawingml/2006/main">
            <a:srgbClr val="DFEEE6"/>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172B3A"/>
                </a:solidFill>
                <a:latin typeface="Helvetica Neue"/>
                <a:ea typeface="Helvetica Neue"/>
                <a:cs typeface="Helvetica Neue"/>
              </a:defRPr>
            </a:pPr>
            <a:r>
              <a:rPr sz="1950">
                <a:solidFill>
                  <a:srgbClr val="172B3A"/>
                </a:solidFill>
                <a:latin typeface="Helvetica Neue"/>
                <a:ea typeface="Helvetica Neue"/>
                <a:cs typeface="Helvetica Neue"/>
              </a:rPr>
              <a:t>Preprocess / model / postprocess</a:t>
            </a:r>
          </a:p>
        </p:txBody>
      </p:sp>
      <p:cxnSp>
        <p:nvCxnSpPr>
          <p:cNvPr id="30" name=""/>
          <p:cNvCxnSpPr>
            <a:stCxn xmlns:a="http://schemas.openxmlformats.org/drawingml/2006/main" id="10" idx="2"/>
            <a:endCxn xmlns:a="http://schemas.openxmlformats.org/drawingml/2006/main" id="11" idx="0"/>
          </p:cNvCxnSpPr>
          <p:nvPr/>
        </p:nvCxnSpPr>
        <p:spPr>
          <a:xfrm xmlns:a="http://schemas.openxmlformats.org/drawingml/2006/main">
            <a:off x="9477375" y="2990850"/>
            <a:ext cx="0" cy="485775"/>
          </a:xfrm>
          <a:prstGeom xmlns:a="http://schemas.openxmlformats.org/drawingml/2006/main" prst="straightConnector1">
            <a:avLst/>
          </a:prstGeom>
          <a:ln xmlns:a="http://schemas.openxmlformats.org/drawingml/2006/main" w="19050">
            <a:solidFill>
              <a:srgbClr val="526777"/>
            </a:solidFill>
            <a:tailEnd type="triangle" w="sm" len="sm"/>
          </a:ln>
        </p:spPr>
      </p:cxnSp>
      <p:cxnSp>
        <p:nvCxnSpPr>
          <p:cNvPr id="31" name=""/>
          <p:cNvCxnSpPr>
            <a:stCxn xmlns:a="http://schemas.openxmlformats.org/drawingml/2006/main" id="11" idx="2"/>
            <a:endCxn xmlns:a="http://schemas.openxmlformats.org/drawingml/2006/main" id="12" idx="0"/>
          </p:cNvCxnSpPr>
          <p:nvPr/>
        </p:nvCxnSpPr>
        <p:spPr>
          <a:xfrm xmlns:a="http://schemas.openxmlformats.org/drawingml/2006/main">
            <a:off x="9477375" y="4133850"/>
            <a:ext cx="0" cy="476250"/>
          </a:xfrm>
          <a:prstGeom xmlns:a="http://schemas.openxmlformats.org/drawingml/2006/main" prst="straightConnector1">
            <a:avLst/>
          </a:prstGeom>
          <a:ln xmlns:a="http://schemas.openxmlformats.org/drawingml/2006/main" w="19050">
            <a:solidFill>
              <a:srgbClr val="526777"/>
            </a:solidFill>
            <a:tailEnd type="triangle" w="sm" len="sm"/>
          </a:ln>
        </p:spPr>
      </p:cxnSp>
      <p:cxnSp>
        <p:nvCxnSpPr>
          <p:cNvPr id="32" name=""/>
          <p:cNvCxnSpPr>
            <a:stCxn xmlns:a="http://schemas.openxmlformats.org/drawingml/2006/main" id="7" idx="3"/>
            <a:endCxn xmlns:a="http://schemas.openxmlformats.org/drawingml/2006/main" id="10" idx="1"/>
          </p:cNvCxnSpPr>
          <p:nvPr/>
        </p:nvCxnSpPr>
        <p:spPr>
          <a:xfrm xmlns:a="http://schemas.openxmlformats.org/drawingml/2006/main" flipV="1">
            <a:off x="5467350" y="2566988"/>
            <a:ext cx="1905000" cy="2252663"/>
          </a:xfrm>
          <a:prstGeom xmlns:a="http://schemas.openxmlformats.org/drawingml/2006/main" prst="bentConnector3">
            <a:avLst>
              <a:gd name="adj1" fmla="val 50000"/>
            </a:avLst>
          </a:prstGeom>
          <a:ln xmlns:a="http://schemas.openxmlformats.org/drawingml/2006/main" w="19050">
            <a:solidFill>
              <a:srgbClr val="526777"/>
            </a:solidFill>
            <a:tailEnd type="triangle" w="sm" len="sm"/>
          </a:ln>
        </p:spPr>
      </p:cxnSp>
      <p:sp>
        <p:nvSpPr>
          <p:cNvPr id="16" name="">
            <a:extLst xmlns:a="http://schemas.openxmlformats.org/drawingml/2006/main">
              <a:ext uri="{FF2B5EF4-FFF2-40B4-BE49-F238E27FC236}">
                <a16:creationId xmlns:a16="http://schemas.microsoft.com/office/drawing/2014/main" id="{AA4121C9-3C46-4A65-BFB2-7DC88DEEBA93}"/>
              </a:ext>
            </a:extLst>
          </p:cNvPr>
          <p:cNvSpPr>
            <a:spLocks xmlns:a="http://schemas.openxmlformats.org/drawingml/2006/main" noGrp="1"/>
          </p:cNvSpPr>
          <p:nvPr/>
        </p:nvSpPr>
        <p:spPr>
          <a:xfrm xmlns:a="http://schemas.openxmlformats.org/drawingml/2006/main">
            <a:off x="5524500" y="52863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Zenoh + codec</a:t>
            </a:r>
          </a:p>
        </p:txBody>
      </p:sp>
      <p:sp>
        <p:nvSpPr>
          <p:cNvPr id="17" name="">
            <a:extLst xmlns:a="http://schemas.openxmlformats.org/drawingml/2006/main">
              <a:ext uri="{FF2B5EF4-FFF2-40B4-BE49-F238E27FC236}">
                <a16:creationId xmlns:a16="http://schemas.microsoft.com/office/drawing/2014/main" id="{3231A515-DC87-46B6-97AC-EC7739574C25}"/>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The client owns motion permission. The server owns model and policy-processor state.</a:t>
            </a:r>
          </a:p>
        </p:txBody>
      </p:sp>
    </p:spTree>
    <p:extLst>
      <p:ext uri="{BB962C8B-B14F-4D97-AF65-F5344CB8AC3E}">
        <p14:creationId xmlns:p14="http://schemas.microsoft.com/office/powerpoint/2010/main" val="1389481802"/>
      </p:ext>
    </p:extLst>
  </p:cSld>
</p:sld>
</file>

<file path=ppt/slides/slide1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3BDCFC1-0D55-4A0D-8045-A7FD98E62E87}"/>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One observation through the code</a:t>
            </a:r>
          </a:p>
        </p:txBody>
      </p:sp>
      <p:sp>
        <p:nvSpPr>
          <p:cNvPr id="2" name="">
            <a:extLst xmlns:a="http://schemas.openxmlformats.org/drawingml/2006/main">
              <a:ext uri="{FF2B5EF4-FFF2-40B4-BE49-F238E27FC236}">
                <a16:creationId xmlns:a16="http://schemas.microsoft.com/office/drawing/2014/main" id="{779CD1D1-612D-46F0-9711-0D648C8578B5}"/>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314B1412-86BE-40DD-A0AC-5A7EA9419C0E}"/>
              </a:ext>
            </a:extLst>
          </p:cNvPr>
          <p:cNvSpPr>
            <a:spLocks xmlns:a="http://schemas.openxmlformats.org/drawingml/2006/main" noGrp="1"/>
          </p:cNvSpPr>
          <p:nvPr/>
        </p:nvSpPr>
        <p:spPr>
          <a:xfrm xmlns:a="http://schemas.openxmlformats.org/drawingml/2006/main">
            <a:off x="609600" y="1657350"/>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177B9F"/>
                </a:solidFill>
                <a:latin typeface="Helvetica Neue"/>
                <a:ea typeface="Helvetica Neue"/>
                <a:cs typeface="Helvetica Neue"/>
              </a:defRPr>
            </a:pPr>
            <a:r>
              <a:rPr sz="3675" b="1">
                <a:solidFill>
                  <a:srgbClr val="177B9F"/>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E88A9873-4A66-410C-AE6E-BB24EE23F184}"/>
              </a:ext>
            </a:extLst>
          </p:cNvPr>
          <p:cNvSpPr>
            <a:spLocks xmlns:a="http://schemas.openxmlformats.org/drawingml/2006/main" noGrp="1"/>
          </p:cNvSpPr>
          <p:nvPr/>
        </p:nvSpPr>
        <p:spPr>
          <a:xfrm xmlns:a="http://schemas.openxmlformats.org/drawingml/2006/main">
            <a:off x="609600" y="241935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B3A"/>
                </a:solidFill>
                <a:latin typeface="Helvetica Neue"/>
                <a:ea typeface="Helvetica Neue"/>
                <a:cs typeface="Helvetica Neue"/>
              </a:defRPr>
            </a:pPr>
            <a:r>
              <a:rPr sz="2175" b="1">
                <a:solidFill>
                  <a:srgbClr val="172B3A"/>
                </a:solidFill>
                <a:latin typeface="Helvetica Neue"/>
                <a:ea typeface="Helvetica Neue"/>
                <a:cs typeface="Helvetica Neue"/>
              </a:rPr>
              <a:t>notify_observation()</a:t>
            </a:r>
          </a:p>
        </p:txBody>
      </p:sp>
      <p:sp>
        <p:nvSpPr>
          <p:cNvPr id="5" name="">
            <a:extLst xmlns:a="http://schemas.openxmlformats.org/drawingml/2006/main">
              <a:ext uri="{FF2B5EF4-FFF2-40B4-BE49-F238E27FC236}">
                <a16:creationId xmlns:a16="http://schemas.microsoft.com/office/drawing/2014/main" id="{93AE1C6C-F0ED-497E-911C-91564C3E4B23}"/>
              </a:ext>
            </a:extLst>
          </p:cNvPr>
          <p:cNvSpPr>
            <a:spLocks xmlns:a="http://schemas.openxmlformats.org/drawingml/2006/main" noGrp="1"/>
          </p:cNvSpPr>
          <p:nvPr/>
        </p:nvSpPr>
        <p:spPr>
          <a:xfrm xmlns:a="http://schemas.openxmlformats.org/drawingml/2006/main">
            <a:off x="609600" y="299085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Map and anchor</a:t>
            </a:r>
          </a:p>
        </p:txBody>
      </p:sp>
      <p:sp>
        <p:nvSpPr>
          <p:cNvPr id="6" name="">
            <a:extLst xmlns:a="http://schemas.openxmlformats.org/drawingml/2006/main">
              <a:ext uri="{FF2B5EF4-FFF2-40B4-BE49-F238E27FC236}">
                <a16:creationId xmlns:a16="http://schemas.microsoft.com/office/drawing/2014/main" id="{0D920C7C-5B4F-481C-8F82-67EA635BAD58}"/>
              </a:ext>
            </a:extLst>
          </p:cNvPr>
          <p:cNvSpPr>
            <a:spLocks xmlns:a="http://schemas.openxmlformats.org/drawingml/2006/main" noGrp="1"/>
          </p:cNvSpPr>
          <p:nvPr/>
        </p:nvSpPr>
        <p:spPr>
          <a:xfrm xmlns:a="http://schemas.openxmlformats.org/drawingml/2006/main">
            <a:off x="4400550" y="1657350"/>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267C63"/>
                </a:solidFill>
                <a:latin typeface="Helvetica Neue"/>
                <a:ea typeface="Helvetica Neue"/>
                <a:cs typeface="Helvetica Neue"/>
              </a:defRPr>
            </a:pPr>
            <a:r>
              <a:rPr sz="3675" b="1">
                <a:solidFill>
                  <a:srgbClr val="267C63"/>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A57732F8-D0FF-469F-AF05-188A572663D7}"/>
              </a:ext>
            </a:extLst>
          </p:cNvPr>
          <p:cNvSpPr>
            <a:spLocks xmlns:a="http://schemas.openxmlformats.org/drawingml/2006/main" noGrp="1"/>
          </p:cNvSpPr>
          <p:nvPr/>
        </p:nvSpPr>
        <p:spPr>
          <a:xfrm xmlns:a="http://schemas.openxmlformats.org/drawingml/2006/main">
            <a:off x="4400550" y="241935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B3A"/>
                </a:solidFill>
                <a:latin typeface="Helvetica Neue"/>
                <a:ea typeface="Helvetica Neue"/>
                <a:cs typeface="Helvetica Neue"/>
              </a:defRPr>
            </a:pPr>
            <a:r>
              <a:rPr sz="2175" b="1">
                <a:solidFill>
                  <a:srgbClr val="172B3A"/>
                </a:solidFill>
                <a:latin typeface="Helvetica Neue"/>
                <a:ea typeface="Helvetica Neue"/>
                <a:cs typeface="Helvetica Neue"/>
              </a:rPr>
              <a:t>runtime.begin()</a:t>
            </a:r>
          </a:p>
        </p:txBody>
      </p:sp>
      <p:sp>
        <p:nvSpPr>
          <p:cNvPr id="8" name="">
            <a:extLst xmlns:a="http://schemas.openxmlformats.org/drawingml/2006/main">
              <a:ext uri="{FF2B5EF4-FFF2-40B4-BE49-F238E27FC236}">
                <a16:creationId xmlns:a16="http://schemas.microsoft.com/office/drawing/2014/main" id="{7A86F90C-BAB6-43A3-BA4C-674899D98990}"/>
              </a:ext>
            </a:extLst>
          </p:cNvPr>
          <p:cNvSpPr>
            <a:spLocks xmlns:a="http://schemas.openxmlformats.org/drawingml/2006/main" noGrp="1"/>
          </p:cNvSpPr>
          <p:nvPr/>
        </p:nvSpPr>
        <p:spPr>
          <a:xfrm xmlns:a="http://schemas.openxmlformats.org/drawingml/2006/main">
            <a:off x="4400550" y="299085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Reserve one request</a:t>
            </a:r>
          </a:p>
        </p:txBody>
      </p:sp>
      <p:sp>
        <p:nvSpPr>
          <p:cNvPr id="9" name="">
            <a:extLst xmlns:a="http://schemas.openxmlformats.org/drawingml/2006/main">
              <a:ext uri="{FF2B5EF4-FFF2-40B4-BE49-F238E27FC236}">
                <a16:creationId xmlns:a16="http://schemas.microsoft.com/office/drawing/2014/main" id="{27655380-E46D-4D05-A5C2-CA7EBA3638C4}"/>
              </a:ext>
            </a:extLst>
          </p:cNvPr>
          <p:cNvSpPr>
            <a:spLocks xmlns:a="http://schemas.openxmlformats.org/drawingml/2006/main" noGrp="1"/>
          </p:cNvSpPr>
          <p:nvPr/>
        </p:nvSpPr>
        <p:spPr>
          <a:xfrm xmlns:a="http://schemas.openxmlformats.org/drawingml/2006/main">
            <a:off x="8191500" y="1657350"/>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267C63"/>
                </a:solidFill>
                <a:latin typeface="Helvetica Neue"/>
                <a:ea typeface="Helvetica Neue"/>
                <a:cs typeface="Helvetica Neue"/>
              </a:defRPr>
            </a:pPr>
            <a:r>
              <a:rPr sz="3675" b="1">
                <a:solidFill>
                  <a:srgbClr val="267C63"/>
                </a:solidFill>
                <a:latin typeface="Helvetica Neue"/>
                <a:ea typeface="Helvetica Neue"/>
                <a:cs typeface="Helvetica Neue"/>
              </a:rPr>
              <a:t>3</a:t>
            </a:r>
          </a:p>
        </p:txBody>
      </p:sp>
      <p:sp>
        <p:nvSpPr>
          <p:cNvPr id="10" name="">
            <a:extLst xmlns:a="http://schemas.openxmlformats.org/drawingml/2006/main">
              <a:ext uri="{FF2B5EF4-FFF2-40B4-BE49-F238E27FC236}">
                <a16:creationId xmlns:a16="http://schemas.microsoft.com/office/drawing/2014/main" id="{CCBEFED0-5B6D-4635-A356-3580EAC71236}"/>
              </a:ext>
            </a:extLst>
          </p:cNvPr>
          <p:cNvSpPr>
            <a:spLocks xmlns:a="http://schemas.openxmlformats.org/drawingml/2006/main" noGrp="1"/>
          </p:cNvSpPr>
          <p:nvPr/>
        </p:nvSpPr>
        <p:spPr>
          <a:xfrm xmlns:a="http://schemas.openxmlformats.org/drawingml/2006/main">
            <a:off x="8191500" y="241935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B3A"/>
                </a:solidFill>
                <a:latin typeface="Helvetica Neue"/>
                <a:ea typeface="Helvetica Neue"/>
                <a:cs typeface="Helvetica Neue"/>
              </a:defRPr>
            </a:pPr>
            <a:r>
              <a:rPr sz="2175" b="1">
                <a:solidFill>
                  <a:srgbClr val="172B3A"/>
                </a:solidFill>
                <a:latin typeface="Helvetica Neue"/>
                <a:ea typeface="Helvetica Neue"/>
                <a:cs typeface="Helvetica Neue"/>
              </a:rPr>
              <a:t>client.infer()</a:t>
            </a:r>
          </a:p>
        </p:txBody>
      </p:sp>
      <p:sp>
        <p:nvSpPr>
          <p:cNvPr id="11" name="">
            <a:extLst xmlns:a="http://schemas.openxmlformats.org/drawingml/2006/main">
              <a:ext uri="{FF2B5EF4-FFF2-40B4-BE49-F238E27FC236}">
                <a16:creationId xmlns:a16="http://schemas.microsoft.com/office/drawing/2014/main" id="{AB2DB49E-02B0-4A46-BFD0-E859CEEBCB68}"/>
              </a:ext>
            </a:extLst>
          </p:cNvPr>
          <p:cNvSpPr>
            <a:spLocks xmlns:a="http://schemas.openxmlformats.org/drawingml/2006/main" noGrp="1"/>
          </p:cNvSpPr>
          <p:nvPr/>
        </p:nvSpPr>
        <p:spPr>
          <a:xfrm xmlns:a="http://schemas.openxmlformats.org/drawingml/2006/main">
            <a:off x="8191500" y="299085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Send and await reply</a:t>
            </a:r>
          </a:p>
        </p:txBody>
      </p:sp>
      <p:sp>
        <p:nvSpPr>
          <p:cNvPr id="12" name="">
            <a:extLst xmlns:a="http://schemas.openxmlformats.org/drawingml/2006/main">
              <a:ext uri="{FF2B5EF4-FFF2-40B4-BE49-F238E27FC236}">
                <a16:creationId xmlns:a16="http://schemas.microsoft.com/office/drawing/2014/main" id="{6E63347B-D63C-44AB-8D66-5702DE98ACFD}"/>
              </a:ext>
            </a:extLst>
          </p:cNvPr>
          <p:cNvSpPr>
            <a:spLocks xmlns:a="http://schemas.openxmlformats.org/drawingml/2006/main" noGrp="1"/>
          </p:cNvSpPr>
          <p:nvPr/>
        </p:nvSpPr>
        <p:spPr>
          <a:xfrm xmlns:a="http://schemas.openxmlformats.org/drawingml/2006/main">
            <a:off x="609600" y="366712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177B9F"/>
                </a:solidFill>
                <a:latin typeface="Helvetica Neue"/>
                <a:ea typeface="Helvetica Neue"/>
                <a:cs typeface="Helvetica Neue"/>
              </a:defRPr>
            </a:pPr>
            <a:r>
              <a:rPr sz="3675" b="1">
                <a:solidFill>
                  <a:srgbClr val="177B9F"/>
                </a:solidFill>
                <a:latin typeface="Helvetica Neue"/>
                <a:ea typeface="Helvetica Neue"/>
                <a:cs typeface="Helvetica Neue"/>
              </a:rPr>
              <a:t>4</a:t>
            </a:r>
          </a:p>
        </p:txBody>
      </p:sp>
      <p:sp>
        <p:nvSpPr>
          <p:cNvPr id="13" name="">
            <a:extLst xmlns:a="http://schemas.openxmlformats.org/drawingml/2006/main">
              <a:ext uri="{FF2B5EF4-FFF2-40B4-BE49-F238E27FC236}">
                <a16:creationId xmlns:a16="http://schemas.microsoft.com/office/drawing/2014/main" id="{87C07444-724E-4D60-BCE9-0DBEC37AECD1}"/>
              </a:ext>
            </a:extLst>
          </p:cNvPr>
          <p:cNvSpPr>
            <a:spLocks xmlns:a="http://schemas.openxmlformats.org/drawingml/2006/main" noGrp="1"/>
          </p:cNvSpPr>
          <p:nvPr/>
        </p:nvSpPr>
        <p:spPr>
          <a:xfrm xmlns:a="http://schemas.openxmlformats.org/drawingml/2006/main">
            <a:off x="609600" y="44291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B3A"/>
                </a:solidFill>
                <a:latin typeface="Helvetica Neue"/>
                <a:ea typeface="Helvetica Neue"/>
                <a:cs typeface="Helvetica Neue"/>
              </a:defRPr>
            </a:pPr>
            <a:r>
              <a:rPr sz="2175" b="1">
                <a:solidFill>
                  <a:srgbClr val="172B3A"/>
                </a:solidFill>
                <a:latin typeface="Helvetica Neue"/>
                <a:ea typeface="Helvetica Neue"/>
                <a:cs typeface="Helvetica Neue"/>
              </a:rPr>
              <a:t>runner.predict()</a:t>
            </a:r>
          </a:p>
        </p:txBody>
      </p:sp>
      <p:sp>
        <p:nvSpPr>
          <p:cNvPr id="14" name="">
            <a:extLst xmlns:a="http://schemas.openxmlformats.org/drawingml/2006/main">
              <a:ext uri="{FF2B5EF4-FFF2-40B4-BE49-F238E27FC236}">
                <a16:creationId xmlns:a16="http://schemas.microsoft.com/office/drawing/2014/main" id="{B482E2D0-B336-4E0B-90B5-254FABFE9D2C}"/>
              </a:ext>
            </a:extLst>
          </p:cNvPr>
          <p:cNvSpPr>
            <a:spLocks xmlns:a="http://schemas.openxmlformats.org/drawingml/2006/main" noGrp="1"/>
          </p:cNvSpPr>
          <p:nvPr/>
        </p:nvSpPr>
        <p:spPr>
          <a:xfrm xmlns:a="http://schemas.openxmlformats.org/drawingml/2006/main">
            <a:off x="609600" y="500062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Prepare and predict</a:t>
            </a:r>
          </a:p>
        </p:txBody>
      </p:sp>
      <p:sp>
        <p:nvSpPr>
          <p:cNvPr id="15" name="">
            <a:extLst xmlns:a="http://schemas.openxmlformats.org/drawingml/2006/main">
              <a:ext uri="{FF2B5EF4-FFF2-40B4-BE49-F238E27FC236}">
                <a16:creationId xmlns:a16="http://schemas.microsoft.com/office/drawing/2014/main" id="{D8AF6D40-3392-4BAB-8C6A-C2154FD98814}"/>
              </a:ext>
            </a:extLst>
          </p:cNvPr>
          <p:cNvSpPr>
            <a:spLocks xmlns:a="http://schemas.openxmlformats.org/drawingml/2006/main" noGrp="1"/>
          </p:cNvSpPr>
          <p:nvPr/>
        </p:nvSpPr>
        <p:spPr>
          <a:xfrm xmlns:a="http://schemas.openxmlformats.org/drawingml/2006/main">
            <a:off x="4400550" y="366712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267C63"/>
                </a:solidFill>
                <a:latin typeface="Helvetica Neue"/>
                <a:ea typeface="Helvetica Neue"/>
                <a:cs typeface="Helvetica Neue"/>
              </a:defRPr>
            </a:pPr>
            <a:r>
              <a:rPr sz="3675" b="1">
                <a:solidFill>
                  <a:srgbClr val="267C63"/>
                </a:solidFill>
                <a:latin typeface="Helvetica Neue"/>
                <a:ea typeface="Helvetica Neue"/>
                <a:cs typeface="Helvetica Neue"/>
              </a:rPr>
              <a:t>5</a:t>
            </a:r>
          </a:p>
        </p:txBody>
      </p:sp>
      <p:sp>
        <p:nvSpPr>
          <p:cNvPr id="16" name="">
            <a:extLst xmlns:a="http://schemas.openxmlformats.org/drawingml/2006/main">
              <a:ext uri="{FF2B5EF4-FFF2-40B4-BE49-F238E27FC236}">
                <a16:creationId xmlns:a16="http://schemas.microsoft.com/office/drawing/2014/main" id="{AB8AB137-FB2C-4757-AC0E-28E1221EE381}"/>
              </a:ext>
            </a:extLst>
          </p:cNvPr>
          <p:cNvSpPr>
            <a:spLocks xmlns:a="http://schemas.openxmlformats.org/drawingml/2006/main" noGrp="1"/>
          </p:cNvSpPr>
          <p:nvPr/>
        </p:nvSpPr>
        <p:spPr>
          <a:xfrm xmlns:a="http://schemas.openxmlformats.org/drawingml/2006/main">
            <a:off x="4400550" y="44291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B3A"/>
                </a:solidFill>
                <a:latin typeface="Helvetica Neue"/>
                <a:ea typeface="Helvetica Neue"/>
                <a:cs typeface="Helvetica Neue"/>
              </a:defRPr>
            </a:pPr>
            <a:r>
              <a:rPr sz="2175" b="1">
                <a:solidFill>
                  <a:srgbClr val="172B3A"/>
                </a:solidFill>
                <a:latin typeface="Helvetica Neue"/>
                <a:ea typeface="Helvetica Neue"/>
                <a:cs typeface="Helvetica Neue"/>
              </a:rPr>
              <a:t>runtime.accept()</a:t>
            </a:r>
          </a:p>
        </p:txBody>
      </p:sp>
      <p:sp>
        <p:nvSpPr>
          <p:cNvPr id="17" name="">
            <a:extLst xmlns:a="http://schemas.openxmlformats.org/drawingml/2006/main">
              <a:ext uri="{FF2B5EF4-FFF2-40B4-BE49-F238E27FC236}">
                <a16:creationId xmlns:a16="http://schemas.microsoft.com/office/drawing/2014/main" id="{484BC42B-6FA3-4B73-87B3-F6492E36EA47}"/>
              </a:ext>
            </a:extLst>
          </p:cNvPr>
          <p:cNvSpPr>
            <a:spLocks xmlns:a="http://schemas.openxmlformats.org/drawingml/2006/main" noGrp="1"/>
          </p:cNvSpPr>
          <p:nvPr/>
        </p:nvSpPr>
        <p:spPr>
          <a:xfrm xmlns:a="http://schemas.openxmlformats.org/drawingml/2006/main">
            <a:off x="4400550" y="500062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Validate and merge</a:t>
            </a:r>
          </a:p>
        </p:txBody>
      </p:sp>
      <p:sp>
        <p:nvSpPr>
          <p:cNvPr id="18" name="">
            <a:extLst xmlns:a="http://schemas.openxmlformats.org/drawingml/2006/main">
              <a:ext uri="{FF2B5EF4-FFF2-40B4-BE49-F238E27FC236}">
                <a16:creationId xmlns:a16="http://schemas.microsoft.com/office/drawing/2014/main" id="{FDAD02A5-F508-4FDD-AB1A-71756FE6ADD2}"/>
              </a:ext>
            </a:extLst>
          </p:cNvPr>
          <p:cNvSpPr>
            <a:spLocks xmlns:a="http://schemas.openxmlformats.org/drawingml/2006/main" noGrp="1"/>
          </p:cNvSpPr>
          <p:nvPr/>
        </p:nvSpPr>
        <p:spPr>
          <a:xfrm xmlns:a="http://schemas.openxmlformats.org/drawingml/2006/main">
            <a:off x="8191500" y="366712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267C63"/>
                </a:solidFill>
                <a:latin typeface="Helvetica Neue"/>
                <a:ea typeface="Helvetica Neue"/>
                <a:cs typeface="Helvetica Neue"/>
              </a:defRPr>
            </a:pPr>
            <a:r>
              <a:rPr sz="3675" b="1">
                <a:solidFill>
                  <a:srgbClr val="267C63"/>
                </a:solidFill>
                <a:latin typeface="Helvetica Neue"/>
                <a:ea typeface="Helvetica Neue"/>
                <a:cs typeface="Helvetica Neue"/>
              </a:rPr>
              <a:t>6</a:t>
            </a:r>
          </a:p>
        </p:txBody>
      </p:sp>
      <p:sp>
        <p:nvSpPr>
          <p:cNvPr id="19" name="">
            <a:extLst xmlns:a="http://schemas.openxmlformats.org/drawingml/2006/main">
              <a:ext uri="{FF2B5EF4-FFF2-40B4-BE49-F238E27FC236}">
                <a16:creationId xmlns:a16="http://schemas.microsoft.com/office/drawing/2014/main" id="{C3130E87-06C1-4ED5-BB85-04FB54475B00}"/>
              </a:ext>
            </a:extLst>
          </p:cNvPr>
          <p:cNvSpPr>
            <a:spLocks xmlns:a="http://schemas.openxmlformats.org/drawingml/2006/main" noGrp="1"/>
          </p:cNvSpPr>
          <p:nvPr/>
        </p:nvSpPr>
        <p:spPr>
          <a:xfrm xmlns:a="http://schemas.openxmlformats.org/drawingml/2006/main">
            <a:off x="8191500" y="44291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B3A"/>
                </a:solidFill>
                <a:latin typeface="Helvetica Neue"/>
                <a:ea typeface="Helvetica Neue"/>
                <a:cs typeface="Helvetica Neue"/>
              </a:defRPr>
            </a:pPr>
            <a:r>
              <a:rPr sz="2175" b="1">
                <a:solidFill>
                  <a:srgbClr val="172B3A"/>
                </a:solidFill>
                <a:latin typeface="Helvetica Neue"/>
                <a:ea typeface="Helvetica Neue"/>
                <a:cs typeface="Helvetica Neue"/>
              </a:rPr>
              <a:t>send_next_action()</a:t>
            </a:r>
          </a:p>
        </p:txBody>
      </p:sp>
      <p:sp>
        <p:nvSpPr>
          <p:cNvPr id="20" name="">
            <a:extLst xmlns:a="http://schemas.openxmlformats.org/drawingml/2006/main">
              <a:ext uri="{FF2B5EF4-FFF2-40B4-BE49-F238E27FC236}">
                <a16:creationId xmlns:a16="http://schemas.microsoft.com/office/drawing/2014/main" id="{272E373A-2966-49CC-A7DF-F9343DF7F765}"/>
              </a:ext>
            </a:extLst>
          </p:cNvPr>
          <p:cNvSpPr>
            <a:spLocks xmlns:a="http://schemas.openxmlformats.org/drawingml/2006/main" noGrp="1"/>
          </p:cNvSpPr>
          <p:nvPr/>
        </p:nvSpPr>
        <p:spPr>
          <a:xfrm xmlns:a="http://schemas.openxmlformats.org/drawingml/2006/main">
            <a:off x="8191500" y="500062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Pop and dispatch</a:t>
            </a:r>
          </a:p>
        </p:txBody>
      </p:sp>
      <p:sp>
        <p:nvSpPr>
          <p:cNvPr id="21" name="">
            <a:extLst xmlns:a="http://schemas.openxmlformats.org/drawingml/2006/main">
              <a:ext uri="{FF2B5EF4-FFF2-40B4-BE49-F238E27FC236}">
                <a16:creationId xmlns:a16="http://schemas.microsoft.com/office/drawing/2014/main" id="{ACC2D77C-5A86-4387-8DB1-C7DCB898D0E9}"/>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Client worker: 2, 3, 5. Server worker: 4. Control thread: observation and motor dispatch.</a:t>
            </a:r>
          </a:p>
        </p:txBody>
      </p:sp>
    </p:spTree>
    <p:extLst>
      <p:ext uri="{BB962C8B-B14F-4D97-AF65-F5344CB8AC3E}">
        <p14:creationId xmlns:p14="http://schemas.microsoft.com/office/powerpoint/2010/main" val="1430345820"/>
      </p:ext>
    </p:extLst>
  </p:cSld>
</p:sld>
</file>

<file path=ppt/slides/slide1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C38A42-4DC2-44F1-A379-F77E04C2151E}"/>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A reply must belong to the current execution</a:t>
            </a:r>
          </a:p>
        </p:txBody>
      </p:sp>
      <p:sp>
        <p:nvSpPr>
          <p:cNvPr id="2" name="">
            <a:extLst xmlns:a="http://schemas.openxmlformats.org/drawingml/2006/main">
              <a:ext uri="{FF2B5EF4-FFF2-40B4-BE49-F238E27FC236}">
                <a16:creationId xmlns:a16="http://schemas.microsoft.com/office/drawing/2014/main" id="{841DB476-B069-49C3-BF73-C74C592E5C38}"/>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39F8B2CE-338D-4EF2-A025-54727FDB79E9}"/>
              </a:ext>
            </a:extLst>
          </p:cNvPr>
          <p:cNvSpPr>
            <a:spLocks xmlns:a="http://schemas.openxmlformats.org/drawingml/2006/main" noGrp="1"/>
          </p:cNvSpPr>
          <p:nvPr/>
        </p:nvSpPr>
        <p:spPr>
          <a:xfrm xmlns:a="http://schemas.openxmlformats.org/drawingml/2006/main">
            <a:off x="609600" y="1619250"/>
            <a:ext cx="461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7B9F"/>
                </a:solidFill>
                <a:latin typeface="Helvetica Neue"/>
                <a:ea typeface="Helvetica Neue"/>
                <a:cs typeface="Helvetica Neue"/>
              </a:defRPr>
            </a:pPr>
            <a:r>
              <a:rPr sz="2250" b="1">
                <a:solidFill>
                  <a:srgbClr val="177B9F"/>
                </a:solidFill>
                <a:latin typeface="Helvetica Neue"/>
                <a:ea typeface="Helvetica Neue"/>
                <a:cs typeface="Helvetica Neue"/>
              </a:rPr>
              <a:t>Instance + session</a:t>
            </a:r>
          </a:p>
        </p:txBody>
      </p:sp>
      <p:sp>
        <p:nvSpPr>
          <p:cNvPr id="4" name="">
            <a:extLst xmlns:a="http://schemas.openxmlformats.org/drawingml/2006/main">
              <a:ext uri="{FF2B5EF4-FFF2-40B4-BE49-F238E27FC236}">
                <a16:creationId xmlns:a16="http://schemas.microsoft.com/office/drawing/2014/main" id="{561C6562-3DA8-4CC7-9319-A4681C6C70FD}"/>
              </a:ext>
            </a:extLst>
          </p:cNvPr>
          <p:cNvSpPr>
            <a:spLocks xmlns:a="http://schemas.openxmlformats.org/drawingml/2006/main" noGrp="1"/>
          </p:cNvSpPr>
          <p:nvPr/>
        </p:nvSpPr>
        <p:spPr>
          <a:xfrm xmlns:a="http://schemas.openxmlformats.org/drawingml/2006/main">
            <a:off x="5676900" y="1619250"/>
            <a:ext cx="585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B3A"/>
                </a:solidFill>
                <a:latin typeface="Helvetica Neue"/>
                <a:ea typeface="Helvetica Neue"/>
                <a:cs typeface="Helvetica Neue"/>
              </a:defRPr>
            </a:pPr>
            <a:r>
              <a:rPr sz="2175" b="0">
                <a:solidFill>
                  <a:srgbClr val="172B3A"/>
                </a:solidFill>
                <a:latin typeface="Helvetica Neue"/>
                <a:ea typeface="Helvetica Neue"/>
                <a:cs typeface="Helvetica Neue"/>
              </a:rPr>
              <a:t>Which server process and robot session?</a:t>
            </a:r>
          </a:p>
        </p:txBody>
      </p:sp>
      <p:sp>
        <p:nvSpPr>
          <p:cNvPr id="5" name="">
            <a:extLst xmlns:a="http://schemas.openxmlformats.org/drawingml/2006/main">
              <a:ext uri="{FF2B5EF4-FFF2-40B4-BE49-F238E27FC236}">
                <a16:creationId xmlns:a16="http://schemas.microsoft.com/office/drawing/2014/main" id="{7A3E9732-5676-49A8-859F-388085FE7F8E}"/>
              </a:ext>
            </a:extLst>
          </p:cNvPr>
          <p:cNvSpPr>
            <a:spLocks xmlns:a="http://schemas.openxmlformats.org/drawingml/2006/main" noGrp="1"/>
          </p:cNvSpPr>
          <p:nvPr/>
        </p:nvSpPr>
        <p:spPr>
          <a:xfrm xmlns:a="http://schemas.openxmlformats.org/drawingml/2006/main">
            <a:off x="609600" y="2400300"/>
            <a:ext cx="10848975" cy="0"/>
          </a:xfrm>
          <a:prstGeom xmlns:a="http://schemas.openxmlformats.org/drawingml/2006/main" prst="line">
            <a:avLst/>
          </a:prstGeom>
          <a:noFill xmlns:a="http://schemas.openxmlformats.org/drawingml/2006/main"/>
          <a:ln xmlns:a="http://schemas.openxmlformats.org/drawingml/2006/main" w="9525">
            <a:solidFill>
              <a:srgbClr val="DEE3E5"/>
            </a:solidFill>
          </a:ln>
        </p:spPr>
      </p:sp>
      <p:sp>
        <p:nvSpPr>
          <p:cNvPr id="6" name="">
            <a:extLst xmlns:a="http://schemas.openxmlformats.org/drawingml/2006/main">
              <a:ext uri="{FF2B5EF4-FFF2-40B4-BE49-F238E27FC236}">
                <a16:creationId xmlns:a16="http://schemas.microsoft.com/office/drawing/2014/main" id="{BD22C789-36AA-4748-AC84-1D3883CA2040}"/>
              </a:ext>
            </a:extLst>
          </p:cNvPr>
          <p:cNvSpPr>
            <a:spLocks xmlns:a="http://schemas.openxmlformats.org/drawingml/2006/main" noGrp="1"/>
          </p:cNvSpPr>
          <p:nvPr/>
        </p:nvSpPr>
        <p:spPr>
          <a:xfrm xmlns:a="http://schemas.openxmlformats.org/drawingml/2006/main">
            <a:off x="609600" y="2638425"/>
            <a:ext cx="461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7B9F"/>
                </a:solidFill>
                <a:latin typeface="Helvetica Neue"/>
                <a:ea typeface="Helvetica Neue"/>
                <a:cs typeface="Helvetica Neue"/>
              </a:defRPr>
            </a:pPr>
            <a:r>
              <a:rPr sz="2250" b="1">
                <a:solidFill>
                  <a:srgbClr val="177B9F"/>
                </a:solidFill>
                <a:latin typeface="Helvetica Neue"/>
                <a:ea typeface="Helvetica Neue"/>
                <a:cs typeface="Helvetica Neue"/>
              </a:rPr>
              <a:t>Request + generation + task</a:t>
            </a:r>
          </a:p>
        </p:txBody>
      </p:sp>
      <p:sp>
        <p:nvSpPr>
          <p:cNvPr id="7" name="">
            <a:extLst xmlns:a="http://schemas.openxmlformats.org/drawingml/2006/main">
              <a:ext uri="{FF2B5EF4-FFF2-40B4-BE49-F238E27FC236}">
                <a16:creationId xmlns:a16="http://schemas.microsoft.com/office/drawing/2014/main" id="{252D013B-0F61-4CFA-8F77-2D63C57144F0}"/>
              </a:ext>
            </a:extLst>
          </p:cNvPr>
          <p:cNvSpPr>
            <a:spLocks xmlns:a="http://schemas.openxmlformats.org/drawingml/2006/main" noGrp="1"/>
          </p:cNvSpPr>
          <p:nvPr/>
        </p:nvSpPr>
        <p:spPr>
          <a:xfrm xmlns:a="http://schemas.openxmlformats.org/drawingml/2006/main">
            <a:off x="5676900" y="2638425"/>
            <a:ext cx="585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B3A"/>
                </a:solidFill>
                <a:latin typeface="Helvetica Neue"/>
                <a:ea typeface="Helvetica Neue"/>
                <a:cs typeface="Helvetica Neue"/>
              </a:defRPr>
            </a:pPr>
            <a:r>
              <a:rPr sz="2175" b="0">
                <a:solidFill>
                  <a:srgbClr val="172B3A"/>
                </a:solidFill>
                <a:latin typeface="Helvetica Neue"/>
                <a:ea typeface="Helvetica Neue"/>
                <a:cs typeface="Helvetica Neue"/>
              </a:rPr>
              <a:t>Does this result still belong to this work?</a:t>
            </a:r>
          </a:p>
        </p:txBody>
      </p:sp>
      <p:sp>
        <p:nvSpPr>
          <p:cNvPr id="8" name="">
            <a:extLst xmlns:a="http://schemas.openxmlformats.org/drawingml/2006/main">
              <a:ext uri="{FF2B5EF4-FFF2-40B4-BE49-F238E27FC236}">
                <a16:creationId xmlns:a16="http://schemas.microsoft.com/office/drawing/2014/main" id="{4E8A66C0-76EE-4A3F-A8C8-78CE73487440}"/>
              </a:ext>
            </a:extLst>
          </p:cNvPr>
          <p:cNvSpPr>
            <a:spLocks xmlns:a="http://schemas.openxmlformats.org/drawingml/2006/main" noGrp="1"/>
          </p:cNvSpPr>
          <p:nvPr/>
        </p:nvSpPr>
        <p:spPr>
          <a:xfrm xmlns:a="http://schemas.openxmlformats.org/drawingml/2006/main">
            <a:off x="609600" y="3419475"/>
            <a:ext cx="10848975" cy="0"/>
          </a:xfrm>
          <a:prstGeom xmlns:a="http://schemas.openxmlformats.org/drawingml/2006/main" prst="line">
            <a:avLst/>
          </a:prstGeom>
          <a:noFill xmlns:a="http://schemas.openxmlformats.org/drawingml/2006/main"/>
          <a:ln xmlns:a="http://schemas.openxmlformats.org/drawingml/2006/main" w="9525">
            <a:solidFill>
              <a:srgbClr val="DEE3E5"/>
            </a:solidFill>
          </a:ln>
        </p:spPr>
      </p:sp>
      <p:sp>
        <p:nvSpPr>
          <p:cNvPr id="9" name="">
            <a:extLst xmlns:a="http://schemas.openxmlformats.org/drawingml/2006/main">
              <a:ext uri="{FF2B5EF4-FFF2-40B4-BE49-F238E27FC236}">
                <a16:creationId xmlns:a16="http://schemas.microsoft.com/office/drawing/2014/main" id="{89300F73-0FA4-4A05-8FB8-44A849EEB888}"/>
              </a:ext>
            </a:extLst>
          </p:cNvPr>
          <p:cNvSpPr>
            <a:spLocks xmlns:a="http://schemas.openxmlformats.org/drawingml/2006/main" noGrp="1"/>
          </p:cNvSpPr>
          <p:nvPr/>
        </p:nvSpPr>
        <p:spPr>
          <a:xfrm xmlns:a="http://schemas.openxmlformats.org/drawingml/2006/main">
            <a:off x="609600" y="3657600"/>
            <a:ext cx="461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7B9F"/>
                </a:solidFill>
                <a:latin typeface="Helvetica Neue"/>
                <a:ea typeface="Helvetica Neue"/>
                <a:cs typeface="Helvetica Neue"/>
              </a:defRPr>
            </a:pPr>
            <a:r>
              <a:rPr sz="2250" b="1">
                <a:solidFill>
                  <a:srgbClr val="177B9F"/>
                </a:solidFill>
                <a:latin typeface="Helvetica Neue"/>
                <a:ea typeface="Helvetica Neue"/>
                <a:cs typeface="Helvetica Neue"/>
              </a:rPr>
              <a:t>Action cursor</a:t>
            </a:r>
          </a:p>
        </p:txBody>
      </p:sp>
      <p:sp>
        <p:nvSpPr>
          <p:cNvPr id="10" name="">
            <a:extLst xmlns:a="http://schemas.openxmlformats.org/drawingml/2006/main">
              <a:ext uri="{FF2B5EF4-FFF2-40B4-BE49-F238E27FC236}">
                <a16:creationId xmlns:a16="http://schemas.microsoft.com/office/drawing/2014/main" id="{56F3E8BC-1563-4673-AB2B-1369272ECD36}"/>
              </a:ext>
            </a:extLst>
          </p:cNvPr>
          <p:cNvSpPr>
            <a:spLocks xmlns:a="http://schemas.openxmlformats.org/drawingml/2006/main" noGrp="1"/>
          </p:cNvSpPr>
          <p:nvPr/>
        </p:nvSpPr>
        <p:spPr>
          <a:xfrm xmlns:a="http://schemas.openxmlformats.org/drawingml/2006/main">
            <a:off x="5676900" y="3657600"/>
            <a:ext cx="585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B3A"/>
                </a:solidFill>
                <a:latin typeface="Helvetica Neue"/>
                <a:ea typeface="Helvetica Neue"/>
                <a:cs typeface="Helvetica Neue"/>
              </a:defRPr>
            </a:pPr>
            <a:r>
              <a:rPr sz="2175" b="0">
                <a:solidFill>
                  <a:srgbClr val="172B3A"/>
                </a:solidFill>
                <a:latin typeface="Helvetica Neue"/>
                <a:ea typeface="Helvetica Neue"/>
                <a:cs typeface="Helvetica Neue"/>
              </a:rPr>
              <a:t>Which endpoints are already committed?</a:t>
            </a:r>
          </a:p>
        </p:txBody>
      </p:sp>
      <p:sp>
        <p:nvSpPr>
          <p:cNvPr id="11" name="">
            <a:extLst xmlns:a="http://schemas.openxmlformats.org/drawingml/2006/main">
              <a:ext uri="{FF2B5EF4-FFF2-40B4-BE49-F238E27FC236}">
                <a16:creationId xmlns:a16="http://schemas.microsoft.com/office/drawing/2014/main" id="{50F9B7F5-C187-4279-963C-72C3115ED1A1}"/>
              </a:ext>
            </a:extLst>
          </p:cNvPr>
          <p:cNvSpPr>
            <a:spLocks xmlns:a="http://schemas.openxmlformats.org/drawingml/2006/main" noGrp="1"/>
          </p:cNvSpPr>
          <p:nvPr/>
        </p:nvSpPr>
        <p:spPr>
          <a:xfrm xmlns:a="http://schemas.openxmlformats.org/drawingml/2006/main">
            <a:off x="609600" y="4438650"/>
            <a:ext cx="10848975" cy="0"/>
          </a:xfrm>
          <a:prstGeom xmlns:a="http://schemas.openxmlformats.org/drawingml/2006/main" prst="line">
            <a:avLst/>
          </a:prstGeom>
          <a:noFill xmlns:a="http://schemas.openxmlformats.org/drawingml/2006/main"/>
          <a:ln xmlns:a="http://schemas.openxmlformats.org/drawingml/2006/main" w="9525">
            <a:solidFill>
              <a:srgbClr val="DEE3E5"/>
            </a:solidFill>
          </a:ln>
        </p:spPr>
      </p:sp>
      <p:sp>
        <p:nvSpPr>
          <p:cNvPr id="12" name="">
            <a:extLst xmlns:a="http://schemas.openxmlformats.org/drawingml/2006/main">
              <a:ext uri="{FF2B5EF4-FFF2-40B4-BE49-F238E27FC236}">
                <a16:creationId xmlns:a16="http://schemas.microsoft.com/office/drawing/2014/main" id="{F934128D-351A-4CC7-911F-789348E83415}"/>
              </a:ext>
            </a:extLst>
          </p:cNvPr>
          <p:cNvSpPr>
            <a:spLocks xmlns:a="http://schemas.openxmlformats.org/drawingml/2006/main" noGrp="1"/>
          </p:cNvSpPr>
          <p:nvPr/>
        </p:nvSpPr>
        <p:spPr>
          <a:xfrm xmlns:a="http://schemas.openxmlformats.org/drawingml/2006/main">
            <a:off x="609600" y="4676775"/>
            <a:ext cx="461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7B9F"/>
                </a:solidFill>
                <a:latin typeface="Helvetica Neue"/>
                <a:ea typeface="Helvetica Neue"/>
                <a:cs typeface="Helvetica Neue"/>
              </a:defRPr>
            </a:pPr>
            <a:r>
              <a:rPr sz="2250" b="1">
                <a:solidFill>
                  <a:srgbClr val="177B9F"/>
                </a:solidFill>
                <a:latin typeface="Helvetica Neue"/>
                <a:ea typeface="Helvetica Neue"/>
                <a:cs typeface="Helvetica Neue"/>
              </a:rPr>
              <a:t>Local capture time</a:t>
            </a:r>
          </a:p>
        </p:txBody>
      </p:sp>
      <p:sp>
        <p:nvSpPr>
          <p:cNvPr id="13" name="">
            <a:extLst xmlns:a="http://schemas.openxmlformats.org/drawingml/2006/main">
              <a:ext uri="{FF2B5EF4-FFF2-40B4-BE49-F238E27FC236}">
                <a16:creationId xmlns:a16="http://schemas.microsoft.com/office/drawing/2014/main" id="{023F490F-B32B-4F80-86BB-D26EB7B06029}"/>
              </a:ext>
            </a:extLst>
          </p:cNvPr>
          <p:cNvSpPr>
            <a:spLocks xmlns:a="http://schemas.openxmlformats.org/drawingml/2006/main" noGrp="1"/>
          </p:cNvSpPr>
          <p:nvPr/>
        </p:nvSpPr>
        <p:spPr>
          <a:xfrm xmlns:a="http://schemas.openxmlformats.org/drawingml/2006/main">
            <a:off x="5676900" y="4676775"/>
            <a:ext cx="585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B3A"/>
                </a:solidFill>
                <a:latin typeface="Helvetica Neue"/>
                <a:ea typeface="Helvetica Neue"/>
                <a:cs typeface="Helvetica Neue"/>
              </a:defRPr>
            </a:pPr>
            <a:r>
              <a:rPr sz="2175" b="0">
                <a:solidFill>
                  <a:srgbClr val="172B3A"/>
                </a:solidFill>
                <a:latin typeface="Helvetica Neue"/>
                <a:ea typeface="Helvetica Neue"/>
                <a:cs typeface="Helvetica Neue"/>
              </a:rPr>
              <a:t>Is the contributing observation too old?</a:t>
            </a:r>
          </a:p>
        </p:txBody>
      </p:sp>
      <p:sp>
        <p:nvSpPr>
          <p:cNvPr id="14" name="">
            <a:extLst xmlns:a="http://schemas.openxmlformats.org/drawingml/2006/main">
              <a:ext uri="{FF2B5EF4-FFF2-40B4-BE49-F238E27FC236}">
                <a16:creationId xmlns:a16="http://schemas.microsoft.com/office/drawing/2014/main" id="{4BED58AF-0A00-4125-97F0-8883180BE6F9}"/>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Protocol and capability checks gate compatibility. Build stamps help explain differences.</a:t>
            </a:r>
          </a:p>
        </p:txBody>
      </p:sp>
    </p:spTree>
    <p:extLst>
      <p:ext uri="{BB962C8B-B14F-4D97-AF65-F5344CB8AC3E}">
        <p14:creationId xmlns:p14="http://schemas.microsoft.com/office/powerpoint/2010/main" val="1961209666"/>
      </p:ext>
    </p:extLst>
  </p:cSld>
</p:sld>
</file>

<file path=ppt/slides/slide1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26FAC97-215C-4A96-9333-2EE076EF7CFE}"/>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Faults and reconnection have different jobs</a:t>
            </a:r>
          </a:p>
        </p:txBody>
      </p:sp>
      <p:sp>
        <p:nvSpPr>
          <p:cNvPr id="2" name="">
            <a:extLst xmlns:a="http://schemas.openxmlformats.org/drawingml/2006/main">
              <a:ext uri="{FF2B5EF4-FFF2-40B4-BE49-F238E27FC236}">
                <a16:creationId xmlns:a16="http://schemas.microsoft.com/office/drawing/2014/main" id="{A2386112-A5E3-40D1-85A2-0A76E7F8B409}"/>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17</a:t>
            </a:r>
          </a:p>
        </p:txBody>
      </p:sp>
      <p:sp>
        <p:nvSpPr>
          <p:cNvPr id="3" name="">
            <a:extLst xmlns:a="http://schemas.openxmlformats.org/drawingml/2006/main">
              <a:ext uri="{FF2B5EF4-FFF2-40B4-BE49-F238E27FC236}">
                <a16:creationId xmlns:a16="http://schemas.microsoft.com/office/drawing/2014/main" id="{E619313F-0686-40CA-8028-6F91244C8F40}"/>
              </a:ext>
            </a:extLst>
          </p:cNvPr>
          <p:cNvSpPr>
            <a:spLocks xmlns:a="http://schemas.openxmlformats.org/drawingml/2006/main" noGrp="1"/>
          </p:cNvSpPr>
          <p:nvPr/>
        </p:nvSpPr>
        <p:spPr>
          <a:xfrm xmlns:a="http://schemas.openxmlformats.org/drawingml/2006/main">
            <a:off x="609600" y="1628775"/>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C4545"/>
                </a:solidFill>
                <a:latin typeface="Helvetica Neue"/>
                <a:ea typeface="Helvetica Neue"/>
                <a:cs typeface="Helvetica Neue"/>
              </a:defRPr>
            </a:pPr>
            <a:r>
              <a:rPr sz="2400" b="1">
                <a:solidFill>
                  <a:srgbClr val="AC4545"/>
                </a:solidFill>
                <a:latin typeface="Helvetica Neue"/>
                <a:ea typeface="Helvetica Neue"/>
                <a:cs typeface="Helvetica Neue"/>
              </a:rPr>
              <a:t>Motion failure</a:t>
            </a:r>
          </a:p>
        </p:txBody>
      </p:sp>
      <p:sp>
        <p:nvSpPr>
          <p:cNvPr id="4" name="">
            <a:extLst xmlns:a="http://schemas.openxmlformats.org/drawingml/2006/main">
              <a:ext uri="{FF2B5EF4-FFF2-40B4-BE49-F238E27FC236}">
                <a16:creationId xmlns:a16="http://schemas.microsoft.com/office/drawing/2014/main" id="{EEFDABA4-B1AD-4AC6-A764-A48B8603B2D3}"/>
              </a:ext>
            </a:extLst>
          </p:cNvPr>
          <p:cNvSpPr>
            <a:spLocks xmlns:a="http://schemas.openxmlformats.org/drawingml/2006/main" noGrp="1"/>
          </p:cNvSpPr>
          <p:nvPr/>
        </p:nvSpPr>
        <p:spPr>
          <a:xfrm xmlns:a="http://schemas.openxmlformats.org/drawingml/2006/main">
            <a:off x="609600" y="2466975"/>
            <a:ext cx="5048250" cy="790575"/>
          </a:xfrm>
          <a:prstGeom xmlns:a="http://schemas.openxmlformats.org/drawingml/2006/main" prst="rect">
            <a:avLst/>
          </a:prstGeom>
          <a:solidFill xmlns:a="http://schemas.openxmlformats.org/drawingml/2006/main">
            <a:srgbClr val="F5E1DF"/>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172B3A"/>
                </a:solidFill>
                <a:latin typeface="Helvetica Neue"/>
                <a:ea typeface="Helvetica Neue"/>
                <a:cs typeface="Helvetica Neue"/>
              </a:defRPr>
            </a:pPr>
            <a:r>
              <a:rPr sz="2100">
                <a:solidFill>
                  <a:srgbClr val="172B3A"/>
                </a:solidFill>
                <a:latin typeface="Helvetica Neue"/>
                <a:ea typeface="Helvetica Neue"/>
                <a:cs typeface="Helvetica Neue"/>
              </a:rPr>
              <a:t>Deadline / age / exhaustion</a:t>
            </a:r>
          </a:p>
        </p:txBody>
      </p:sp>
      <p:sp>
        <p:nvSpPr>
          <p:cNvPr id="5" name="">
            <a:extLst xmlns:a="http://schemas.openxmlformats.org/drawingml/2006/main">
              <a:ext uri="{FF2B5EF4-FFF2-40B4-BE49-F238E27FC236}">
                <a16:creationId xmlns:a16="http://schemas.microsoft.com/office/drawing/2014/main" id="{78AE47C6-9589-4285-A3AA-075D8B721BEE}"/>
              </a:ext>
            </a:extLst>
          </p:cNvPr>
          <p:cNvSpPr>
            <a:spLocks xmlns:a="http://schemas.openxmlformats.org/drawingml/2006/main" noGrp="1"/>
          </p:cNvSpPr>
          <p:nvPr/>
        </p:nvSpPr>
        <p:spPr>
          <a:xfrm xmlns:a="http://schemas.openxmlformats.org/drawingml/2006/main">
            <a:off x="609600" y="4276725"/>
            <a:ext cx="5048250" cy="876300"/>
          </a:xfrm>
          <a:prstGeom xmlns:a="http://schemas.openxmlformats.org/drawingml/2006/main" prst="rect">
            <a:avLst/>
          </a:prstGeom>
          <a:solidFill xmlns:a="http://schemas.openxmlformats.org/drawingml/2006/main">
            <a:srgbClr val="F5E1DF"/>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250">
                <a:solidFill>
                  <a:srgbClr val="172B3A"/>
                </a:solidFill>
                <a:latin typeface="Helvetica Neue"/>
                <a:ea typeface="Helvetica Neue"/>
                <a:cs typeface="Helvetica Neue"/>
              </a:defRPr>
            </a:pPr>
            <a:r>
              <a:rPr sz="2250">
                <a:solidFill>
                  <a:srgbClr val="172B3A"/>
                </a:solidFill>
                <a:latin typeface="Helvetica Neue"/>
                <a:ea typeface="Helvetica Neue"/>
                <a:cs typeface="Helvetica Neue"/>
              </a:rPr>
              <a:t>Invalidate motion + hold</a:t>
            </a:r>
          </a:p>
        </p:txBody>
      </p:sp>
      <p:cxnSp>
        <p:nvCxnSpPr>
          <p:cNvPr id="17" name=""/>
          <p:cNvCxnSpPr>
            <a:stCxn xmlns:a="http://schemas.openxmlformats.org/drawingml/2006/main" id="4" idx="2"/>
            <a:endCxn xmlns:a="http://schemas.openxmlformats.org/drawingml/2006/main" id="5" idx="0"/>
          </p:cNvCxnSpPr>
          <p:nvPr/>
        </p:nvCxnSpPr>
        <p:spPr>
          <a:xfrm xmlns:a="http://schemas.openxmlformats.org/drawingml/2006/main">
            <a:off x="3133725" y="3257550"/>
            <a:ext cx="0" cy="1019175"/>
          </a:xfrm>
          <a:prstGeom xmlns:a="http://schemas.openxmlformats.org/drawingml/2006/main" prst="straightConnector1">
            <a:avLst/>
          </a:prstGeom>
          <a:ln xmlns:a="http://schemas.openxmlformats.org/drawingml/2006/main" w="19050">
            <a:solidFill>
              <a:srgbClr val="526777"/>
            </a:solidFill>
            <a:tailEnd type="triangle" w="sm" len="sm"/>
          </a:ln>
        </p:spPr>
      </p:cxnSp>
      <p:sp>
        <p:nvSpPr>
          <p:cNvPr id="7" name="">
            <a:extLst xmlns:a="http://schemas.openxmlformats.org/drawingml/2006/main">
              <a:ext uri="{FF2B5EF4-FFF2-40B4-BE49-F238E27FC236}">
                <a16:creationId xmlns:a16="http://schemas.microsoft.com/office/drawing/2014/main" id="{A729FC0C-B8CA-486A-9CC1-5642CB3E8267}"/>
              </a:ext>
            </a:extLst>
          </p:cNvPr>
          <p:cNvSpPr>
            <a:spLocks xmlns:a="http://schemas.openxmlformats.org/drawingml/2006/main" noGrp="1"/>
          </p:cNvSpPr>
          <p:nvPr/>
        </p:nvSpPr>
        <p:spPr>
          <a:xfrm xmlns:a="http://schemas.openxmlformats.org/drawingml/2006/main">
            <a:off x="6810375" y="1628775"/>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7B9F"/>
                </a:solidFill>
                <a:latin typeface="Helvetica Neue"/>
                <a:ea typeface="Helvetica Neue"/>
                <a:cs typeface="Helvetica Neue"/>
              </a:defRPr>
            </a:pPr>
            <a:r>
              <a:rPr sz="2400" b="1">
                <a:solidFill>
                  <a:srgbClr val="177B9F"/>
                </a:solidFill>
                <a:latin typeface="Helvetica Neue"/>
                <a:ea typeface="Helvetica Neue"/>
                <a:cs typeface="Helvetica Neue"/>
              </a:rPr>
              <a:t>Absent client</a:t>
            </a:r>
          </a:p>
        </p:txBody>
      </p:sp>
      <p:sp>
        <p:nvSpPr>
          <p:cNvPr id="8" name="">
            <a:extLst xmlns:a="http://schemas.openxmlformats.org/drawingml/2006/main">
              <a:ext uri="{FF2B5EF4-FFF2-40B4-BE49-F238E27FC236}">
                <a16:creationId xmlns:a16="http://schemas.microsoft.com/office/drawing/2014/main" id="{D49C45F6-DF8D-40BF-84A3-B5511CCFA610}"/>
              </a:ext>
            </a:extLst>
          </p:cNvPr>
          <p:cNvSpPr>
            <a:spLocks xmlns:a="http://schemas.openxmlformats.org/drawingml/2006/main" noGrp="1"/>
          </p:cNvSpPr>
          <p:nvPr/>
        </p:nvSpPr>
        <p:spPr>
          <a:xfrm xmlns:a="http://schemas.openxmlformats.org/drawingml/2006/main">
            <a:off x="6810375" y="2466975"/>
            <a:ext cx="4667250" cy="790575"/>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172B3A"/>
                </a:solidFill>
                <a:latin typeface="Helvetica Neue"/>
                <a:ea typeface="Helvetica Neue"/>
                <a:cs typeface="Helvetica Neue"/>
              </a:defRPr>
            </a:pPr>
            <a:r>
              <a:rPr sz="2100">
                <a:solidFill>
                  <a:srgbClr val="172B3A"/>
                </a:solidFill>
                <a:latin typeface="Helvetica Neue"/>
                <a:ea typeface="Helvetica Neue"/>
                <a:cs typeface="Helvetica Neue"/>
              </a:rPr>
              <a:t>30 s grace from detection</a:t>
            </a:r>
          </a:p>
        </p:txBody>
      </p:sp>
      <p:sp>
        <p:nvSpPr>
          <p:cNvPr id="9" name="">
            <a:extLst xmlns:a="http://schemas.openxmlformats.org/drawingml/2006/main">
              <a:ext uri="{FF2B5EF4-FFF2-40B4-BE49-F238E27FC236}">
                <a16:creationId xmlns:a16="http://schemas.microsoft.com/office/drawing/2014/main" id="{31001566-B68C-48B6-ADA7-9D08E1BD35DE}"/>
              </a:ext>
            </a:extLst>
          </p:cNvPr>
          <p:cNvSpPr>
            <a:spLocks xmlns:a="http://schemas.openxmlformats.org/drawingml/2006/main" noGrp="1"/>
          </p:cNvSpPr>
          <p:nvPr/>
        </p:nvSpPr>
        <p:spPr>
          <a:xfrm xmlns:a="http://schemas.openxmlformats.org/drawingml/2006/main">
            <a:off x="6810375" y="4191000"/>
            <a:ext cx="4667250" cy="1047750"/>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172B3A"/>
                </a:solidFill>
                <a:latin typeface="Helvetica Neue"/>
                <a:ea typeface="Helvetica Neue"/>
                <a:cs typeface="Helvetica Neue"/>
              </a:defRPr>
            </a:pPr>
            <a:r>
              <a:rPr sz="2100">
                <a:solidFill>
                  <a:srgbClr val="172B3A"/>
                </a:solidFill>
                <a:latin typeface="Helvetica Neue"/>
                <a:ea typeface="Helvetica Neue"/>
                <a:cs typeface="Helvetica Neue"/>
              </a:rPr>
              <a:t>Ordered cleanup</a:t>
            </a:r>
          </a:p>
          <a:p xmlns:a="http://schemas.openxmlformats.org/drawingml/2006/main">
            <a:pPr algn="ctr">
              <a:defRPr sz="2100">
                <a:solidFill>
                  <a:srgbClr val="172B3A"/>
                </a:solidFill>
                <a:latin typeface="Helvetica Neue"/>
                <a:ea typeface="Helvetica Neue"/>
                <a:cs typeface="Helvetica Neue"/>
              </a:defRPr>
            </a:pPr>
            <a:r>
              <a:rPr sz="2100">
                <a:solidFill>
                  <a:srgbClr val="172B3A"/>
                </a:solidFill>
                <a:latin typeface="Helvetica Neue"/>
                <a:ea typeface="Helvetica Neue"/>
                <a:cs typeface="Helvetica Neue"/>
              </a:rPr>
              <a:t>New session becomes possible</a:t>
            </a:r>
          </a:p>
        </p:txBody>
      </p:sp>
      <p:cxnSp>
        <p:nvCxnSpPr>
          <p:cNvPr id="21" name=""/>
          <p:cNvCxnSpPr>
            <a:stCxn xmlns:a="http://schemas.openxmlformats.org/drawingml/2006/main" id="8" idx="2"/>
            <a:endCxn xmlns:a="http://schemas.openxmlformats.org/drawingml/2006/main" id="9" idx="0"/>
          </p:cNvCxnSpPr>
          <p:nvPr/>
        </p:nvCxnSpPr>
        <p:spPr>
          <a:xfrm xmlns:a="http://schemas.openxmlformats.org/drawingml/2006/main">
            <a:off x="9144000" y="3257550"/>
            <a:ext cx="0" cy="933450"/>
          </a:xfrm>
          <a:prstGeom xmlns:a="http://schemas.openxmlformats.org/drawingml/2006/main" prst="straightConnector1">
            <a:avLst/>
          </a:prstGeom>
          <a:ln xmlns:a="http://schemas.openxmlformats.org/drawingml/2006/main" w="19050">
            <a:solidFill>
              <a:srgbClr val="526777"/>
            </a:solidFill>
            <a:tailEnd type="triangle" w="sm" len="sm"/>
          </a:ln>
        </p:spPr>
      </p:cxnSp>
      <p:sp>
        <p:nvSpPr>
          <p:cNvPr id="11" name="">
            <a:extLst xmlns:a="http://schemas.openxmlformats.org/drawingml/2006/main">
              <a:ext uri="{FF2B5EF4-FFF2-40B4-BE49-F238E27FC236}">
                <a16:creationId xmlns:a16="http://schemas.microsoft.com/office/drawing/2014/main" id="{F891C60D-40F2-4CB2-B3E7-915C58E59CFB}"/>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Client death prevents software hold. Cleanup can wait longer for unfinished model work.</a:t>
            </a:r>
          </a:p>
        </p:txBody>
      </p:sp>
    </p:spTree>
    <p:extLst>
      <p:ext uri="{BB962C8B-B14F-4D97-AF65-F5344CB8AC3E}">
        <p14:creationId xmlns:p14="http://schemas.microsoft.com/office/powerpoint/2010/main" val="1573620017"/>
      </p:ext>
    </p:extLst>
  </p:cSld>
</p:sld>
</file>

<file path=ppt/slides/slide1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5A568A5-135C-49DB-80A5-3FE8B3A96B88}"/>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Language requests use a planned hold</a:t>
            </a:r>
          </a:p>
        </p:txBody>
      </p:sp>
      <p:sp>
        <p:nvSpPr>
          <p:cNvPr id="2" name="">
            <a:extLst xmlns:a="http://schemas.openxmlformats.org/drawingml/2006/main">
              <a:ext uri="{FF2B5EF4-FFF2-40B4-BE49-F238E27FC236}">
                <a16:creationId xmlns:a16="http://schemas.microsoft.com/office/drawing/2014/main" id="{E8DC9992-309B-4C59-B665-A70D88F142A6}"/>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18</a:t>
            </a:r>
          </a:p>
        </p:txBody>
      </p:sp>
      <p:sp>
        <p:nvSpPr>
          <p:cNvPr id="3" name="">
            <a:extLst xmlns:a="http://schemas.openxmlformats.org/drawingml/2006/main">
              <a:ext uri="{FF2B5EF4-FFF2-40B4-BE49-F238E27FC236}">
                <a16:creationId xmlns:a16="http://schemas.microsoft.com/office/drawing/2014/main" id="{39396F3C-D58D-4524-8B95-A665A5B73993}"/>
              </a:ext>
            </a:extLst>
          </p:cNvPr>
          <p:cNvSpPr>
            <a:spLocks xmlns:a="http://schemas.openxmlformats.org/drawingml/2006/main" noGrp="1"/>
          </p:cNvSpPr>
          <p:nvPr/>
        </p:nvSpPr>
        <p:spPr>
          <a:xfrm xmlns:a="http://schemas.openxmlformats.org/drawingml/2006/main">
            <a:off x="609600" y="2419350"/>
            <a:ext cx="2428875" cy="981075"/>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a:solidFill>
                  <a:srgbClr val="172B3A"/>
                </a:solidFill>
                <a:latin typeface="Helvetica Neue"/>
                <a:ea typeface="Helvetica Neue"/>
                <a:cs typeface="Helvetica Neue"/>
              </a:defRPr>
            </a:pPr>
            <a:r>
              <a:rPr sz="2025">
                <a:solidFill>
                  <a:srgbClr val="172B3A"/>
                </a:solidFill>
                <a:latin typeface="Helvetica Neue"/>
                <a:ea typeface="Helvetica Neue"/>
                <a:cs typeface="Helvetica Neue"/>
              </a:rPr>
              <a:t>Query intent</a:t>
            </a:r>
          </a:p>
        </p:txBody>
      </p:sp>
      <p:sp>
        <p:nvSpPr>
          <p:cNvPr id="4" name="">
            <a:extLst xmlns:a="http://schemas.openxmlformats.org/drawingml/2006/main">
              <a:ext uri="{FF2B5EF4-FFF2-40B4-BE49-F238E27FC236}">
                <a16:creationId xmlns:a16="http://schemas.microsoft.com/office/drawing/2014/main" id="{DA3FE4ED-E23D-4B78-B991-5215634E2F6E}"/>
              </a:ext>
            </a:extLst>
          </p:cNvPr>
          <p:cNvSpPr>
            <a:spLocks xmlns:a="http://schemas.openxmlformats.org/drawingml/2006/main" noGrp="1"/>
          </p:cNvSpPr>
          <p:nvPr/>
        </p:nvSpPr>
        <p:spPr>
          <a:xfrm xmlns:a="http://schemas.openxmlformats.org/drawingml/2006/main">
            <a:off x="3419475" y="2419350"/>
            <a:ext cx="2428875" cy="981075"/>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a:solidFill>
                  <a:srgbClr val="172B3A"/>
                </a:solidFill>
                <a:latin typeface="Helvetica Neue"/>
                <a:ea typeface="Helvetica Neue"/>
                <a:cs typeface="Helvetica Neue"/>
              </a:defRPr>
            </a:pPr>
            <a:r>
              <a:rPr sz="2025">
                <a:solidFill>
                  <a:srgbClr val="172B3A"/>
                </a:solidFill>
                <a:latin typeface="Helvetica Neue"/>
                <a:ea typeface="Helvetica Neue"/>
                <a:cs typeface="Helvetica Neue"/>
              </a:rPr>
              <a:t>Hold acknowledged</a:t>
            </a:r>
          </a:p>
        </p:txBody>
      </p:sp>
      <p:sp>
        <p:nvSpPr>
          <p:cNvPr id="5" name="">
            <a:extLst xmlns:a="http://schemas.openxmlformats.org/drawingml/2006/main">
              <a:ext uri="{FF2B5EF4-FFF2-40B4-BE49-F238E27FC236}">
                <a16:creationId xmlns:a16="http://schemas.microsoft.com/office/drawing/2014/main" id="{C163BAA0-A2A2-4BAF-89A9-F109A1353E5A}"/>
              </a:ext>
            </a:extLst>
          </p:cNvPr>
          <p:cNvSpPr>
            <a:spLocks xmlns:a="http://schemas.openxmlformats.org/drawingml/2006/main" noGrp="1"/>
          </p:cNvSpPr>
          <p:nvPr/>
        </p:nvSpPr>
        <p:spPr>
          <a:xfrm xmlns:a="http://schemas.openxmlformats.org/drawingml/2006/main">
            <a:off x="6229350" y="2419350"/>
            <a:ext cx="2428875" cy="981075"/>
          </a:xfrm>
          <a:prstGeom xmlns:a="http://schemas.openxmlformats.org/drawingml/2006/main" prst="rect">
            <a:avLst/>
          </a:prstGeom>
          <a:solidFill xmlns:a="http://schemas.openxmlformats.org/drawingml/2006/main">
            <a:srgbClr val="F4E5C9"/>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a:solidFill>
                  <a:srgbClr val="172B3A"/>
                </a:solidFill>
                <a:latin typeface="Helvetica Neue"/>
                <a:ea typeface="Helvetica Neue"/>
                <a:cs typeface="Helvetica Neue"/>
              </a:defRPr>
            </a:pPr>
            <a:r>
              <a:rPr sz="2025">
                <a:solidFill>
                  <a:srgbClr val="172B3A"/>
                </a:solidFill>
                <a:latin typeface="Helvetica Neue"/>
                <a:ea typeface="Helvetica Neue"/>
                <a:cs typeface="Helvetica Neue"/>
              </a:rPr>
              <a:t>Text inference</a:t>
            </a:r>
          </a:p>
        </p:txBody>
      </p:sp>
      <p:sp>
        <p:nvSpPr>
          <p:cNvPr id="6" name="">
            <a:extLst xmlns:a="http://schemas.openxmlformats.org/drawingml/2006/main">
              <a:ext uri="{FF2B5EF4-FFF2-40B4-BE49-F238E27FC236}">
                <a16:creationId xmlns:a16="http://schemas.microsoft.com/office/drawing/2014/main" id="{447FC9F8-16BA-4908-8A38-CEB701868520}"/>
              </a:ext>
            </a:extLst>
          </p:cNvPr>
          <p:cNvSpPr>
            <a:spLocks xmlns:a="http://schemas.openxmlformats.org/drawingml/2006/main" noGrp="1"/>
          </p:cNvSpPr>
          <p:nvPr/>
        </p:nvSpPr>
        <p:spPr>
          <a:xfrm xmlns:a="http://schemas.openxmlformats.org/drawingml/2006/main">
            <a:off x="9039225" y="2419350"/>
            <a:ext cx="2428875" cy="981075"/>
          </a:xfrm>
          <a:prstGeom xmlns:a="http://schemas.openxmlformats.org/drawingml/2006/main" prst="rect">
            <a:avLst/>
          </a:prstGeom>
          <a:solidFill xmlns:a="http://schemas.openxmlformats.org/drawingml/2006/main">
            <a:srgbClr val="DCEEF3"/>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a:solidFill>
                  <a:srgbClr val="172B3A"/>
                </a:solidFill>
                <a:latin typeface="Helvetica Neue"/>
                <a:ea typeface="Helvetica Neue"/>
                <a:cs typeface="Helvetica Neue"/>
              </a:defRPr>
            </a:pPr>
            <a:r>
              <a:rPr sz="2025">
                <a:solidFill>
                  <a:srgbClr val="172B3A"/>
                </a:solidFill>
                <a:latin typeface="Helvetica Neue"/>
                <a:ea typeface="Helvetica Neue"/>
                <a:cs typeface="Helvetica Neue"/>
              </a:rPr>
              <a:t>Fresh action</a:t>
            </a:r>
          </a:p>
        </p:txBody>
      </p: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3038475" y="2909888"/>
            <a:ext cx="381000" cy="0"/>
          </a:xfrm>
          <a:prstGeom xmlns:a="http://schemas.openxmlformats.org/drawingml/2006/main" prst="straightConnector1">
            <a:avLst/>
          </a:prstGeom>
          <a:ln xmlns:a="http://schemas.openxmlformats.org/drawingml/2006/main" w="19050">
            <a:solidFill>
              <a:srgbClr val="526777"/>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5848350" y="2909888"/>
            <a:ext cx="381000" cy="0"/>
          </a:xfrm>
          <a:prstGeom xmlns:a="http://schemas.openxmlformats.org/drawingml/2006/main" prst="straightConnector1">
            <a:avLst/>
          </a:prstGeom>
          <a:ln xmlns:a="http://schemas.openxmlformats.org/drawingml/2006/main" w="19050">
            <a:solidFill>
              <a:srgbClr val="526777"/>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8658225" y="2909888"/>
            <a:ext cx="381000" cy="0"/>
          </a:xfrm>
          <a:prstGeom xmlns:a="http://schemas.openxmlformats.org/drawingml/2006/main" prst="straightConnector1">
            <a:avLst/>
          </a:prstGeom>
          <a:ln xmlns:a="http://schemas.openxmlformats.org/drawingml/2006/main" w="19050">
            <a:solidFill>
              <a:srgbClr val="526777"/>
            </a:solidFill>
            <a:tailEnd type="triangle" w="sm" len="sm"/>
          </a:ln>
        </p:spPr>
      </p:cxnSp>
      <p:sp>
        <p:nvSpPr>
          <p:cNvPr id="10" name="">
            <a:extLst xmlns:a="http://schemas.openxmlformats.org/drawingml/2006/main">
              <a:ext uri="{FF2B5EF4-FFF2-40B4-BE49-F238E27FC236}">
                <a16:creationId xmlns:a16="http://schemas.microsoft.com/office/drawing/2014/main" id="{BD608C37-2075-4DEE-96CF-DDC4906DAEF1}"/>
              </a:ext>
            </a:extLst>
          </p:cNvPr>
          <p:cNvSpPr>
            <a:spLocks xmlns:a="http://schemas.openxmlformats.org/drawingml/2006/main" noGrp="1"/>
          </p:cNvSpPr>
          <p:nvPr/>
        </p:nvSpPr>
        <p:spPr>
          <a:xfrm xmlns:a="http://schemas.openxmlformats.org/drawingml/2006/main">
            <a:off x="609600" y="39528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172B3A"/>
                </a:solidFill>
                <a:latin typeface="Helvetica Neue"/>
                <a:ea typeface="Helvetica Neue"/>
                <a:cs typeface="Helvetica Neue"/>
              </a:defRPr>
            </a:pPr>
            <a:r>
              <a:rPr sz="2625" b="1">
                <a:solidFill>
                  <a:srgbClr val="172B3A"/>
                </a:solidFill>
                <a:latin typeface="Helvetica Neue"/>
                <a:ea typeface="Helvetica Neue"/>
                <a:cs typeface="Helvetica Neue"/>
              </a:rPr>
              <a:t>Old motion loses eligibility before the query runs.</a:t>
            </a:r>
          </a:p>
        </p:txBody>
      </p:sp>
      <p:sp>
        <p:nvSpPr>
          <p:cNvPr id="11" name="">
            <a:extLst xmlns:a="http://schemas.openxmlformats.org/drawingml/2006/main">
              <a:ext uri="{FF2B5EF4-FFF2-40B4-BE49-F238E27FC236}">
                <a16:creationId xmlns:a16="http://schemas.microsoft.com/office/drawing/2014/main" id="{3C72B728-7A5C-4C75-AE9C-09BE718CBA26}"/>
              </a:ext>
            </a:extLst>
          </p:cNvPr>
          <p:cNvSpPr>
            <a:spLocks xmlns:a="http://schemas.openxmlformats.org/drawingml/2006/main" noGrp="1"/>
          </p:cNvSpPr>
          <p:nvPr/>
        </p:nvSpPr>
        <p:spPr>
          <a:xfrm xmlns:a="http://schemas.openxmlformats.org/drawingml/2006/main">
            <a:off x="609600" y="48577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26777"/>
                </a:solidFill>
                <a:latin typeface="Helvetica Neue"/>
                <a:ea typeface="Helvetica Neue"/>
                <a:cs typeface="Helvetica Neue"/>
              </a:defRPr>
            </a:pPr>
            <a:r>
              <a:rPr sz="2250" b="0">
                <a:solidFill>
                  <a:srgbClr val="526777"/>
                </a:solidFill>
                <a:latin typeface="Helvetica Neue"/>
                <a:ea typeface="Helvetica Neue"/>
                <a:cs typeface="Helvetica Neue"/>
              </a:rPr>
              <a:t>Healthy active runs can resume after a planned hold.</a:t>
            </a:r>
          </a:p>
        </p:txBody>
      </p:sp>
      <p:sp>
        <p:nvSpPr>
          <p:cNvPr id="12" name="">
            <a:extLst xmlns:a="http://schemas.openxmlformats.org/drawingml/2006/main">
              <a:ext uri="{FF2B5EF4-FFF2-40B4-BE49-F238E27FC236}">
                <a16:creationId xmlns:a16="http://schemas.microsoft.com/office/drawing/2014/main" id="{6C893C30-C9A7-45F1-B96D-B634EFFA04D5}"/>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9B5B11"/>
                </a:solidFill>
                <a:latin typeface="Helvetica Neue"/>
                <a:ea typeface="Helvetica Neue"/>
                <a:cs typeface="Helvetica Neue"/>
              </a:defRPr>
            </a:pPr>
            <a:r>
              <a:rPr sz="1725" b="0">
                <a:solidFill>
                  <a:srgbClr val="9B5B11"/>
                </a:solidFill>
                <a:latin typeface="Helvetica Neue"/>
                <a:ea typeface="Helvetica Neue"/>
                <a:cs typeface="Helvetica Neue"/>
              </a:rPr>
              <a:t>Implemented with automated coverage. Real language-model acceptance is still pending.</a:t>
            </a:r>
          </a:p>
        </p:txBody>
      </p:sp>
    </p:spTree>
    <p:extLst>
      <p:ext uri="{BB962C8B-B14F-4D97-AF65-F5344CB8AC3E}">
        <p14:creationId xmlns:p14="http://schemas.microsoft.com/office/powerpoint/2010/main" val="389689723"/>
      </p:ext>
    </p:extLst>
  </p:cSld>
</p:sld>
</file>

<file path=ppt/slides/slide1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86A70FA-3C73-4EF5-9CDB-E1CD018DEF2B}"/>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A short route through the repository</a:t>
            </a:r>
          </a:p>
        </p:txBody>
      </p:sp>
      <p:sp>
        <p:nvSpPr>
          <p:cNvPr id="2" name="">
            <a:extLst xmlns:a="http://schemas.openxmlformats.org/drawingml/2006/main">
              <a:ext uri="{FF2B5EF4-FFF2-40B4-BE49-F238E27FC236}">
                <a16:creationId xmlns:a16="http://schemas.microsoft.com/office/drawing/2014/main" id="{278E73AB-8790-4C75-8B39-0D37DE189AF9}"/>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539E6D59-0BFC-494E-8A5E-AD1A94E15E17}"/>
              </a:ext>
            </a:extLst>
          </p:cNvPr>
          <p:cNvSpPr>
            <a:spLocks xmlns:a="http://schemas.openxmlformats.org/drawingml/2006/main" noGrp="1"/>
          </p:cNvSpPr>
          <p:nvPr/>
        </p:nvSpPr>
        <p:spPr>
          <a:xfrm xmlns:a="http://schemas.openxmlformats.org/drawingml/2006/main">
            <a:off x="609600" y="1628775"/>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7B9F"/>
                </a:solidFill>
                <a:latin typeface="Helvetica Neue"/>
                <a:ea typeface="Helvetica Neue"/>
                <a:cs typeface="Helvetica Neue"/>
              </a:defRPr>
            </a:pPr>
            <a:r>
              <a:rPr sz="2400" b="1">
                <a:solidFill>
                  <a:srgbClr val="177B9F"/>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2A7D4E7A-16EC-4F03-AAE3-178B60771B86}"/>
              </a:ext>
            </a:extLst>
          </p:cNvPr>
          <p:cNvSpPr>
            <a:spLocks xmlns:a="http://schemas.openxmlformats.org/drawingml/2006/main" noGrp="1"/>
          </p:cNvSpPr>
          <p:nvPr/>
        </p:nvSpPr>
        <p:spPr>
          <a:xfrm xmlns:a="http://schemas.openxmlformats.org/drawingml/2006/main">
            <a:off x="1276350" y="1628775"/>
            <a:ext cx="36290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B3A"/>
                </a:solidFill>
                <a:latin typeface="Helvetica Neue"/>
                <a:ea typeface="Helvetica Neue"/>
                <a:cs typeface="Helvetica Neue"/>
              </a:defRPr>
            </a:pPr>
            <a:r>
              <a:rPr sz="2175" b="1">
                <a:solidFill>
                  <a:srgbClr val="172B3A"/>
                </a:solidFill>
                <a:latin typeface="Helvetica Neue"/>
                <a:ea typeface="Helvetica Neue"/>
                <a:cs typeface="Helvetica Neue"/>
              </a:rPr>
              <a:t>Settings</a:t>
            </a:r>
          </a:p>
        </p:txBody>
      </p:sp>
      <p:sp>
        <p:nvSpPr>
          <p:cNvPr id="5" name="">
            <a:extLst xmlns:a="http://schemas.openxmlformats.org/drawingml/2006/main">
              <a:ext uri="{FF2B5EF4-FFF2-40B4-BE49-F238E27FC236}">
                <a16:creationId xmlns:a16="http://schemas.microsoft.com/office/drawing/2014/main" id="{67A0146A-E10C-4C16-B971-F7A6C4116740}"/>
              </a:ext>
            </a:extLst>
          </p:cNvPr>
          <p:cNvSpPr>
            <a:spLocks xmlns:a="http://schemas.openxmlformats.org/drawingml/2006/main" noGrp="1"/>
          </p:cNvSpPr>
          <p:nvPr/>
        </p:nvSpPr>
        <p:spPr>
          <a:xfrm xmlns:a="http://schemas.openxmlformats.org/drawingml/2006/main">
            <a:off x="5238750" y="1628775"/>
            <a:ext cx="6381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rollout/inference/factory.py</a:t>
            </a:r>
          </a:p>
        </p:txBody>
      </p:sp>
      <p:sp>
        <p:nvSpPr>
          <p:cNvPr id="6" name="">
            <a:extLst xmlns:a="http://schemas.openxmlformats.org/drawingml/2006/main">
              <a:ext uri="{FF2B5EF4-FFF2-40B4-BE49-F238E27FC236}">
                <a16:creationId xmlns:a16="http://schemas.microsoft.com/office/drawing/2014/main" id="{4B5B30AB-8063-4051-BC8B-897604406ED8}"/>
              </a:ext>
            </a:extLst>
          </p:cNvPr>
          <p:cNvSpPr>
            <a:spLocks xmlns:a="http://schemas.openxmlformats.org/drawingml/2006/main" noGrp="1"/>
          </p:cNvSpPr>
          <p:nvPr/>
        </p:nvSpPr>
        <p:spPr>
          <a:xfrm xmlns:a="http://schemas.openxmlformats.org/drawingml/2006/main">
            <a:off x="609600" y="240030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7B9F"/>
                </a:solidFill>
                <a:latin typeface="Helvetica Neue"/>
                <a:ea typeface="Helvetica Neue"/>
                <a:cs typeface="Helvetica Neue"/>
              </a:defRPr>
            </a:pPr>
            <a:r>
              <a:rPr sz="2400" b="1">
                <a:solidFill>
                  <a:srgbClr val="177B9F"/>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019B5823-2CAA-4241-A9AE-0019FE1CD780}"/>
              </a:ext>
            </a:extLst>
          </p:cNvPr>
          <p:cNvSpPr>
            <a:spLocks xmlns:a="http://schemas.openxmlformats.org/drawingml/2006/main" noGrp="1"/>
          </p:cNvSpPr>
          <p:nvPr/>
        </p:nvSpPr>
        <p:spPr>
          <a:xfrm xmlns:a="http://schemas.openxmlformats.org/drawingml/2006/main">
            <a:off x="1276350" y="2400300"/>
            <a:ext cx="36290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B3A"/>
                </a:solidFill>
                <a:latin typeface="Helvetica Neue"/>
                <a:ea typeface="Helvetica Neue"/>
                <a:cs typeface="Helvetica Neue"/>
              </a:defRPr>
            </a:pPr>
            <a:r>
              <a:rPr sz="2175" b="1">
                <a:solidFill>
                  <a:srgbClr val="172B3A"/>
                </a:solidFill>
                <a:latin typeface="Helvetica Neue"/>
                <a:ea typeface="Helvetica Neue"/>
                <a:cs typeface="Helvetica Neue"/>
              </a:rPr>
              <a:t>Scheduling and merging</a:t>
            </a:r>
          </a:p>
        </p:txBody>
      </p:sp>
      <p:sp>
        <p:nvSpPr>
          <p:cNvPr id="8" name="">
            <a:extLst xmlns:a="http://schemas.openxmlformats.org/drawingml/2006/main">
              <a:ext uri="{FF2B5EF4-FFF2-40B4-BE49-F238E27FC236}">
                <a16:creationId xmlns:a16="http://schemas.microsoft.com/office/drawing/2014/main" id="{6CCA795C-A49C-4E0A-B16A-AD7334B30865}"/>
              </a:ext>
            </a:extLst>
          </p:cNvPr>
          <p:cNvSpPr>
            <a:spLocks xmlns:a="http://schemas.openxmlformats.org/drawingml/2006/main" noGrp="1"/>
          </p:cNvSpPr>
          <p:nvPr/>
        </p:nvSpPr>
        <p:spPr>
          <a:xfrm xmlns:a="http://schemas.openxmlformats.org/drawingml/2006/main">
            <a:off x="5238750" y="2400300"/>
            <a:ext cx="6381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inference/execution.py</a:t>
            </a:r>
          </a:p>
        </p:txBody>
      </p:sp>
      <p:sp>
        <p:nvSpPr>
          <p:cNvPr id="9" name="">
            <a:extLst xmlns:a="http://schemas.openxmlformats.org/drawingml/2006/main">
              <a:ext uri="{FF2B5EF4-FFF2-40B4-BE49-F238E27FC236}">
                <a16:creationId xmlns:a16="http://schemas.microsoft.com/office/drawing/2014/main" id="{36314F4D-2009-422B-AFBA-F511919A7EB3}"/>
              </a:ext>
            </a:extLst>
          </p:cNvPr>
          <p:cNvSpPr>
            <a:spLocks xmlns:a="http://schemas.openxmlformats.org/drawingml/2006/main" noGrp="1"/>
          </p:cNvSpPr>
          <p:nvPr/>
        </p:nvSpPr>
        <p:spPr>
          <a:xfrm xmlns:a="http://schemas.openxmlformats.org/drawingml/2006/main">
            <a:off x="609600" y="3171825"/>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7B9F"/>
                </a:solidFill>
                <a:latin typeface="Helvetica Neue"/>
                <a:ea typeface="Helvetica Neue"/>
                <a:cs typeface="Helvetica Neue"/>
              </a:defRPr>
            </a:pPr>
            <a:r>
              <a:rPr sz="2400" b="1">
                <a:solidFill>
                  <a:srgbClr val="177B9F"/>
                </a:solidFill>
                <a:latin typeface="Helvetica Neue"/>
                <a:ea typeface="Helvetica Neue"/>
                <a:cs typeface="Helvetica Neue"/>
              </a:rPr>
              <a:t>3</a:t>
            </a:r>
          </a:p>
        </p:txBody>
      </p:sp>
      <p:sp>
        <p:nvSpPr>
          <p:cNvPr id="10" name="">
            <a:extLst xmlns:a="http://schemas.openxmlformats.org/drawingml/2006/main">
              <a:ext uri="{FF2B5EF4-FFF2-40B4-BE49-F238E27FC236}">
                <a16:creationId xmlns:a16="http://schemas.microsoft.com/office/drawing/2014/main" id="{E753D0C7-C4F8-4A9D-96AD-CCA26D824FF2}"/>
              </a:ext>
            </a:extLst>
          </p:cNvPr>
          <p:cNvSpPr>
            <a:spLocks xmlns:a="http://schemas.openxmlformats.org/drawingml/2006/main" noGrp="1"/>
          </p:cNvSpPr>
          <p:nvPr/>
        </p:nvSpPr>
        <p:spPr>
          <a:xfrm xmlns:a="http://schemas.openxmlformats.org/drawingml/2006/main">
            <a:off x="1276350" y="3171825"/>
            <a:ext cx="36290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B3A"/>
                </a:solidFill>
                <a:latin typeface="Helvetica Neue"/>
                <a:ea typeface="Helvetica Neue"/>
                <a:cs typeface="Helvetica Neue"/>
              </a:defRPr>
            </a:pPr>
            <a:r>
              <a:rPr sz="2175" b="1">
                <a:solidFill>
                  <a:srgbClr val="172B3A"/>
                </a:solidFill>
                <a:latin typeface="Helvetica Neue"/>
                <a:ea typeface="Helvetica Neue"/>
                <a:cs typeface="Helvetica Neue"/>
              </a:rPr>
              <a:t>Background loop</a:t>
            </a:r>
          </a:p>
        </p:txBody>
      </p:sp>
      <p:sp>
        <p:nvSpPr>
          <p:cNvPr id="11" name="">
            <a:extLst xmlns:a="http://schemas.openxmlformats.org/drawingml/2006/main">
              <a:ext uri="{FF2B5EF4-FFF2-40B4-BE49-F238E27FC236}">
                <a16:creationId xmlns:a16="http://schemas.microsoft.com/office/drawing/2014/main" id="{5D1A5363-DA62-4AAE-AE70-CFFDFF01F430}"/>
              </a:ext>
            </a:extLst>
          </p:cNvPr>
          <p:cNvSpPr>
            <a:spLocks xmlns:a="http://schemas.openxmlformats.org/drawingml/2006/main" noGrp="1"/>
          </p:cNvSpPr>
          <p:nvPr/>
        </p:nvSpPr>
        <p:spPr>
          <a:xfrm xmlns:a="http://schemas.openxmlformats.org/drawingml/2006/main">
            <a:off x="5238750" y="3171825"/>
            <a:ext cx="6381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rollout/inference/remote.py</a:t>
            </a:r>
          </a:p>
        </p:txBody>
      </p:sp>
      <p:sp>
        <p:nvSpPr>
          <p:cNvPr id="12" name="">
            <a:extLst xmlns:a="http://schemas.openxmlformats.org/drawingml/2006/main">
              <a:ext uri="{FF2B5EF4-FFF2-40B4-BE49-F238E27FC236}">
                <a16:creationId xmlns:a16="http://schemas.microsoft.com/office/drawing/2014/main" id="{E02F0951-6D68-4199-8E8A-97D4419077FD}"/>
              </a:ext>
            </a:extLst>
          </p:cNvPr>
          <p:cNvSpPr>
            <a:spLocks xmlns:a="http://schemas.openxmlformats.org/drawingml/2006/main" noGrp="1"/>
          </p:cNvSpPr>
          <p:nvPr/>
        </p:nvSpPr>
        <p:spPr>
          <a:xfrm xmlns:a="http://schemas.openxmlformats.org/drawingml/2006/main">
            <a:off x="609600" y="394335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7B9F"/>
                </a:solidFill>
                <a:latin typeface="Helvetica Neue"/>
                <a:ea typeface="Helvetica Neue"/>
                <a:cs typeface="Helvetica Neue"/>
              </a:defRPr>
            </a:pPr>
            <a:r>
              <a:rPr sz="2400" b="1">
                <a:solidFill>
                  <a:srgbClr val="177B9F"/>
                </a:solidFill>
                <a:latin typeface="Helvetica Neue"/>
                <a:ea typeface="Helvetica Neue"/>
                <a:cs typeface="Helvetica Neue"/>
              </a:rPr>
              <a:t>4</a:t>
            </a:r>
          </a:p>
        </p:txBody>
      </p:sp>
      <p:sp>
        <p:nvSpPr>
          <p:cNvPr id="13" name="">
            <a:extLst xmlns:a="http://schemas.openxmlformats.org/drawingml/2006/main">
              <a:ext uri="{FF2B5EF4-FFF2-40B4-BE49-F238E27FC236}">
                <a16:creationId xmlns:a16="http://schemas.microsoft.com/office/drawing/2014/main" id="{DF1FE516-B673-48C8-870D-683410ADCE67}"/>
              </a:ext>
            </a:extLst>
          </p:cNvPr>
          <p:cNvSpPr>
            <a:spLocks xmlns:a="http://schemas.openxmlformats.org/drawingml/2006/main" noGrp="1"/>
          </p:cNvSpPr>
          <p:nvPr/>
        </p:nvSpPr>
        <p:spPr>
          <a:xfrm xmlns:a="http://schemas.openxmlformats.org/drawingml/2006/main">
            <a:off x="1276350" y="3943350"/>
            <a:ext cx="36290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B3A"/>
                </a:solidFill>
                <a:latin typeface="Helvetica Neue"/>
                <a:ea typeface="Helvetica Neue"/>
                <a:cs typeface="Helvetica Neue"/>
              </a:defRPr>
            </a:pPr>
            <a:r>
              <a:rPr sz="2175" b="1">
                <a:solidFill>
                  <a:srgbClr val="172B3A"/>
                </a:solidFill>
                <a:latin typeface="Helvetica Neue"/>
                <a:ea typeface="Helvetica Neue"/>
                <a:cs typeface="Helvetica Neue"/>
              </a:rPr>
              <a:t>Network boundary</a:t>
            </a:r>
          </a:p>
        </p:txBody>
      </p:sp>
      <p:sp>
        <p:nvSpPr>
          <p:cNvPr id="14" name="">
            <a:extLst xmlns:a="http://schemas.openxmlformats.org/drawingml/2006/main">
              <a:ext uri="{FF2B5EF4-FFF2-40B4-BE49-F238E27FC236}">
                <a16:creationId xmlns:a16="http://schemas.microsoft.com/office/drawing/2014/main" id="{B6C1DD04-14ED-40E9-B843-36FCCA5F3A4E}"/>
              </a:ext>
            </a:extLst>
          </p:cNvPr>
          <p:cNvSpPr>
            <a:spLocks xmlns:a="http://schemas.openxmlformats.org/drawingml/2006/main" noGrp="1"/>
          </p:cNvSpPr>
          <p:nvPr/>
        </p:nvSpPr>
        <p:spPr>
          <a:xfrm xmlns:a="http://schemas.openxmlformats.org/drawingml/2006/main">
            <a:off x="5238750" y="3943350"/>
            <a:ext cx="6381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remote_inference/client.py + server.py</a:t>
            </a:r>
          </a:p>
        </p:txBody>
      </p:sp>
      <p:sp>
        <p:nvSpPr>
          <p:cNvPr id="15" name="">
            <a:extLst xmlns:a="http://schemas.openxmlformats.org/drawingml/2006/main">
              <a:ext uri="{FF2B5EF4-FFF2-40B4-BE49-F238E27FC236}">
                <a16:creationId xmlns:a16="http://schemas.microsoft.com/office/drawing/2014/main" id="{7E097FFE-B782-42D0-A19F-DE33CAD96CE0}"/>
              </a:ext>
            </a:extLst>
          </p:cNvPr>
          <p:cNvSpPr>
            <a:spLocks xmlns:a="http://schemas.openxmlformats.org/drawingml/2006/main" noGrp="1"/>
          </p:cNvSpPr>
          <p:nvPr/>
        </p:nvSpPr>
        <p:spPr>
          <a:xfrm xmlns:a="http://schemas.openxmlformats.org/drawingml/2006/main">
            <a:off x="609600" y="4714875"/>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7B9F"/>
                </a:solidFill>
                <a:latin typeface="Helvetica Neue"/>
                <a:ea typeface="Helvetica Neue"/>
                <a:cs typeface="Helvetica Neue"/>
              </a:defRPr>
            </a:pPr>
            <a:r>
              <a:rPr sz="2400" b="1">
                <a:solidFill>
                  <a:srgbClr val="177B9F"/>
                </a:solidFill>
                <a:latin typeface="Helvetica Neue"/>
                <a:ea typeface="Helvetica Neue"/>
                <a:cs typeface="Helvetica Neue"/>
              </a:rPr>
              <a:t>5</a:t>
            </a:r>
          </a:p>
        </p:txBody>
      </p:sp>
      <p:sp>
        <p:nvSpPr>
          <p:cNvPr id="16" name="">
            <a:extLst xmlns:a="http://schemas.openxmlformats.org/drawingml/2006/main">
              <a:ext uri="{FF2B5EF4-FFF2-40B4-BE49-F238E27FC236}">
                <a16:creationId xmlns:a16="http://schemas.microsoft.com/office/drawing/2014/main" id="{BB180C65-1DFF-49B3-B1D3-8153C889E086}"/>
              </a:ext>
            </a:extLst>
          </p:cNvPr>
          <p:cNvSpPr>
            <a:spLocks xmlns:a="http://schemas.openxmlformats.org/drawingml/2006/main" noGrp="1"/>
          </p:cNvSpPr>
          <p:nvPr/>
        </p:nvSpPr>
        <p:spPr>
          <a:xfrm xmlns:a="http://schemas.openxmlformats.org/drawingml/2006/main">
            <a:off x="1276350" y="4714875"/>
            <a:ext cx="36290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2B3A"/>
                </a:solidFill>
                <a:latin typeface="Helvetica Neue"/>
                <a:ea typeface="Helvetica Neue"/>
                <a:cs typeface="Helvetica Neue"/>
              </a:defRPr>
            </a:pPr>
            <a:r>
              <a:rPr sz="2175" b="1">
                <a:solidFill>
                  <a:srgbClr val="172B3A"/>
                </a:solidFill>
                <a:latin typeface="Helvetica Neue"/>
                <a:ea typeface="Helvetica Neue"/>
                <a:cs typeface="Helvetica Neue"/>
              </a:rPr>
              <a:t>Model and motors</a:t>
            </a:r>
          </a:p>
        </p:txBody>
      </p:sp>
      <p:sp>
        <p:nvSpPr>
          <p:cNvPr id="17" name="">
            <a:extLst xmlns:a="http://schemas.openxmlformats.org/drawingml/2006/main">
              <a:ext uri="{FF2B5EF4-FFF2-40B4-BE49-F238E27FC236}">
                <a16:creationId xmlns:a16="http://schemas.microsoft.com/office/drawing/2014/main" id="{AFEFE9D4-9701-4262-8CB8-8301908D98B5}"/>
              </a:ext>
            </a:extLst>
          </p:cNvPr>
          <p:cNvSpPr>
            <a:spLocks xmlns:a="http://schemas.openxmlformats.org/drawingml/2006/main" noGrp="1"/>
          </p:cNvSpPr>
          <p:nvPr/>
        </p:nvSpPr>
        <p:spPr>
          <a:xfrm xmlns:a="http://schemas.openxmlformats.org/drawingml/2006/main">
            <a:off x="5238750" y="4714875"/>
            <a:ext cx="6381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inference/policy_runner.py</a:t>
            </a:r>
          </a:p>
          <a:p xmlns:a="http://schemas.openxmlformats.org/drawingml/2006/main">
            <a:pPr algn="l">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rollout/strategies/core.py</a:t>
            </a:r>
          </a:p>
        </p:txBody>
      </p:sp>
      <p:sp>
        <p:nvSpPr>
          <p:cNvPr id="18" name="">
            <a:extLst xmlns:a="http://schemas.openxmlformats.org/drawingml/2006/main">
              <a:ext uri="{FF2B5EF4-FFF2-40B4-BE49-F238E27FC236}">
                <a16:creationId xmlns:a16="http://schemas.microsoft.com/office/drawing/2014/main" id="{C2692C8F-1418-492E-A2B6-613904FC66D1}"/>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Paths start under src/lerobot. Notes contain exact entry points and source links.</a:t>
            </a:r>
          </a:p>
        </p:txBody>
      </p:sp>
    </p:spTree>
    <p:extLst>
      <p:ext uri="{BB962C8B-B14F-4D97-AF65-F5344CB8AC3E}">
        <p14:creationId xmlns:p14="http://schemas.microsoft.com/office/powerpoint/2010/main" val="966839782"/>
      </p:ext>
    </p:extLst>
  </p:cSld>
</p:sld>
</file>

<file path=ppt/slides/slide2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AEAD9A8-01C5-42FD-9238-876CE9EA751A}"/>
              </a:ext>
            </a:extLst>
          </p:cNvPr>
          <p:cNvSpPr>
            <a:spLocks xmlns:a="http://schemas.openxmlformats.org/drawingml/2006/main" noGrp="1"/>
          </p:cNvSpPr>
          <p:nvPr/>
        </p:nvSpPr>
        <p:spPr>
          <a:xfrm xmlns:a="http://schemas.openxmlformats.org/drawingml/2006/main">
            <a:off x="609600" y="4095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2B3A"/>
                </a:solidFill>
                <a:latin typeface="Helvetica Neue"/>
                <a:ea typeface="Helvetica Neue"/>
                <a:cs typeface="Helvetica Neue"/>
              </a:defRPr>
            </a:pPr>
            <a:r>
              <a:rPr sz="3450" b="1">
                <a:solidFill>
                  <a:srgbClr val="172B3A"/>
                </a:solidFill>
                <a:latin typeface="Helvetica Neue"/>
                <a:ea typeface="Helvetica Neue"/>
                <a:cs typeface="Helvetica Neue"/>
              </a:rPr>
              <a:t>Three questions to check your mental model</a:t>
            </a:r>
          </a:p>
        </p:txBody>
      </p:sp>
      <p:sp>
        <p:nvSpPr>
          <p:cNvPr id="2" name="">
            <a:extLst xmlns:a="http://schemas.openxmlformats.org/drawingml/2006/main">
              <a:ext uri="{FF2B5EF4-FFF2-40B4-BE49-F238E27FC236}">
                <a16:creationId xmlns:a16="http://schemas.microsoft.com/office/drawing/2014/main" id="{7070D564-EBB3-4DD8-A077-DA3213CF5816}"/>
              </a:ext>
            </a:extLst>
          </p:cNvPr>
          <p:cNvSpPr>
            <a:spLocks xmlns:a="http://schemas.openxmlformats.org/drawingml/2006/main" noGrp="1"/>
          </p:cNvSpPr>
          <p:nvPr/>
        </p:nvSpPr>
        <p:spPr>
          <a:xfrm xmlns:a="http://schemas.openxmlformats.org/drawingml/2006/main">
            <a:off x="1123950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7"/>
                </a:solidFill>
                <a:latin typeface="Helvetica Neue"/>
                <a:ea typeface="Helvetica Neue"/>
                <a:cs typeface="Helvetica Neue"/>
              </a:defRPr>
            </a:pPr>
            <a:r>
              <a:rPr sz="1275" b="0">
                <a:solidFill>
                  <a:srgbClr val="526777"/>
                </a:solidFill>
                <a:latin typeface="Helvetica Neue"/>
                <a:ea typeface="Helvetica Neue"/>
                <a:cs typeface="Helvetica Neue"/>
              </a:rPr>
              <a:t>20</a:t>
            </a:r>
          </a:p>
        </p:txBody>
      </p:sp>
      <p:sp>
        <p:nvSpPr>
          <p:cNvPr id="3" name="">
            <a:extLst xmlns:a="http://schemas.openxmlformats.org/drawingml/2006/main">
              <a:ext uri="{FF2B5EF4-FFF2-40B4-BE49-F238E27FC236}">
                <a16:creationId xmlns:a16="http://schemas.microsoft.com/office/drawing/2014/main" id="{E4400B39-7A28-4D0A-AC2A-D0AC960961CD}"/>
              </a:ext>
            </a:extLst>
          </p:cNvPr>
          <p:cNvSpPr>
            <a:spLocks xmlns:a="http://schemas.openxmlformats.org/drawingml/2006/main" noGrp="1"/>
          </p:cNvSpPr>
          <p:nvPr/>
        </p:nvSpPr>
        <p:spPr>
          <a:xfrm xmlns:a="http://schemas.openxmlformats.org/drawingml/2006/main">
            <a:off x="609600" y="1638300"/>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177B9F"/>
                </a:solidFill>
                <a:latin typeface="Helvetica Neue"/>
                <a:ea typeface="Helvetica Neue"/>
                <a:cs typeface="Helvetica Neue"/>
              </a:defRPr>
            </a:pPr>
            <a:r>
              <a:rPr sz="3600" b="1">
                <a:solidFill>
                  <a:srgbClr val="177B9F"/>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4E1228B0-8C0F-4D9E-A517-A65A5751B15B}"/>
              </a:ext>
            </a:extLst>
          </p:cNvPr>
          <p:cNvSpPr>
            <a:spLocks xmlns:a="http://schemas.openxmlformats.org/drawingml/2006/main" noGrp="1"/>
          </p:cNvSpPr>
          <p:nvPr/>
        </p:nvSpPr>
        <p:spPr>
          <a:xfrm xmlns:a="http://schemas.openxmlformats.org/drawingml/2006/main">
            <a:off x="1600200" y="16954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172B3A"/>
                </a:solidFill>
                <a:latin typeface="Helvetica Neue"/>
                <a:ea typeface="Helvetica Neue"/>
                <a:cs typeface="Helvetica Neue"/>
              </a:defRPr>
            </a:pPr>
            <a:r>
              <a:rPr sz="2550" b="0">
                <a:solidFill>
                  <a:srgbClr val="172B3A"/>
                </a:solidFill>
                <a:latin typeface="Helvetica Neue"/>
                <a:ea typeface="Helvetica Neue"/>
                <a:cs typeface="Helvetica Neue"/>
              </a:rPr>
              <a:t>Who decides whether the next target</a:t>
            </a:r>
          </a:p>
          <a:p xmlns:a="http://schemas.openxmlformats.org/drawingml/2006/main">
            <a:pPr algn="l">
              <a:defRPr sz="2550" b="0">
                <a:solidFill>
                  <a:srgbClr val="172B3A"/>
                </a:solidFill>
                <a:latin typeface="Helvetica Neue"/>
                <a:ea typeface="Helvetica Neue"/>
                <a:cs typeface="Helvetica Neue"/>
              </a:defRPr>
            </a:pPr>
            <a:r>
              <a:rPr sz="2550" b="0">
                <a:solidFill>
                  <a:srgbClr val="172B3A"/>
                </a:solidFill>
                <a:latin typeface="Helvetica Neue"/>
                <a:ea typeface="Helvetica Neue"/>
                <a:cs typeface="Helvetica Neue"/>
              </a:rPr>
              <a:t>may reach the motors?</a:t>
            </a:r>
          </a:p>
        </p:txBody>
      </p:sp>
      <p:sp>
        <p:nvSpPr>
          <p:cNvPr id="5" name="">
            <a:extLst xmlns:a="http://schemas.openxmlformats.org/drawingml/2006/main">
              <a:ext uri="{FF2B5EF4-FFF2-40B4-BE49-F238E27FC236}">
                <a16:creationId xmlns:a16="http://schemas.microsoft.com/office/drawing/2014/main" id="{B639A9DA-3DA3-4AAA-B1B3-B8B4C57697D7}"/>
              </a:ext>
            </a:extLst>
          </p:cNvPr>
          <p:cNvSpPr>
            <a:spLocks xmlns:a="http://schemas.openxmlformats.org/drawingml/2006/main" noGrp="1"/>
          </p:cNvSpPr>
          <p:nvPr/>
        </p:nvSpPr>
        <p:spPr>
          <a:xfrm xmlns:a="http://schemas.openxmlformats.org/drawingml/2006/main">
            <a:off x="609600" y="3162300"/>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177B9F"/>
                </a:solidFill>
                <a:latin typeface="Helvetica Neue"/>
                <a:ea typeface="Helvetica Neue"/>
                <a:cs typeface="Helvetica Neue"/>
              </a:defRPr>
            </a:pPr>
            <a:r>
              <a:rPr sz="3600" b="1">
                <a:solidFill>
                  <a:srgbClr val="177B9F"/>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BA1E75A4-D6D7-4515-A9D8-A7B906E55CFA}"/>
              </a:ext>
            </a:extLst>
          </p:cNvPr>
          <p:cNvSpPr>
            <a:spLocks xmlns:a="http://schemas.openxmlformats.org/drawingml/2006/main" noGrp="1"/>
          </p:cNvSpPr>
          <p:nvPr/>
        </p:nvSpPr>
        <p:spPr>
          <a:xfrm xmlns:a="http://schemas.openxmlformats.org/drawingml/2006/main">
            <a:off x="1600200" y="32194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172B3A"/>
                </a:solidFill>
                <a:latin typeface="Helvetica Neue"/>
                <a:ea typeface="Helvetica Neue"/>
                <a:cs typeface="Helvetica Neue"/>
              </a:defRPr>
            </a:pPr>
            <a:r>
              <a:rPr sz="2550" b="0">
                <a:solidFill>
                  <a:srgbClr val="172B3A"/>
                </a:solidFill>
                <a:latin typeface="Helvetica Neue"/>
                <a:ea typeface="Helvetica Neue"/>
                <a:cs typeface="Helvetica Neue"/>
              </a:rPr>
              <a:t>Why can correctly aligned actions</a:t>
            </a:r>
          </a:p>
          <a:p xmlns:a="http://schemas.openxmlformats.org/drawingml/2006/main">
            <a:pPr algn="l">
              <a:defRPr sz="2550" b="0">
                <a:solidFill>
                  <a:srgbClr val="172B3A"/>
                </a:solidFill>
                <a:latin typeface="Helvetica Neue"/>
                <a:ea typeface="Helvetica Neue"/>
                <a:cs typeface="Helvetica Neue"/>
              </a:defRPr>
            </a:pPr>
            <a:r>
              <a:rPr sz="2550" b="0">
                <a:solidFill>
                  <a:srgbClr val="172B3A"/>
                </a:solidFill>
                <a:latin typeface="Helvetica Neue"/>
                <a:ea typeface="Helvetica Neue"/>
                <a:cs typeface="Helvetica Neue"/>
              </a:rPr>
              <a:t>still produce a worse task result?</a:t>
            </a:r>
          </a:p>
        </p:txBody>
      </p:sp>
      <p:sp>
        <p:nvSpPr>
          <p:cNvPr id="7" name="">
            <a:extLst xmlns:a="http://schemas.openxmlformats.org/drawingml/2006/main">
              <a:ext uri="{FF2B5EF4-FFF2-40B4-BE49-F238E27FC236}">
                <a16:creationId xmlns:a16="http://schemas.microsoft.com/office/drawing/2014/main" id="{C7DABE87-D1E6-4D80-9CD8-0E07F3E75F63}"/>
              </a:ext>
            </a:extLst>
          </p:cNvPr>
          <p:cNvSpPr>
            <a:spLocks xmlns:a="http://schemas.openxmlformats.org/drawingml/2006/main" noGrp="1"/>
          </p:cNvSpPr>
          <p:nvPr/>
        </p:nvSpPr>
        <p:spPr>
          <a:xfrm xmlns:a="http://schemas.openxmlformats.org/drawingml/2006/main">
            <a:off x="609600" y="4686300"/>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9B5B11"/>
                </a:solidFill>
                <a:latin typeface="Helvetica Neue"/>
                <a:ea typeface="Helvetica Neue"/>
                <a:cs typeface="Helvetica Neue"/>
              </a:defRPr>
            </a:pPr>
            <a:r>
              <a:rPr sz="3600" b="1">
                <a:solidFill>
                  <a:srgbClr val="9B5B11"/>
                </a:solidFill>
                <a:latin typeface="Helvetica Neue"/>
                <a:ea typeface="Helvetica Neue"/>
                <a:cs typeface="Helvetica Neue"/>
              </a:rPr>
              <a:t>3</a:t>
            </a:r>
          </a:p>
        </p:txBody>
      </p:sp>
      <p:sp>
        <p:nvSpPr>
          <p:cNvPr id="8" name="">
            <a:extLst xmlns:a="http://schemas.openxmlformats.org/drawingml/2006/main">
              <a:ext uri="{FF2B5EF4-FFF2-40B4-BE49-F238E27FC236}">
                <a16:creationId xmlns:a16="http://schemas.microsoft.com/office/drawing/2014/main" id="{8CA00508-5B05-4DAA-8BE2-7A83439DECF3}"/>
              </a:ext>
            </a:extLst>
          </p:cNvPr>
          <p:cNvSpPr>
            <a:spLocks xmlns:a="http://schemas.openxmlformats.org/drawingml/2006/main" noGrp="1"/>
          </p:cNvSpPr>
          <p:nvPr/>
        </p:nvSpPr>
        <p:spPr>
          <a:xfrm xmlns:a="http://schemas.openxmlformats.org/drawingml/2006/main">
            <a:off x="1600200" y="47434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172B3A"/>
                </a:solidFill>
                <a:latin typeface="Helvetica Neue"/>
                <a:ea typeface="Helvetica Neue"/>
                <a:cs typeface="Helvetica Neue"/>
              </a:defRPr>
            </a:pPr>
            <a:r>
              <a:rPr sz="2550" b="0">
                <a:solidFill>
                  <a:srgbClr val="172B3A"/>
                </a:solidFill>
                <a:latin typeface="Helvetica Neue"/>
                <a:ea typeface="Helvetica Neue"/>
                <a:cs typeface="Helvetica Neue"/>
              </a:rPr>
              <a:t>What changes in the next implementation</a:t>
            </a:r>
          </a:p>
          <a:p xmlns:a="http://schemas.openxmlformats.org/drawingml/2006/main">
            <a:pPr algn="l">
              <a:defRPr sz="2550" b="0">
                <a:solidFill>
                  <a:srgbClr val="172B3A"/>
                </a:solidFill>
                <a:latin typeface="Helvetica Neue"/>
                <a:ea typeface="Helvetica Neue"/>
                <a:cs typeface="Helvetica Neue"/>
              </a:defRPr>
            </a:pPr>
            <a:r>
              <a:rPr sz="2550" b="0">
                <a:solidFill>
                  <a:srgbClr val="172B3A"/>
                </a:solidFill>
                <a:latin typeface="Helvetica Neue"/>
                <a:ea typeface="Helvetica Neue"/>
                <a:cs typeface="Helvetica Neue"/>
              </a:rPr>
              <a:t>and what stays the same?</a:t>
            </a:r>
          </a:p>
        </p:txBody>
      </p:sp>
      <p:sp>
        <p:nvSpPr>
          <p:cNvPr id="9" name="">
            <a:extLst xmlns:a="http://schemas.openxmlformats.org/drawingml/2006/main">
              <a:ext uri="{FF2B5EF4-FFF2-40B4-BE49-F238E27FC236}">
                <a16:creationId xmlns:a16="http://schemas.microsoft.com/office/drawing/2014/main" id="{F7ED7093-2984-4CAB-B342-D3C7DB2DC821}"/>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Answers are in the notes. The browser version lets you reveal them when ready.</a:t>
            </a:r>
          </a:p>
        </p:txBody>
      </p:sp>
    </p:spTree>
    <p:extLst>
      <p:ext uri="{BB962C8B-B14F-4D97-AF65-F5344CB8AC3E}">
        <p14:creationId xmlns:p14="http://schemas.microsoft.com/office/powerpoint/2010/main" val="443738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2026-09-29T19:05:49.6920000Z</dcterms:created>
  <dcterms:modified xsi:type="dcterms:W3CDTF">2026-09-29T19:05:49.6920000Z</dcterms:modified>
</coreProperties>
</file>